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  <p:sldMasterId id="2147483718" r:id="rId2"/>
  </p:sldMasterIdLst>
  <p:notesMasterIdLst>
    <p:notesMasterId r:id="rId28"/>
  </p:notesMasterIdLst>
  <p:sldIdLst>
    <p:sldId id="256" r:id="rId3"/>
    <p:sldId id="258" r:id="rId4"/>
    <p:sldId id="317" r:id="rId5"/>
    <p:sldId id="409" r:id="rId6"/>
    <p:sldId id="400" r:id="rId7"/>
    <p:sldId id="411" r:id="rId8"/>
    <p:sldId id="414" r:id="rId9"/>
    <p:sldId id="417" r:id="rId10"/>
    <p:sldId id="416" r:id="rId11"/>
    <p:sldId id="418" r:id="rId12"/>
    <p:sldId id="413" r:id="rId13"/>
    <p:sldId id="419" r:id="rId14"/>
    <p:sldId id="412" r:id="rId15"/>
    <p:sldId id="420" r:id="rId16"/>
    <p:sldId id="422" r:id="rId17"/>
    <p:sldId id="421" r:id="rId18"/>
    <p:sldId id="426" r:id="rId19"/>
    <p:sldId id="424" r:id="rId20"/>
    <p:sldId id="423" r:id="rId21"/>
    <p:sldId id="427" r:id="rId22"/>
    <p:sldId id="425" r:id="rId23"/>
    <p:sldId id="428" r:id="rId24"/>
    <p:sldId id="429" r:id="rId25"/>
    <p:sldId id="390" r:id="rId26"/>
    <p:sldId id="410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esentation" id="{40A61D7E-2C9D-4E7E-977C-2B6EC2434CD7}">
          <p14:sldIdLst>
            <p14:sldId id="256"/>
            <p14:sldId id="258"/>
            <p14:sldId id="317"/>
            <p14:sldId id="409"/>
            <p14:sldId id="400"/>
            <p14:sldId id="411"/>
            <p14:sldId id="414"/>
            <p14:sldId id="417"/>
            <p14:sldId id="416"/>
            <p14:sldId id="418"/>
            <p14:sldId id="413"/>
            <p14:sldId id="419"/>
            <p14:sldId id="412"/>
            <p14:sldId id="420"/>
            <p14:sldId id="422"/>
            <p14:sldId id="421"/>
            <p14:sldId id="426"/>
            <p14:sldId id="424"/>
            <p14:sldId id="423"/>
            <p14:sldId id="427"/>
            <p14:sldId id="425"/>
            <p14:sldId id="428"/>
            <p14:sldId id="429"/>
            <p14:sldId id="390"/>
            <p14:sldId id="41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B0F0"/>
    <a:srgbClr val="385723"/>
    <a:srgbClr val="A9D18E"/>
    <a:srgbClr val="000000"/>
    <a:srgbClr val="C55A1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353" autoAdjust="0"/>
    <p:restoredTop sz="75472" autoAdjust="0"/>
  </p:normalViewPr>
  <p:slideViewPr>
    <p:cSldViewPr snapToGrid="0">
      <p:cViewPr varScale="1">
        <p:scale>
          <a:sx n="95" d="100"/>
          <a:sy n="95" d="100"/>
        </p:scale>
        <p:origin x="1116" y="9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74E8BCA-0B4F-4373-B78E-3D2899449797}" type="datetimeFigureOut">
              <a:rPr lang="en-US" smtClean="0"/>
              <a:t>9/7/2026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CE3395-F8FF-4336-B2AA-E15575B990E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593002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Questions welcome!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04216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b="1" dirty="0"/>
              <a:t>Christian, husband, father, developer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466984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297546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9359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2954303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935458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TraceSource</a:t>
            </a:r>
            <a:r>
              <a:rPr lang="en-US" dirty="0"/>
              <a:t>: </a:t>
            </a:r>
            <a:r>
              <a:rPr lang="en-US" dirty="0" err="1"/>
              <a:t>TraceEventType</a:t>
            </a:r>
            <a:r>
              <a:rPr lang="en-US" dirty="0"/>
              <a:t> had Error/Warning/Information, but also Start and Stop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28556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(and under the hood of .NET Aspire)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(and example </a:t>
            </a:r>
            <a:r>
              <a:rPr lang="en-US" baseline="0"/>
              <a:t>of failures)</a:t>
            </a: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46198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17384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999056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695876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5270012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And searching by tags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Do full Logos demo at this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8420167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709298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(I don’t bother; this is really for hot path or framework/library code)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868290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don’t want to add “User” to </a:t>
            </a:r>
            <a:r>
              <a:rPr lang="en-US" i="1" dirty="0"/>
              <a:t>every single log statement!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23761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957240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972377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“throw context enricher”: we wrote our own for log4net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795838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baseline="0" dirty="0"/>
              <a:t>Including custom </a:t>
            </a:r>
            <a:r>
              <a:rPr lang="en-US" baseline="0"/>
              <a:t>logger implementation.</a:t>
            </a: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05631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901218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CE3395-F8FF-4336-B2AA-E15575B990E7}" type="slidenum">
              <a:rPr lang="en-US" smtClean="0"/>
              <a:t>25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56138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 baseline="0"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Rectangle 2"/>
          <p:cNvSpPr/>
          <p:nvPr/>
        </p:nvSpPr>
        <p:spPr bwMode="hidden">
          <a:xfrm>
            <a:off x="1" y="1189176"/>
            <a:ext cx="12192000" cy="5668824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2" tIns="45722" rIns="45722" bIns="4572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spcBef>
                <a:spcPct val="0"/>
              </a:spcBef>
              <a:spcAft>
                <a:spcPct val="0"/>
              </a:spcAft>
            </a:pPr>
            <a:endParaRPr lang="en-US" sz="1765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269239" y="1197322"/>
            <a:ext cx="11653522" cy="1956973"/>
          </a:xfrm>
        </p:spPr>
        <p:txBody>
          <a:bodyPr/>
          <a:lstStyle>
            <a:lvl1pPr marL="0" indent="0">
              <a:buNone/>
              <a:defRPr sz="3235"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1pPr>
            <a:lvl2pPr marL="33972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2pPr>
            <a:lvl3pPr marL="573090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3pPr>
            <a:lvl4pPr marL="79851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4pPr>
            <a:lvl5pPr marL="1030292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6743121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lank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03462927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Blank (White)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4115468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1104" y="2086786"/>
            <a:ext cx="9858808" cy="1794661"/>
          </a:xfrm>
          <a:noFill/>
        </p:spPr>
        <p:txBody>
          <a:bodyPr lIns="146304" tIns="109728" rIns="146304" bIns="109728">
            <a:noAutofit/>
          </a:bodyPr>
          <a:lstStyle>
            <a:lvl1pPr marL="0" indent="0">
              <a:spcBef>
                <a:spcPts val="0"/>
              </a:spcBef>
              <a:buNone/>
              <a:defRPr sz="3529" spc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271104" y="285350"/>
            <a:ext cx="9860610" cy="1801436"/>
          </a:xfrm>
          <a:noFill/>
        </p:spPr>
        <p:txBody>
          <a:bodyPr lIns="146304" tIns="91440" rIns="146304" bIns="91440" anchor="t" anchorCtr="0"/>
          <a:lstStyle>
            <a:lvl1pPr>
              <a:defRPr sz="5882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0213162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9239" y="2084172"/>
            <a:ext cx="11653523" cy="1796217"/>
          </a:xfrm>
          <a:noFill/>
        </p:spPr>
        <p:txBody>
          <a:bodyPr tIns="91440" bIns="91440" anchor="t" anchorCtr="0"/>
          <a:lstStyle>
            <a:lvl1pPr>
              <a:defRPr sz="8627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315463484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1104" y="3877273"/>
            <a:ext cx="9858808" cy="1794661"/>
          </a:xfrm>
          <a:noFill/>
        </p:spPr>
        <p:txBody>
          <a:bodyPr lIns="146304" tIns="109728" rIns="146304" bIns="109728">
            <a:noAutofit/>
          </a:bodyPr>
          <a:lstStyle>
            <a:lvl1pPr marL="0" indent="0">
              <a:spcBef>
                <a:spcPts val="0"/>
              </a:spcBef>
              <a:buNone/>
              <a:defRPr sz="3529" spc="0" baseline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j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269303" y="2075840"/>
            <a:ext cx="9860611" cy="1801436"/>
          </a:xfrm>
          <a:noFill/>
        </p:spPr>
        <p:txBody>
          <a:bodyPr lIns="146304" tIns="91440" rIns="146304" bIns="91440" anchor="t" anchorCtr="0"/>
          <a:lstStyle>
            <a:lvl1pPr>
              <a:defRPr sz="5882" spc="-98" baseline="0">
                <a:gradFill>
                  <a:gsLst>
                    <a:gs pos="3333">
                      <a:schemeClr val="tx1"/>
                    </a:gs>
                    <a:gs pos="3900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35965752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Title Accent Color 1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9240" y="2084174"/>
            <a:ext cx="11653523" cy="1796217"/>
          </a:xfrm>
          <a:noFill/>
        </p:spPr>
        <p:txBody>
          <a:bodyPr tIns="91440" bIns="91440" anchor="t" anchorCtr="0"/>
          <a:lstStyle>
            <a:lvl1pPr>
              <a:defRPr sz="8627" spc="-98" baseline="0">
                <a:gradFill>
                  <a:gsLst>
                    <a:gs pos="100000">
                      <a:schemeClr val="tx1"/>
                    </a:gs>
                    <a:gs pos="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2260545537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veloper Code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 dirty="0"/>
              <a:t>Slide for Developer Code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1956973"/>
          </a:xfrm>
        </p:spPr>
        <p:txBody>
          <a:bodyPr/>
          <a:lstStyle>
            <a:lvl1pPr marL="0" indent="0">
              <a:buNone/>
              <a:defRPr sz="3235"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1pPr>
            <a:lvl2pPr marL="33972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2pPr>
            <a:lvl3pPr marL="573090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3pPr>
            <a:lvl4pPr marL="79851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4pPr>
            <a:lvl5pPr marL="1030292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8520699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Black Layout - Title and Content">
    <p:bg bwMode="gray">
      <p:bgPr>
        <a:solidFill>
          <a:srgbClr val="19191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white"/>
        <p:txBody>
          <a:bodyPr/>
          <a:lstStyle>
            <a:lvl1pPr>
              <a:defRPr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10"/>
          </p:nvPr>
        </p:nvSpPr>
        <p:spPr bwMode="white">
          <a:xfrm>
            <a:off x="519248" y="1447802"/>
            <a:ext cx="11151917" cy="1932837"/>
          </a:xfrm>
        </p:spPr>
        <p:txBody>
          <a:bodyPr/>
          <a:lstStyle>
            <a:lvl1pPr marL="346009" indent="-346009">
              <a:buClr>
                <a:srgbClr val="FFFFFF"/>
              </a:buClr>
              <a:buSzPct val="70000"/>
              <a:buFont typeface="Wingdings" pitchFamily="2" charset="2"/>
              <a:buChar char="l"/>
              <a:defRPr lang="en-US" sz="3200" kern="1200" dirty="0" smtClean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1pPr>
            <a:lvl2pPr marL="920573" indent="-457112">
              <a:buClr>
                <a:srgbClr val="FFFFFF"/>
              </a:buClr>
              <a:buSzPct val="70000"/>
              <a:buFont typeface="Wingdings" pitchFamily="2" charset="2"/>
              <a:buChar char="l"/>
              <a:defRPr lang="en-US" sz="2800" kern="1200" dirty="0" smtClean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2pPr>
            <a:lvl3pPr>
              <a:buClr>
                <a:srgbClr val="FFFFFF"/>
              </a:buClr>
              <a:buSzPct val="70000"/>
              <a:buFont typeface="Wingdings" pitchFamily="2" charset="2"/>
              <a:buChar char="l"/>
              <a:defRPr lang="en-US" sz="2400" kern="1200" dirty="0" smtClean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3pPr>
            <a:lvl4pPr marL="1717345" indent="-285695">
              <a:buClr>
                <a:srgbClr val="FFFFFF"/>
              </a:buClr>
              <a:buSzPct val="70000"/>
              <a:buFont typeface="Wingdings" pitchFamily="2" charset="2"/>
              <a:buChar char="l"/>
              <a:defRPr lang="en-US" sz="1800" kern="1200" dirty="0" smtClean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4pPr>
            <a:lvl5pPr marL="1549102" indent="-342834">
              <a:buClr>
                <a:srgbClr val="FFFFFF"/>
              </a:buClr>
              <a:buSzPct val="70000"/>
              <a:buFont typeface="Wingdings" pitchFamily="2" charset="2"/>
              <a:buChar char="l"/>
              <a:defRPr lang="en-US" sz="1800" kern="1200" dirty="0">
                <a:gradFill>
                  <a:gsLst>
                    <a:gs pos="0">
                      <a:schemeClr val="tx1"/>
                    </a:gs>
                    <a:gs pos="100000">
                      <a:schemeClr val="tx1"/>
                    </a:gs>
                  </a:gsLst>
                  <a:lin ang="5400000" scaled="0"/>
                </a:gradFill>
                <a:latin typeface="+mn-lt"/>
                <a:ea typeface="+mn-ea"/>
                <a:cs typeface="+mn-cs"/>
              </a:defRPr>
            </a:lvl5pPr>
          </a:lstStyle>
          <a:p>
            <a:pPr marL="463461" lvl="0" indent="-463461" algn="l" defTabSz="685915" rtl="0" eaLnBrk="1" latinLnBrk="0" hangingPunct="1">
              <a:lnSpc>
                <a:spcPct val="90000"/>
              </a:lnSpc>
              <a:spcBef>
                <a:spcPct val="20000"/>
              </a:spcBef>
              <a:buClr>
                <a:srgbClr val="FFFFFF"/>
              </a:buClr>
              <a:buSzPct val="70000"/>
              <a:buFont typeface="Wingdings" pitchFamily="2" charset="2"/>
              <a:buChar char="l"/>
            </a:pPr>
            <a:r>
              <a:rPr lang="en-US"/>
              <a:t>Click to edit Master text styles</a:t>
            </a:r>
          </a:p>
          <a:p>
            <a:pPr marL="463461" lvl="1" indent="-463461" algn="l" defTabSz="685915" rtl="0" eaLnBrk="1" latinLnBrk="0" hangingPunct="1">
              <a:lnSpc>
                <a:spcPct val="90000"/>
              </a:lnSpc>
              <a:spcBef>
                <a:spcPct val="20000"/>
              </a:spcBef>
              <a:buClr>
                <a:srgbClr val="FFFFFF"/>
              </a:buClr>
              <a:buSzPct val="70000"/>
              <a:buFont typeface="Wingdings" pitchFamily="2" charset="2"/>
              <a:buChar char="l"/>
            </a:pPr>
            <a:r>
              <a:rPr lang="en-US"/>
              <a:t>Second level</a:t>
            </a:r>
          </a:p>
          <a:p>
            <a:pPr marL="463461" lvl="2" indent="-463461" algn="l" defTabSz="685915" rtl="0" eaLnBrk="1" latinLnBrk="0" hangingPunct="1">
              <a:lnSpc>
                <a:spcPct val="90000"/>
              </a:lnSpc>
              <a:spcBef>
                <a:spcPct val="20000"/>
              </a:spcBef>
              <a:buClr>
                <a:srgbClr val="FFFFFF"/>
              </a:buClr>
              <a:buSzPct val="70000"/>
              <a:buFont typeface="Wingdings" pitchFamily="2" charset="2"/>
              <a:buChar char="l"/>
            </a:pPr>
            <a:r>
              <a:rPr lang="en-US"/>
              <a:t>Third level</a:t>
            </a:r>
          </a:p>
          <a:p>
            <a:pPr marL="463461" lvl="3" indent="-463461" algn="l" defTabSz="685915" rtl="0" eaLnBrk="1" latinLnBrk="0" hangingPunct="1">
              <a:lnSpc>
                <a:spcPct val="90000"/>
              </a:lnSpc>
              <a:spcBef>
                <a:spcPct val="20000"/>
              </a:spcBef>
              <a:buClr>
                <a:srgbClr val="FFFFFF"/>
              </a:buClr>
              <a:buSzPct val="70000"/>
              <a:buFont typeface="Wingdings" pitchFamily="2" charset="2"/>
              <a:buChar char="l"/>
            </a:pPr>
            <a:r>
              <a:rPr lang="en-US"/>
              <a:t>Fourth level</a:t>
            </a:r>
          </a:p>
          <a:p>
            <a:pPr marL="463461" lvl="4" indent="-463461" algn="l" defTabSz="685915" rtl="0" eaLnBrk="1" latinLnBrk="0" hangingPunct="1">
              <a:lnSpc>
                <a:spcPct val="90000"/>
              </a:lnSpc>
              <a:spcBef>
                <a:spcPct val="20000"/>
              </a:spcBef>
              <a:buClr>
                <a:srgbClr val="FFFFFF"/>
              </a:buClr>
              <a:buSzPct val="70000"/>
              <a:buFont typeface="Wingdings" pitchFamily="2" charset="2"/>
              <a:buChar char="l"/>
            </a:pPr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67616387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 Placeholder 4"/>
          <p:cNvSpPr>
            <a:spLocks noGrp="1"/>
          </p:cNvSpPr>
          <p:nvPr>
            <p:ph type="body" sz="quarter" idx="12" hasCustomPrompt="1"/>
          </p:nvPr>
        </p:nvSpPr>
        <p:spPr>
          <a:xfrm>
            <a:off x="271104" y="2086786"/>
            <a:ext cx="9858808" cy="1794661"/>
          </a:xfrm>
          <a:noFill/>
        </p:spPr>
        <p:txBody>
          <a:bodyPr lIns="146304" tIns="109728" rIns="146304" bIns="109728">
            <a:noAutofit/>
          </a:bodyPr>
          <a:lstStyle>
            <a:lvl1pPr marL="0" indent="0">
              <a:spcBef>
                <a:spcPts val="0"/>
              </a:spcBef>
              <a:buNone/>
              <a:defRPr sz="3529" spc="0" baseline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Speaker Name</a:t>
            </a:r>
          </a:p>
        </p:txBody>
      </p:sp>
      <p:sp>
        <p:nvSpPr>
          <p:cNvPr id="9" name="Title 1"/>
          <p:cNvSpPr>
            <a:spLocks noGrp="1"/>
          </p:cNvSpPr>
          <p:nvPr>
            <p:ph type="title" hasCustomPrompt="1"/>
          </p:nvPr>
        </p:nvSpPr>
        <p:spPr>
          <a:xfrm>
            <a:off x="271104" y="285350"/>
            <a:ext cx="9860610" cy="1801436"/>
          </a:xfrm>
          <a:noFill/>
        </p:spPr>
        <p:txBody>
          <a:bodyPr lIns="146304" tIns="91440" rIns="146304" bIns="91440" anchor="t" anchorCtr="0"/>
          <a:lstStyle>
            <a:lvl1pPr>
              <a:defRPr sz="5882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42066415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269239" y="2084172"/>
            <a:ext cx="11653523" cy="1796217"/>
          </a:xfrm>
          <a:noFill/>
        </p:spPr>
        <p:txBody>
          <a:bodyPr tIns="91440" bIns="91440" anchor="t" anchorCtr="0"/>
          <a:lstStyle>
            <a:lvl1pPr>
              <a:defRPr sz="8627" spc="-98" baseline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92591850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0" baseline="0"/>
            </a:lvl1pPr>
          </a:lstStyle>
          <a:p>
            <a:r>
              <a:rPr lang="en-US" dirty="0"/>
              <a:t>Title</a:t>
            </a:r>
          </a:p>
        </p:txBody>
      </p:sp>
      <p:sp>
        <p:nvSpPr>
          <p:cNvPr id="3" name="Rectangle 2"/>
          <p:cNvSpPr/>
          <p:nvPr/>
        </p:nvSpPr>
        <p:spPr bwMode="hidden">
          <a:xfrm>
            <a:off x="1" y="1189176"/>
            <a:ext cx="12192000" cy="5668824"/>
          </a:xfrm>
          <a:prstGeom prst="rect">
            <a:avLst/>
          </a:prstGeom>
          <a:noFill/>
          <a:ln>
            <a:noFill/>
            <a:headEnd type="none" w="med" len="med"/>
            <a:tailEnd type="none" w="med" len="med"/>
          </a:ln>
          <a:effectLst/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45722" tIns="45722" rIns="45722" bIns="45722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 defTabSz="914102" fontAlgn="base">
              <a:spcBef>
                <a:spcPct val="0"/>
              </a:spcBef>
              <a:spcAft>
                <a:spcPct val="0"/>
              </a:spcAft>
            </a:pPr>
            <a:endParaRPr lang="en-US" sz="1765" dirty="0">
              <a:gradFill>
                <a:gsLst>
                  <a:gs pos="0">
                    <a:srgbClr val="FFFFFF"/>
                  </a:gs>
                  <a:gs pos="100000">
                    <a:srgbClr val="FFFFFF"/>
                  </a:gs>
                </a:gsLst>
                <a:lin ang="5400000" scaled="0"/>
              </a:gradFill>
              <a:ea typeface="Segoe UI" pitchFamily="34" charset="0"/>
              <a:cs typeface="Segoe UI" pitchFamily="34" charset="0"/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0"/>
          </p:nvPr>
        </p:nvSpPr>
        <p:spPr>
          <a:xfrm>
            <a:off x="269239" y="1197322"/>
            <a:ext cx="11653522" cy="1956973"/>
          </a:xfrm>
        </p:spPr>
        <p:txBody>
          <a:bodyPr/>
          <a:lstStyle>
            <a:lvl1pPr marL="0" indent="0">
              <a:buNone/>
              <a:defRPr sz="3235"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1pPr>
            <a:lvl2pPr marL="33972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2pPr>
            <a:lvl3pPr marL="573090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3pPr>
            <a:lvl4pPr marL="798516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4pPr>
            <a:lvl5pPr marL="1030292" indent="0">
              <a:buNone/>
              <a:defRPr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latin typeface="Segoe UI" pitchFamily="34" charset="0"/>
                <a:cs typeface="Segoe UI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15444532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2.png"/><Relationship Id="rId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78C6EE4-4C3E-4260-6DA3-CA8CD1EA3107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64" y="1785"/>
            <a:ext cx="12187071" cy="6854429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9240" y="289511"/>
            <a:ext cx="11655840" cy="899665"/>
          </a:xfrm>
          <a:prstGeom prst="rect">
            <a:avLst/>
          </a:prstGeom>
        </p:spPr>
        <p:txBody>
          <a:bodyPr vert="horz" wrap="square" lIns="146304" tIns="91440" rIns="146304" bIns="9144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269241" y="1189178"/>
            <a:ext cx="11653521" cy="2052030"/>
          </a:xfrm>
          <a:prstGeom prst="rect">
            <a:avLst/>
          </a:prstGeom>
        </p:spPr>
        <p:txBody>
          <a:bodyPr vert="horz" wrap="square" lIns="146304" tIns="91440" rIns="146304" bIns="9144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C20B82E-F3CB-0B36-22B3-80B0D127A051}"/>
              </a:ext>
            </a:extLst>
          </p:cNvPr>
          <p:cNvSpPr txBox="1"/>
          <p:nvPr userDrawn="1"/>
        </p:nvSpPr>
        <p:spPr>
          <a:xfrm>
            <a:off x="0" y="6230136"/>
            <a:ext cx="12192000" cy="627864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 algn="ctr">
              <a:lnSpc>
                <a:spcPct val="90000"/>
              </a:lnSpc>
              <a:spcAft>
                <a:spcPts val="600"/>
              </a:spcAft>
            </a:pPr>
            <a:r>
              <a:rPr lang="en-US" sz="24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StephenCleary.com</a:t>
            </a:r>
          </a:p>
        </p:txBody>
      </p:sp>
    </p:spTree>
    <p:extLst>
      <p:ext uri="{BB962C8B-B14F-4D97-AF65-F5344CB8AC3E}">
        <p14:creationId xmlns:p14="http://schemas.microsoft.com/office/powerpoint/2010/main" val="373040038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22" r:id="rId9"/>
  </p:sldLayoutIdLst>
  <p:transition>
    <p:fade/>
  </p:transition>
  <p:txStyles>
    <p:titleStyle>
      <a:lvl1pPr algn="l" defTabSz="914367" rtl="0" eaLnBrk="1" latinLnBrk="0" hangingPunct="1">
        <a:lnSpc>
          <a:spcPct val="90000"/>
        </a:lnSpc>
        <a:spcBef>
          <a:spcPct val="0"/>
        </a:spcBef>
        <a:buNone/>
        <a:defRPr lang="en-US" sz="5294" b="0" kern="1200" cap="none" spc="-100" baseline="0" dirty="0" smtClean="0">
          <a:ln w="3175">
            <a:noFill/>
          </a:ln>
          <a:solidFill>
            <a:schemeClr val="bg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336145" marR="0" indent="-336145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3921" kern="1200" spc="0" baseline="0">
          <a:solidFill>
            <a:schemeClr val="bg1"/>
          </a:solidFill>
          <a:latin typeface="+mj-lt"/>
          <a:ea typeface="+mn-ea"/>
          <a:cs typeface="+mn-cs"/>
        </a:defRPr>
      </a:lvl1pPr>
      <a:lvl2pPr marL="572691" marR="0" indent="-236546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2353" kern="1200" spc="0" baseline="0">
          <a:solidFill>
            <a:schemeClr val="bg1"/>
          </a:solidFill>
          <a:latin typeface="+mn-lt"/>
          <a:ea typeface="+mn-ea"/>
          <a:cs typeface="+mn-cs"/>
        </a:defRPr>
      </a:lvl2pPr>
      <a:lvl3pPr marL="784338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961" kern="1200" spc="0" baseline="0">
          <a:solidFill>
            <a:schemeClr val="bg1"/>
          </a:solidFill>
          <a:latin typeface="+mn-lt"/>
          <a:ea typeface="+mn-ea"/>
          <a:cs typeface="+mn-cs"/>
        </a:defRPr>
      </a:lvl3pPr>
      <a:lvl4pPr marL="1008435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765" kern="1200" spc="0" baseline="0">
          <a:solidFill>
            <a:schemeClr val="bg1"/>
          </a:solidFill>
          <a:latin typeface="+mn-lt"/>
          <a:ea typeface="+mn-ea"/>
          <a:cs typeface="+mn-cs"/>
        </a:defRPr>
      </a:lvl4pPr>
      <a:lvl5pPr marL="1232531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765" kern="1200" spc="0" baseline="0">
          <a:solidFill>
            <a:schemeClr val="bg1"/>
          </a:solidFill>
          <a:latin typeface="+mn-lt"/>
          <a:ea typeface="+mn-ea"/>
          <a:cs typeface="+mn-cs"/>
        </a:defRPr>
      </a:lvl5pPr>
      <a:lvl6pPr marL="2514509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6pPr>
      <a:lvl7pPr marL="2971693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7pPr>
      <a:lvl8pPr marL="3428877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1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1pPr>
      <a:lvl2pPr marL="457183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8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1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469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0D763CE6-E6F4-AA5B-4A24-01806779A29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0" y="399"/>
            <a:ext cx="12192000" cy="68572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69240" y="289511"/>
            <a:ext cx="11655840" cy="899665"/>
          </a:xfrm>
          <a:prstGeom prst="rect">
            <a:avLst/>
          </a:prstGeom>
        </p:spPr>
        <p:txBody>
          <a:bodyPr vert="horz" wrap="square" lIns="146304" tIns="91440" rIns="146304" bIns="91440" rtlCol="0" anchor="t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269241" y="1189178"/>
            <a:ext cx="11653521" cy="2052030"/>
          </a:xfrm>
          <a:prstGeom prst="rect">
            <a:avLst/>
          </a:prstGeom>
        </p:spPr>
        <p:txBody>
          <a:bodyPr vert="horz" wrap="square" lIns="146304" tIns="91440" rIns="146304" bIns="9144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C68B18-36E2-28A3-4D6A-5300ABB83ED5}"/>
              </a:ext>
            </a:extLst>
          </p:cNvPr>
          <p:cNvSpPr txBox="1"/>
          <p:nvPr/>
        </p:nvSpPr>
        <p:spPr>
          <a:xfrm>
            <a:off x="4584700" y="6006613"/>
            <a:ext cx="3022600" cy="627864"/>
          </a:xfrm>
          <a:prstGeom prst="rect">
            <a:avLst/>
          </a:prstGeom>
          <a:noFill/>
        </p:spPr>
        <p:txBody>
          <a:bodyPr wrap="square" lIns="182880" tIns="146304" rIns="182880" bIns="146304" rtlCol="0">
            <a:sp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sz="2400" dirty="0">
                <a:gradFill>
                  <a:gsLst>
                    <a:gs pos="2917">
                      <a:schemeClr val="tx1"/>
                    </a:gs>
                    <a:gs pos="30000">
                      <a:schemeClr val="tx1"/>
                    </a:gs>
                  </a:gsLst>
                  <a:lin ang="5400000" scaled="0"/>
                </a:gradFill>
              </a:rPr>
              <a:t>StephenCleary.com</a:t>
            </a:r>
          </a:p>
        </p:txBody>
      </p:sp>
    </p:spTree>
    <p:extLst>
      <p:ext uri="{BB962C8B-B14F-4D97-AF65-F5344CB8AC3E}">
        <p14:creationId xmlns:p14="http://schemas.microsoft.com/office/powerpoint/2010/main" val="98132154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19" r:id="rId1"/>
    <p:sldLayoutId id="2147483720" r:id="rId2"/>
    <p:sldLayoutId id="2147483721" r:id="rId3"/>
  </p:sldLayoutIdLst>
  <p:transition>
    <p:fade/>
  </p:transition>
  <p:txStyles>
    <p:titleStyle>
      <a:lvl1pPr algn="l" defTabSz="914367" rtl="0" eaLnBrk="1" latinLnBrk="0" hangingPunct="1">
        <a:lnSpc>
          <a:spcPct val="90000"/>
        </a:lnSpc>
        <a:spcBef>
          <a:spcPct val="0"/>
        </a:spcBef>
        <a:buNone/>
        <a:defRPr lang="en-US" sz="5294" b="0" kern="1200" cap="none" spc="-100" baseline="0" dirty="0" smtClean="0">
          <a:ln w="3175">
            <a:noFill/>
          </a:ln>
          <a:solidFill>
            <a:schemeClr val="bg1"/>
          </a:solidFill>
          <a:effectLst/>
          <a:latin typeface="+mj-lt"/>
          <a:ea typeface="+mn-ea"/>
          <a:cs typeface="Segoe UI" pitchFamily="34" charset="0"/>
        </a:defRPr>
      </a:lvl1pPr>
    </p:titleStyle>
    <p:bodyStyle>
      <a:lvl1pPr marL="336145" marR="0" indent="-336145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3921" kern="1200" spc="0" baseline="0">
          <a:solidFill>
            <a:schemeClr val="bg1"/>
          </a:solidFill>
          <a:latin typeface="+mj-lt"/>
          <a:ea typeface="+mn-ea"/>
          <a:cs typeface="+mn-cs"/>
        </a:defRPr>
      </a:lvl1pPr>
      <a:lvl2pPr marL="572691" marR="0" indent="-236546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2353" kern="1200" spc="0" baseline="0">
          <a:solidFill>
            <a:schemeClr val="bg1"/>
          </a:solidFill>
          <a:latin typeface="+mn-lt"/>
          <a:ea typeface="+mn-ea"/>
          <a:cs typeface="+mn-cs"/>
        </a:defRPr>
      </a:lvl2pPr>
      <a:lvl3pPr marL="784338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961" kern="1200" spc="0" baseline="0">
          <a:solidFill>
            <a:schemeClr val="bg1"/>
          </a:solidFill>
          <a:latin typeface="+mn-lt"/>
          <a:ea typeface="+mn-ea"/>
          <a:cs typeface="+mn-cs"/>
        </a:defRPr>
      </a:lvl3pPr>
      <a:lvl4pPr marL="1008435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765" kern="1200" spc="0" baseline="0">
          <a:solidFill>
            <a:schemeClr val="bg1"/>
          </a:solidFill>
          <a:latin typeface="+mn-lt"/>
          <a:ea typeface="+mn-ea"/>
          <a:cs typeface="+mn-cs"/>
        </a:defRPr>
      </a:lvl4pPr>
      <a:lvl5pPr marL="1232531" marR="0" indent="-224097" algn="l" defTabSz="914367" rtl="0" eaLnBrk="1" fontAlgn="auto" latinLnBrk="0" hangingPunct="1">
        <a:lnSpc>
          <a:spcPct val="90000"/>
        </a:lnSpc>
        <a:spcBef>
          <a:spcPct val="20000"/>
        </a:spcBef>
        <a:spcAft>
          <a:spcPts val="0"/>
        </a:spcAft>
        <a:buClrTx/>
        <a:buSzPct val="90000"/>
        <a:buFont typeface="Arial" pitchFamily="34" charset="0"/>
        <a:buChar char="•"/>
        <a:tabLst/>
        <a:defRPr sz="1765" kern="1200" spc="0" baseline="0">
          <a:solidFill>
            <a:schemeClr val="bg1"/>
          </a:solidFill>
          <a:latin typeface="+mn-lt"/>
          <a:ea typeface="+mn-ea"/>
          <a:cs typeface="+mn-cs"/>
        </a:defRPr>
      </a:lvl5pPr>
      <a:lvl6pPr marL="2514509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6pPr>
      <a:lvl7pPr marL="2971693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7pPr>
      <a:lvl8pPr marL="3428877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8pPr>
      <a:lvl9pPr marL="3886061" indent="-228592" algn="l" defTabSz="914367" rtl="0" eaLnBrk="1" latinLnBrk="0" hangingPunct="1">
        <a:spcBef>
          <a:spcPct val="20000"/>
        </a:spcBef>
        <a:buFont typeface="Arial" pitchFamily="34" charset="0"/>
        <a:buChar char="•"/>
        <a:defRPr sz="196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1pPr>
      <a:lvl2pPr marL="457183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2pPr>
      <a:lvl3pPr marL="914367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3pPr>
      <a:lvl4pPr marL="1371550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4pPr>
      <a:lvl5pPr marL="182873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5pPr>
      <a:lvl6pPr marL="2285918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6pPr>
      <a:lvl7pPr marL="2743101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7pPr>
      <a:lvl8pPr marL="3200284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8pPr>
      <a:lvl9pPr marL="3657469" algn="l" defTabSz="914367" rtl="0" eaLnBrk="1" latinLnBrk="0" hangingPunct="1">
        <a:defRPr sz="176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tinyurl.com/AzureMonitorOTELTerminology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6.jpe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hyperlink" Target="https://github.com/StephenCleary/LocalTelemetry" TargetMode="Externa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1.jpe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messagetemplates.org/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2.jpeg"/><Relationship Id="rId4" Type="http://schemas.openxmlformats.org/officeDocument/2006/relationships/hyperlink" Target="https://12factor.net/" TargetMode="Externa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tinyurl.com/WillAzureMonitorSupportOTLP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14.jpeg"/><Relationship Id="rId5" Type="http://schemas.openxmlformats.org/officeDocument/2006/relationships/hyperlink" Target="https://tinyurl.com/AWS-OTEL-metrics" TargetMode="External"/><Relationship Id="rId4" Type="http://schemas.openxmlformats.org/officeDocument/2006/relationships/hyperlink" Target="https://tinyurl.com/AWS-OTEL-logs" TargetMode="Externa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hyperlink" Target="https://tinyurl.com/BeginScope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8.xml"/><Relationship Id="rId4" Type="http://schemas.openxmlformats.org/officeDocument/2006/relationships/hyperlink" Target="https://github.com/stephenCleary/Logging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tephenCleary/Logging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15.jpe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tinyurl.com/OTEL-RabbitMQ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839525-4981-AC8B-723B-4261B9EC3B6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Stephen Cleary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Be a Logging Hero!</a:t>
            </a:r>
          </a:p>
        </p:txBody>
      </p:sp>
    </p:spTree>
    <p:extLst>
      <p:ext uri="{BB962C8B-B14F-4D97-AF65-F5344CB8AC3E}">
        <p14:creationId xmlns:p14="http://schemas.microsoft.com/office/powerpoint/2010/main" val="38332622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Who is this guy?</a:t>
            </a:r>
          </a:p>
        </p:txBody>
      </p:sp>
      <p:pic>
        <p:nvPicPr>
          <p:cNvPr id="3" name="Picture 2"/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78007" y="4201227"/>
            <a:ext cx="3435985" cy="1389380"/>
          </a:xfrm>
          <a:prstGeom prst="rect">
            <a:avLst/>
          </a:prstGeom>
        </p:spPr>
      </p:pic>
      <p:pic>
        <p:nvPicPr>
          <p:cNvPr id="2" name="Picture 1" descr="A person with her hands on her head&#10;&#10;AI-generated content may be incorrect.">
            <a:extLst>
              <a:ext uri="{FF2B5EF4-FFF2-40B4-BE49-F238E27FC236}">
                <a16:creationId xmlns:a16="http://schemas.microsoft.com/office/drawing/2014/main" id="{F2270747-7385-F384-62B4-CCF49945B4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57967" y="981537"/>
            <a:ext cx="3072713" cy="4609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290894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C885FC9-B82E-937A-3192-687F8A05CA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483428" y="0"/>
            <a:ext cx="522514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85751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Telemetry</a:t>
            </a:r>
          </a:p>
        </p:txBody>
      </p:sp>
    </p:spTree>
    <p:extLst>
      <p:ext uri="{BB962C8B-B14F-4D97-AF65-F5344CB8AC3E}">
        <p14:creationId xmlns:p14="http://schemas.microsoft.com/office/powerpoint/2010/main" val="2468147346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Telemetry Terminology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2126288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Open Telemetry (OTEL)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Open Telemetry Protocol (OTLP)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gRPC:4317 / HTTP:4318</a:t>
            </a:r>
          </a:p>
        </p:txBody>
      </p:sp>
    </p:spTree>
    <p:extLst>
      <p:ext uri="{BB962C8B-B14F-4D97-AF65-F5344CB8AC3E}">
        <p14:creationId xmlns:p14="http://schemas.microsoft.com/office/powerpoint/2010/main" val="2678793416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Telemetry Terminology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4018088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Logs</a:t>
            </a:r>
          </a:p>
          <a:p>
            <a:pPr marL="457200" indent="-457200">
              <a:buFontTx/>
              <a:buChar char="-"/>
            </a:pPr>
            <a:r>
              <a:rPr lang="en-US" dirty="0"/>
              <a:t>Metrics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Measurements. Think Prometheus/Grafana dashboards.</a:t>
            </a:r>
          </a:p>
          <a:p>
            <a:pPr marL="457200" indent="-457200">
              <a:buFontTx/>
              <a:buChar char="-"/>
            </a:pPr>
            <a:r>
              <a:rPr lang="en-US" dirty="0"/>
              <a:t>Traces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Spans. Think waterfall diagrams or Start/Stop events.</a:t>
            </a:r>
          </a:p>
          <a:p>
            <a:pPr marL="796926" lvl="1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i="1" dirty="0"/>
              <a:t>Timing</a:t>
            </a:r>
            <a:r>
              <a:rPr lang="en-US" dirty="0"/>
              <a:t> is a grey area; prefer traces unless you need metric.</a:t>
            </a:r>
          </a:p>
          <a:p>
            <a:pPr marL="457200" indent="-457200">
              <a:buFontTx/>
              <a:buChar char="-"/>
            </a:pPr>
            <a:r>
              <a:rPr lang="en-US" dirty="0">
                <a:hlinkClick r:id="rId3"/>
              </a:rPr>
              <a:t>https://tinyurl.com/AzureMonitorOTELTerminology</a:t>
            </a:r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2279CA40-DB85-5F5F-23F4-BDD4177C6D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0461" y="103823"/>
            <a:ext cx="3012299" cy="38738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5416614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57E44-C671-4C6A-9C66-DC498D09B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Telemetry History: Metrics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CF2809-96C8-7A27-A245-2B844F255CA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2823337"/>
          </a:xfrm>
        </p:spPr>
        <p:txBody>
          <a:bodyPr/>
          <a:lstStyle/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In the beginning, there were </a:t>
            </a:r>
            <a:r>
              <a:rPr lang="en-US" dirty="0" err="1"/>
              <a:t>PerformanceCounters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 err="1"/>
              <a:t>PerformanceCounters</a:t>
            </a:r>
            <a:r>
              <a:rPr lang="en-US" dirty="0"/>
              <a:t> were replaced by </a:t>
            </a:r>
            <a:r>
              <a:rPr lang="en-US" dirty="0" err="1"/>
              <a:t>EventCounters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 err="1"/>
              <a:t>EventCounters</a:t>
            </a:r>
            <a:r>
              <a:rPr lang="en-US" dirty="0"/>
              <a:t> are now replaced by OTEL Metrics</a:t>
            </a:r>
          </a:p>
          <a:p>
            <a:pPr marL="457200" indent="-457200">
              <a:buFontTx/>
              <a:buChar char="-"/>
            </a:pPr>
            <a:endParaRPr lang="en-US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E4AD0C7D-D6EF-F3EA-4BB6-7B68A1AAB2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33297" y="3801723"/>
            <a:ext cx="3325406" cy="24174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36404392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57E44-C671-4C6A-9C66-DC498D09B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Telemetry History: Traces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CF2809-96C8-7A27-A245-2B844F255CA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3570080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ETW (Event Tracing for Windows) – extremely high-performance instrumentation across drivers et. al.</a:t>
            </a:r>
            <a:br>
              <a:rPr lang="en-US" dirty="0"/>
            </a:br>
            <a:r>
              <a:rPr lang="en-US" dirty="0"/>
              <a:t>Not particularly easy to use from C#</a:t>
            </a:r>
          </a:p>
          <a:p>
            <a:pPr marL="457200" indent="-457200">
              <a:buFontTx/>
              <a:buChar char="-"/>
            </a:pPr>
            <a:r>
              <a:rPr lang="en-US" dirty="0"/>
              <a:t>Custom</a:t>
            </a:r>
          </a:p>
          <a:p>
            <a:pPr marL="457200" indent="-457200">
              <a:buFontTx/>
              <a:buChar char="-"/>
            </a:pPr>
            <a:r>
              <a:rPr lang="en-US" dirty="0" err="1"/>
              <a:t>TraceSource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Modern: OTEL Traces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Replaces all of these.</a:t>
            </a:r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A5C6CA98-BE7B-9706-8F62-3DC6F9FA15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98798" y="2857172"/>
            <a:ext cx="3044586" cy="27165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93017336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57E44-C671-4C6A-9C66-DC498D09B1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Telemetry History: Logs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3CF2809-96C8-7A27-A245-2B844F255CA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5013937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ETW logs</a:t>
            </a:r>
          </a:p>
          <a:p>
            <a:pPr marL="457200" indent="-457200">
              <a:buFontTx/>
              <a:buChar char="-"/>
            </a:pPr>
            <a:r>
              <a:rPr lang="en-US" dirty="0"/>
              <a:t>Custom logs</a:t>
            </a:r>
          </a:p>
          <a:p>
            <a:pPr marL="457200" indent="-457200">
              <a:buFontTx/>
              <a:buChar char="-"/>
            </a:pPr>
            <a:r>
              <a:rPr lang="en-US" dirty="0" err="1"/>
              <a:t>EventLog</a:t>
            </a:r>
            <a:r>
              <a:rPr lang="en-US" dirty="0"/>
              <a:t> (particularly services)</a:t>
            </a:r>
          </a:p>
          <a:p>
            <a:pPr marL="457200" indent="-457200">
              <a:buFontTx/>
              <a:buChar char="-"/>
            </a:pPr>
            <a:r>
              <a:rPr lang="en-US" dirty="0" err="1"/>
              <a:t>Trace.WriteLine</a:t>
            </a:r>
            <a:r>
              <a:rPr lang="en-US" dirty="0"/>
              <a:t> – replaced by </a:t>
            </a:r>
            <a:r>
              <a:rPr lang="en-US" dirty="0" err="1"/>
              <a:t>TraceSource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 err="1"/>
              <a:t>TraceSource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Modern: OTEL logs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Replaces all of these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025FDD68-5AAD-1434-E6CE-A1D268EB82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15228" y="3429000"/>
            <a:ext cx="3726180" cy="24841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46794152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441F8B5-FA38-46C3-BB17-0AAB7E0FC1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Demo: Local Telemetry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D85031-FD42-6790-BA83-C5AD8F1BBB2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632737"/>
          </a:xfrm>
        </p:spPr>
        <p:txBody>
          <a:bodyPr/>
          <a:lstStyle/>
          <a:p>
            <a:r>
              <a:rPr lang="en-US" dirty="0">
                <a:hlinkClick r:id="rId2"/>
              </a:rPr>
              <a:t>https://github.com/StephenCleary/LocalTelemetry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EA881E6-EFB4-E0AB-7A9E-39009C73B1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632895" y="6376643"/>
            <a:ext cx="12111841" cy="3088191"/>
          </a:xfrm>
          <a:prstGeom prst="rect">
            <a:avLst/>
          </a:prstGeom>
        </p:spPr>
      </p:pic>
      <p:pic>
        <p:nvPicPr>
          <p:cNvPr id="5122" name="Picture 2">
            <a:extLst>
              <a:ext uri="{FF2B5EF4-FFF2-40B4-BE49-F238E27FC236}">
                <a16:creationId xmlns:a16="http://schemas.microsoft.com/office/drawing/2014/main" id="{FEBAB900-0C6F-D5F8-4E39-AE0FB23923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4847" y="3754278"/>
            <a:ext cx="3065252" cy="23012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DD2AFF11-46EA-2F87-DFF2-0FB3D1C0BEC2}"/>
              </a:ext>
            </a:extLst>
          </p:cNvPr>
          <p:cNvSpPr/>
          <p:nvPr/>
        </p:nvSpPr>
        <p:spPr bwMode="auto">
          <a:xfrm>
            <a:off x="269239" y="2461516"/>
            <a:ext cx="2331217" cy="632737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OTLP endpoint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AEE981B-7BD6-6080-3EEF-199177BBC3C5}"/>
              </a:ext>
            </a:extLst>
          </p:cNvPr>
          <p:cNvSpPr/>
          <p:nvPr/>
        </p:nvSpPr>
        <p:spPr bwMode="auto">
          <a:xfrm>
            <a:off x="3064356" y="2461516"/>
            <a:ext cx="2331217" cy="632737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OTEL Collector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F5C5986-5142-81D8-A07A-3B0C6542FB44}"/>
              </a:ext>
            </a:extLst>
          </p:cNvPr>
          <p:cNvSpPr/>
          <p:nvPr/>
        </p:nvSpPr>
        <p:spPr bwMode="auto">
          <a:xfrm>
            <a:off x="6482635" y="2210637"/>
            <a:ext cx="2331217" cy="395426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Seq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D914A86-79D1-1769-DE0B-9AB0163A2D8C}"/>
              </a:ext>
            </a:extLst>
          </p:cNvPr>
          <p:cNvSpPr/>
          <p:nvPr/>
        </p:nvSpPr>
        <p:spPr bwMode="auto">
          <a:xfrm>
            <a:off x="6487772" y="2706188"/>
            <a:ext cx="2331217" cy="395426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Aspire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87F89A1-102E-E70A-2D74-9A852E23DD32}"/>
              </a:ext>
            </a:extLst>
          </p:cNvPr>
          <p:cNvSpPr/>
          <p:nvPr/>
        </p:nvSpPr>
        <p:spPr bwMode="auto">
          <a:xfrm>
            <a:off x="6482633" y="3205682"/>
            <a:ext cx="2331217" cy="395426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Zipkin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9CA341E-713A-9D2E-A7CB-227C5636B491}"/>
              </a:ext>
            </a:extLst>
          </p:cNvPr>
          <p:cNvSpPr/>
          <p:nvPr/>
        </p:nvSpPr>
        <p:spPr bwMode="auto">
          <a:xfrm>
            <a:off x="6482632" y="3696553"/>
            <a:ext cx="2331217" cy="395426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Prometheus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C1C391F2-A9A2-CE1A-C7D2-D0C8D1D5E82F}"/>
              </a:ext>
            </a:extLst>
          </p:cNvPr>
          <p:cNvSpPr/>
          <p:nvPr/>
        </p:nvSpPr>
        <p:spPr bwMode="auto">
          <a:xfrm>
            <a:off x="9408607" y="3696554"/>
            <a:ext cx="2331217" cy="395426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Grafana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97764E4-56E3-68C1-B902-57C3B77073AE}"/>
              </a:ext>
            </a:extLst>
          </p:cNvPr>
          <p:cNvSpPr/>
          <p:nvPr/>
        </p:nvSpPr>
        <p:spPr bwMode="auto">
          <a:xfrm>
            <a:off x="6482631" y="4170572"/>
            <a:ext cx="2331217" cy="395426"/>
          </a:xfrm>
          <a:prstGeom prst="rect">
            <a:avLst/>
          </a:prstGeom>
          <a:ln>
            <a:noFill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gradFill>
                  <a:gsLst>
                    <a:gs pos="0">
                      <a:srgbClr val="FFFFFF"/>
                    </a:gs>
                    <a:gs pos="100000">
                      <a:srgbClr val="FFFFFF"/>
                    </a:gs>
                  </a:gsLst>
                  <a:lin ang="5400000" scaled="0"/>
                </a:gradFill>
              </a:rPr>
              <a:t>Jaeger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BCA6A0A-72F1-90B4-F012-85F5DB6C6F57}"/>
              </a:ext>
            </a:extLst>
          </p:cNvPr>
          <p:cNvSpPr/>
          <p:nvPr/>
        </p:nvSpPr>
        <p:spPr bwMode="auto">
          <a:xfrm>
            <a:off x="6482630" y="5062548"/>
            <a:ext cx="2331217" cy="395426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vert="horz" wrap="square" lIns="0" tIns="46637" rIns="0" bIns="46637" numCol="1" rtlCol="0" anchor="ctr" anchorCtr="0" compatLnSpc="1">
            <a:prstTxWarp prst="textNoShape">
              <a:avLst/>
            </a:prstTxWarp>
          </a:bodyPr>
          <a:lstStyle/>
          <a:p>
            <a:pPr algn="ctr" defTabSz="932472" fontAlgn="base">
              <a:spcBef>
                <a:spcPct val="0"/>
              </a:spcBef>
              <a:spcAft>
                <a:spcPct val="0"/>
              </a:spcAft>
            </a:pPr>
            <a:r>
              <a:rPr lang="en-US" sz="2000" dirty="0">
                <a:solidFill>
                  <a:schemeClr val="bg1"/>
                </a:solidFill>
              </a:rPr>
              <a:t>Honeycomb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9C0D9FBA-20AE-338B-CE9B-AD8764124D80}"/>
              </a:ext>
            </a:extLst>
          </p:cNvPr>
          <p:cNvCxnSpPr>
            <a:stCxn id="2" idx="3"/>
            <a:endCxn id="6" idx="1"/>
          </p:cNvCxnSpPr>
          <p:nvPr/>
        </p:nvCxnSpPr>
        <p:spPr>
          <a:xfrm>
            <a:off x="2600456" y="2777885"/>
            <a:ext cx="463900" cy="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7CE0FEB-0E0C-C326-C0EE-CD450B989056}"/>
              </a:ext>
            </a:extLst>
          </p:cNvPr>
          <p:cNvCxnSpPr>
            <a:cxnSpLocks/>
            <a:stCxn id="6" idx="3"/>
            <a:endCxn id="9" idx="1"/>
          </p:cNvCxnSpPr>
          <p:nvPr/>
        </p:nvCxnSpPr>
        <p:spPr>
          <a:xfrm flipV="1">
            <a:off x="5395573" y="2408350"/>
            <a:ext cx="1087062" cy="369535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953467D8-E06F-10F4-8723-492AAC3247BD}"/>
              </a:ext>
            </a:extLst>
          </p:cNvPr>
          <p:cNvCxnSpPr>
            <a:cxnSpLocks/>
            <a:stCxn id="6" idx="3"/>
            <a:endCxn id="11" idx="1"/>
          </p:cNvCxnSpPr>
          <p:nvPr/>
        </p:nvCxnSpPr>
        <p:spPr>
          <a:xfrm>
            <a:off x="5395573" y="2777885"/>
            <a:ext cx="1092199" cy="126016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F9EE94AC-8531-591A-F718-268F2FFF34BF}"/>
              </a:ext>
            </a:extLst>
          </p:cNvPr>
          <p:cNvCxnSpPr>
            <a:cxnSpLocks/>
            <a:stCxn id="6" idx="3"/>
            <a:endCxn id="13" idx="1"/>
          </p:cNvCxnSpPr>
          <p:nvPr/>
        </p:nvCxnSpPr>
        <p:spPr>
          <a:xfrm>
            <a:off x="5395573" y="2777885"/>
            <a:ext cx="1087060" cy="62551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24C009D1-D1CB-D718-2AD8-D0ECD147407B}"/>
              </a:ext>
            </a:extLst>
          </p:cNvPr>
          <p:cNvCxnSpPr>
            <a:cxnSpLocks/>
            <a:stCxn id="6" idx="3"/>
            <a:endCxn id="15" idx="1"/>
          </p:cNvCxnSpPr>
          <p:nvPr/>
        </p:nvCxnSpPr>
        <p:spPr>
          <a:xfrm>
            <a:off x="5395573" y="2777885"/>
            <a:ext cx="1087059" cy="1116381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D225CFDD-4A2A-2AF4-D219-2EB6B6DF03F3}"/>
              </a:ext>
            </a:extLst>
          </p:cNvPr>
          <p:cNvCxnSpPr>
            <a:cxnSpLocks/>
            <a:stCxn id="6" idx="3"/>
            <a:endCxn id="19" idx="1"/>
          </p:cNvCxnSpPr>
          <p:nvPr/>
        </p:nvCxnSpPr>
        <p:spPr>
          <a:xfrm>
            <a:off x="5395573" y="2777885"/>
            <a:ext cx="1087058" cy="1590400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57177C14-EF68-3470-0F74-8B3241084902}"/>
              </a:ext>
            </a:extLst>
          </p:cNvPr>
          <p:cNvCxnSpPr>
            <a:cxnSpLocks/>
            <a:stCxn id="6" idx="3"/>
            <a:endCxn id="21" idx="1"/>
          </p:cNvCxnSpPr>
          <p:nvPr/>
        </p:nvCxnSpPr>
        <p:spPr>
          <a:xfrm>
            <a:off x="5395573" y="2777885"/>
            <a:ext cx="1087057" cy="2482376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6DA80E6E-7525-2451-8BAF-D5AA93EA02C4}"/>
              </a:ext>
            </a:extLst>
          </p:cNvPr>
          <p:cNvCxnSpPr>
            <a:cxnSpLocks/>
            <a:stCxn id="15" idx="3"/>
            <a:endCxn id="17" idx="1"/>
          </p:cNvCxnSpPr>
          <p:nvPr/>
        </p:nvCxnSpPr>
        <p:spPr>
          <a:xfrm>
            <a:off x="8813849" y="3894266"/>
            <a:ext cx="594758" cy="1"/>
          </a:xfrm>
          <a:prstGeom prst="straightConnector1">
            <a:avLst/>
          </a:prstGeom>
          <a:ln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58030291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1: Telemetry the Easy Way</a:t>
            </a:r>
          </a:p>
        </p:txBody>
      </p:sp>
    </p:spTree>
    <p:extLst>
      <p:ext uri="{BB962C8B-B14F-4D97-AF65-F5344CB8AC3E}">
        <p14:creationId xmlns:p14="http://schemas.microsoft.com/office/powerpoint/2010/main" val="2978234360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</a:t>
            </a:r>
          </a:p>
        </p:txBody>
      </p:sp>
    </p:spTree>
    <p:extLst>
      <p:ext uri="{BB962C8B-B14F-4D97-AF65-F5344CB8AC3E}">
        <p14:creationId xmlns:p14="http://schemas.microsoft.com/office/powerpoint/2010/main" val="2083269779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2275688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A.k.a. Structured logging</a:t>
            </a:r>
          </a:p>
          <a:p>
            <a:pPr marL="457200" indent="-457200">
              <a:buFontTx/>
              <a:buChar char="-"/>
            </a:pPr>
            <a:r>
              <a:rPr lang="en-US" dirty="0"/>
              <a:t>A.k.a. Message templates </a:t>
            </a:r>
            <a:r>
              <a:rPr lang="en-US" dirty="0">
                <a:hlinkClick r:id="rId3"/>
              </a:rPr>
              <a:t>https://messagetemplates.org/</a:t>
            </a:r>
            <a:endParaRPr lang="en-US" dirty="0"/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Technically violates 12-factor app: </a:t>
            </a:r>
            <a:r>
              <a:rPr lang="en-US" dirty="0">
                <a:hlinkClick r:id="rId4"/>
              </a:rPr>
              <a:t>https://12factor.net/</a:t>
            </a:r>
            <a:endParaRPr lang="en-US" dirty="0"/>
          </a:p>
        </p:txBody>
      </p:sp>
      <p:pic>
        <p:nvPicPr>
          <p:cNvPr id="2" name="Picture 2" descr="They're more what you'd call guidelines than actual rules - They're more what you'd call guidelines than actual rules  Barbosa Rules">
            <a:extLst>
              <a:ext uri="{FF2B5EF4-FFF2-40B4-BE49-F238E27FC236}">
                <a16:creationId xmlns:a16="http://schemas.microsoft.com/office/drawing/2014/main" id="{0B614A10-DCC2-87C6-C415-34FC9A1BD0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3481160"/>
            <a:ext cx="3048000" cy="228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3632353"/>
      </p:ext>
    </p:extLst>
  </p:cSld>
  <p:clrMapOvr>
    <a:masterClrMapping/>
  </p:clrMapOvr>
  <p:transition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Logging: Getting a logger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4559518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Modern dependency injection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Configure your logger with its backend output(s).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Inject </a:t>
            </a:r>
            <a:r>
              <a:rPr lang="en-US" dirty="0" err="1">
                <a:latin typeface="Consolas" panose="020B0609020204030204" pitchFamily="49" charset="0"/>
              </a:rPr>
              <a:t>ILogger</a:t>
            </a:r>
            <a:r>
              <a:rPr lang="en-US" dirty="0">
                <a:latin typeface="Consolas" panose="020B0609020204030204" pitchFamily="49" charset="0"/>
              </a:rPr>
              <a:t>&lt;T&gt;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Note: if you need to dynamically create loggers, inject </a:t>
            </a:r>
            <a:r>
              <a:rPr lang="en-US" dirty="0" err="1">
                <a:latin typeface="Consolas" panose="020B0609020204030204" pitchFamily="49" charset="0"/>
              </a:rPr>
              <a:t>ILoggerFactory</a:t>
            </a:r>
            <a:r>
              <a:rPr lang="en-US" dirty="0"/>
              <a:t>, not </a:t>
            </a:r>
            <a:r>
              <a:rPr lang="en-US" dirty="0" err="1">
                <a:latin typeface="Consolas" panose="020B0609020204030204" pitchFamily="49" charset="0"/>
              </a:rPr>
              <a:t>ILoggerProvider</a:t>
            </a:r>
            <a:r>
              <a:rPr lang="en-US" dirty="0"/>
              <a:t>.</a:t>
            </a:r>
          </a:p>
          <a:p>
            <a:pPr marL="1030290" lvl="2" indent="-457200">
              <a:buFontTx/>
              <a:buChar char="-"/>
            </a:pPr>
            <a:r>
              <a:rPr lang="en-US" dirty="0" err="1">
                <a:latin typeface="Consolas" panose="020B0609020204030204" pitchFamily="49" charset="0"/>
              </a:rPr>
              <a:t>ILoggerFactory</a:t>
            </a:r>
            <a:r>
              <a:rPr lang="en-US" dirty="0">
                <a:latin typeface="+mn-lt"/>
              </a:rPr>
              <a:t> is for getting loggers for your components to use.</a:t>
            </a:r>
            <a:endParaRPr lang="en-US" dirty="0"/>
          </a:p>
          <a:p>
            <a:pPr marL="1030290" lvl="2" indent="-457200">
              <a:buFontTx/>
              <a:buChar char="-"/>
            </a:pPr>
            <a:r>
              <a:rPr lang="en-US" dirty="0" err="1">
                <a:latin typeface="Consolas" panose="020B0609020204030204" pitchFamily="49" charset="0"/>
              </a:rPr>
              <a:t>ILoggerProvider</a:t>
            </a:r>
            <a:r>
              <a:rPr lang="en-US" dirty="0"/>
              <a:t> is for implementing custom backend outputs.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Tip: </a:t>
            </a:r>
            <a:r>
              <a:rPr lang="en-US" dirty="0" err="1">
                <a:latin typeface="Consolas" panose="020B0609020204030204" pitchFamily="49" charset="0"/>
              </a:rPr>
              <a:t>ILogger</a:t>
            </a:r>
            <a:r>
              <a:rPr lang="en-US" dirty="0">
                <a:latin typeface="Consolas" panose="020B0609020204030204" pitchFamily="49" charset="0"/>
              </a:rPr>
              <a:t>&lt;T&gt;</a:t>
            </a:r>
            <a:r>
              <a:rPr lang="en-US" dirty="0"/>
              <a:t> is covariant; you can pass it to base types!</a:t>
            </a:r>
          </a:p>
          <a:p>
            <a:pPr marL="457200" indent="-457200">
              <a:buFontTx/>
              <a:buChar char="-"/>
            </a:pPr>
            <a:r>
              <a:rPr lang="en-US" dirty="0"/>
              <a:t>Everything else: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Configure a logger factory via </a:t>
            </a:r>
            <a:r>
              <a:rPr lang="en-US" dirty="0" err="1">
                <a:latin typeface="Consolas" panose="020B0609020204030204" pitchFamily="49" charset="0"/>
              </a:rPr>
              <a:t>LoggerFactory.Create</a:t>
            </a:r>
            <a:endParaRPr lang="en-US" dirty="0">
              <a:latin typeface="Consolas" panose="020B0609020204030204" pitchFamily="49" charset="0"/>
            </a:endParaRPr>
          </a:p>
          <a:p>
            <a:pPr marL="796926" lvl="1" indent="-457200">
              <a:buFontTx/>
              <a:buChar char="-"/>
            </a:pPr>
            <a:r>
              <a:rPr lang="en-US" dirty="0"/>
              <a:t>Call </a:t>
            </a:r>
            <a:r>
              <a:rPr lang="en-US" dirty="0" err="1">
                <a:latin typeface="Consolas" panose="020B0609020204030204" pitchFamily="49" charset="0"/>
              </a:rPr>
              <a:t>CreateLogger</a:t>
            </a:r>
            <a:r>
              <a:rPr lang="en-US" dirty="0"/>
              <a:t> on the factory.</a:t>
            </a:r>
          </a:p>
        </p:txBody>
      </p:sp>
    </p:spTree>
    <p:extLst>
      <p:ext uri="{BB962C8B-B14F-4D97-AF65-F5344CB8AC3E}">
        <p14:creationId xmlns:p14="http://schemas.microsoft.com/office/powerpoint/2010/main" val="1963768959"/>
      </p:ext>
    </p:extLst>
  </p:cSld>
  <p:clrMapOvr>
    <a:masterClrMapping/>
  </p:clrMapOvr>
  <p:transition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Logging: Basic Logging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4860626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Log with placeholders, like this:</a:t>
            </a:r>
          </a:p>
          <a:p>
            <a:br>
              <a:rPr lang="en-US" sz="2200" dirty="0">
                <a:latin typeface="Consolas" panose="020B0609020204030204" pitchFamily="49" charset="0"/>
              </a:rPr>
            </a:br>
            <a:r>
              <a:rPr lang="en-US" sz="2200" dirty="0">
                <a:latin typeface="Consolas" panose="020B0609020204030204" pitchFamily="49" charset="0"/>
              </a:rPr>
              <a:t>_</a:t>
            </a:r>
            <a:r>
              <a:rPr lang="en-US" sz="2200" dirty="0" err="1">
                <a:latin typeface="Consolas" panose="020B0609020204030204" pitchFamily="49" charset="0"/>
              </a:rPr>
              <a:t>logger.LogInformation</a:t>
            </a:r>
            <a:r>
              <a:rPr lang="en-US" sz="2200" dirty="0">
                <a:latin typeface="Consolas" panose="020B0609020204030204" pitchFamily="49" charset="0"/>
              </a:rPr>
              <a:t>("Forecast result: {temperature}", temperature);</a:t>
            </a:r>
            <a:br>
              <a:rPr lang="en-US" sz="2200" dirty="0">
                <a:latin typeface="Consolas" panose="020B0609020204030204" pitchFamily="49" charset="0"/>
              </a:rPr>
            </a:br>
            <a:endParaRPr lang="en-US" sz="2200" dirty="0">
              <a:latin typeface="Consolas" panose="020B0609020204030204" pitchFamily="49" charset="0"/>
            </a:endParaRPr>
          </a:p>
          <a:p>
            <a:pPr marL="457200" indent="-457200">
              <a:buFontTx/>
              <a:buChar char="-"/>
            </a:pPr>
            <a:r>
              <a:rPr lang="en-US" dirty="0"/>
              <a:t>This is not string interpolation!</a:t>
            </a:r>
          </a:p>
          <a:p>
            <a:pPr marL="457200" indent="-457200">
              <a:buFontTx/>
              <a:buChar char="-"/>
            </a:pPr>
            <a:r>
              <a:rPr lang="en-US" dirty="0"/>
              <a:t>This is not format string arguments!</a:t>
            </a:r>
          </a:p>
          <a:p>
            <a:pPr marL="457200" indent="-457200">
              <a:buFontTx/>
              <a:buChar char="-"/>
            </a:pPr>
            <a:r>
              <a:rPr lang="en-US" dirty="0"/>
              <a:t>This is a message template.</a:t>
            </a:r>
          </a:p>
          <a:p>
            <a:pPr marL="457200" indent="-457200">
              <a:buFontTx/>
              <a:buChar char="-"/>
            </a:pPr>
            <a:r>
              <a:rPr lang="en-US" dirty="0"/>
              <a:t>What actually happens (mostly):</a:t>
            </a:r>
          </a:p>
          <a:p>
            <a:r>
              <a:rPr lang="en-US" sz="3000" dirty="0">
                <a:latin typeface="Consolas" panose="020B0609020204030204" pitchFamily="49" charset="0"/>
              </a:rPr>
              <a:t>{ message: "Forecast result: 13", temperature: 13 }</a:t>
            </a:r>
          </a:p>
          <a:p>
            <a:pPr marL="457200" indent="-457200">
              <a:buFontTx/>
              <a:buChar char="-"/>
            </a:pPr>
            <a:endParaRPr lang="en-US" dirty="0"/>
          </a:p>
        </p:txBody>
      </p:sp>
      <p:pic>
        <p:nvPicPr>
          <p:cNvPr id="6146" name="Picture 2">
            <a:extLst>
              <a:ext uri="{FF2B5EF4-FFF2-40B4-BE49-F238E27FC236}">
                <a16:creationId xmlns:a16="http://schemas.microsoft.com/office/drawing/2014/main" id="{4AEAD1BF-01FE-2EF5-D6BA-D17587790F9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" b="34698"/>
          <a:stretch/>
        </p:blipFill>
        <p:spPr bwMode="auto">
          <a:xfrm>
            <a:off x="8360874" y="2571750"/>
            <a:ext cx="3133896" cy="2148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45855290"/>
      </p:ext>
    </p:extLst>
  </p:cSld>
  <p:clrMapOvr>
    <a:masterClrMapping/>
  </p:clrMapOvr>
  <p:transition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2: Basic Semantic Logging</a:t>
            </a:r>
          </a:p>
        </p:txBody>
      </p:sp>
    </p:spTree>
    <p:extLst>
      <p:ext uri="{BB962C8B-B14F-4D97-AF65-F5344CB8AC3E}">
        <p14:creationId xmlns:p14="http://schemas.microsoft.com/office/powerpoint/2010/main" val="2037938741"/>
      </p:ext>
    </p:extLst>
  </p:cSld>
  <p:clrMapOvr>
    <a:masterClrMapping/>
  </p:clrMapOvr>
  <p:transition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Logging: Backend options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4449423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Cloud: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Azure AppInsights/Monitor </a:t>
            </a:r>
            <a:r>
              <a:rPr lang="en-US" dirty="0">
                <a:hlinkClick r:id="rId3"/>
              </a:rPr>
              <a:t>https://tinyurl.com/WillAzureMonitorSupportOTLP</a:t>
            </a:r>
            <a:endParaRPr lang="en-US" dirty="0"/>
          </a:p>
          <a:p>
            <a:pPr marL="796926" lvl="1" indent="-457200">
              <a:buFontTx/>
              <a:buChar char="-"/>
            </a:pPr>
            <a:r>
              <a:rPr lang="en-US" dirty="0"/>
              <a:t>AWS CloudWatch (</a:t>
            </a:r>
            <a:r>
              <a:rPr lang="en-US" dirty="0">
                <a:hlinkClick r:id="rId4"/>
              </a:rPr>
              <a:t>https://tinyurl.com/AWS-OTEL-logs</a:t>
            </a:r>
            <a:r>
              <a:rPr lang="en-US" dirty="0"/>
              <a:t>)</a:t>
            </a:r>
          </a:p>
          <a:p>
            <a:pPr marL="1030290" lvl="2" indent="-457200">
              <a:buFontTx/>
              <a:buChar char="-"/>
            </a:pPr>
            <a:r>
              <a:rPr lang="en-US" dirty="0"/>
              <a:t>(Use X-Ray for metrics: </a:t>
            </a:r>
            <a:r>
              <a:rPr lang="en-US" dirty="0">
                <a:hlinkClick r:id="rId5"/>
              </a:rPr>
              <a:t>https://tinyurl.com/AWS-OTEL-metrics</a:t>
            </a:r>
            <a:r>
              <a:rPr lang="en-US" dirty="0"/>
              <a:t>)</a:t>
            </a:r>
          </a:p>
          <a:p>
            <a:pPr marL="457200" indent="-457200">
              <a:buFontTx/>
              <a:buChar char="-"/>
            </a:pPr>
            <a:r>
              <a:rPr lang="en-US" dirty="0"/>
              <a:t>SaaS: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Honeycomb</a:t>
            </a:r>
          </a:p>
          <a:p>
            <a:pPr marL="796926" lvl="1" indent="-457200">
              <a:buFontTx/>
              <a:buChar char="-"/>
            </a:pPr>
            <a:r>
              <a:rPr lang="en-US" dirty="0" err="1"/>
              <a:t>Graylog</a:t>
            </a:r>
            <a:r>
              <a:rPr lang="en-US" dirty="0"/>
              <a:t> cloud</a:t>
            </a:r>
          </a:p>
          <a:p>
            <a:pPr marL="796926" lvl="1" indent="-457200">
              <a:buFontTx/>
              <a:buChar char="-"/>
            </a:pPr>
            <a:r>
              <a:rPr lang="en-US" dirty="0" err="1"/>
              <a:t>Papertrail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Self-hosted:</a:t>
            </a:r>
          </a:p>
          <a:p>
            <a:pPr marL="796926" lvl="1" indent="-457200">
              <a:buFontTx/>
              <a:buChar char="-"/>
            </a:pPr>
            <a:r>
              <a:rPr lang="en-US" dirty="0" err="1"/>
              <a:t>Graylog</a:t>
            </a:r>
            <a:r>
              <a:rPr lang="en-US" dirty="0"/>
              <a:t>, Seq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9F45E9D6-CE0A-1E25-20B6-6A7AD75242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605288" y="3053089"/>
            <a:ext cx="3882690" cy="25936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49073084"/>
      </p:ext>
    </p:extLst>
  </p:cSld>
  <p:clrMapOvr>
    <a:masterClrMapping/>
  </p:clrMapOvr>
  <p:transition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Logging: Performance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4125809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Basic form:</a:t>
            </a:r>
          </a:p>
          <a:p>
            <a:br>
              <a:rPr lang="en-US" sz="2200" dirty="0">
                <a:latin typeface="Consolas" panose="020B0609020204030204" pitchFamily="49" charset="0"/>
              </a:rPr>
            </a:br>
            <a:r>
              <a:rPr lang="en-US" sz="2200" dirty="0">
                <a:latin typeface="Consolas" panose="020B0609020204030204" pitchFamily="49" charset="0"/>
              </a:rPr>
              <a:t>_</a:t>
            </a:r>
            <a:r>
              <a:rPr lang="en-US" sz="2200" dirty="0" err="1">
                <a:latin typeface="Consolas" panose="020B0609020204030204" pitchFamily="49" charset="0"/>
              </a:rPr>
              <a:t>logger.LogInformation</a:t>
            </a:r>
            <a:r>
              <a:rPr lang="en-US" sz="2200" dirty="0">
                <a:latin typeface="Consolas" panose="020B0609020204030204" pitchFamily="49" charset="0"/>
              </a:rPr>
              <a:t>("Forecast result: {temperature}", temperature);</a:t>
            </a:r>
            <a:br>
              <a:rPr lang="en-US" sz="2200" dirty="0">
                <a:latin typeface="Consolas" panose="020B0609020204030204" pitchFamily="49" charset="0"/>
              </a:rPr>
            </a:br>
            <a:endParaRPr lang="en-US" sz="2200" dirty="0">
              <a:latin typeface="Consolas" panose="020B0609020204030204" pitchFamily="49" charset="0"/>
            </a:endParaRPr>
          </a:p>
          <a:p>
            <a:pPr marL="457200" indent="-457200">
              <a:buFontTx/>
              <a:buChar char="-"/>
            </a:pPr>
            <a:r>
              <a:rPr lang="en-US" dirty="0"/>
              <a:t>Performant form:</a:t>
            </a:r>
            <a:endParaRPr lang="en-US" sz="3000" dirty="0">
              <a:latin typeface="Consolas" panose="020B0609020204030204" pitchFamily="49" charset="0"/>
            </a:endParaRPr>
          </a:p>
          <a:p>
            <a:pPr marL="0" marR="0" lvl="0" indent="0" algn="l" defTabSz="914367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None/>
              <a:tabLst/>
              <a:defRPr/>
            </a:pPr>
            <a:b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</a:b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_</a:t>
            </a:r>
            <a:r>
              <a:rPr kumimoji="0" lang="en-US" sz="2200" b="0" i="0" u="none" strike="noStrike" kern="1200" cap="none" spc="0" normalizeH="0" baseline="0" noProof="0" dirty="0" err="1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logger.LogTemperature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(temperature);</a:t>
            </a:r>
            <a:b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</a:br>
            <a:b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</a:b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[</a:t>
            </a:r>
            <a:r>
              <a:rPr kumimoji="0" lang="en-US" sz="2200" b="0" i="0" u="none" strike="noStrike" kern="1200" cap="none" spc="0" normalizeH="0" baseline="0" noProof="0" dirty="0" err="1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LoggerMessage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(Level = </a:t>
            </a:r>
            <a:r>
              <a:rPr kumimoji="0" lang="en-US" sz="2200" b="0" i="0" u="none" strike="noStrike" kern="1200" cap="none" spc="0" normalizeH="0" baseline="0" noProof="0" dirty="0" err="1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LogLevel.Information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, Message = "Forecast result: {temperature}")]</a:t>
            </a:r>
          </a:p>
          <a:p>
            <a:pPr marL="0" marR="0" lvl="0" indent="0" algn="l" defTabSz="914367" rtl="0" eaLnBrk="1" fontAlgn="auto" latinLnBrk="0" hangingPunct="1">
              <a:lnSpc>
                <a:spcPct val="90000"/>
              </a:lnSpc>
              <a:spcBef>
                <a:spcPct val="20000"/>
              </a:spcBef>
              <a:spcAft>
                <a:spcPts val="0"/>
              </a:spcAft>
              <a:buClrTx/>
              <a:buSzPct val="90000"/>
              <a:buFont typeface="Arial" pitchFamily="34" charset="0"/>
              <a:buNone/>
              <a:tabLst/>
              <a:defRPr/>
            </a:pP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static partial void </a:t>
            </a:r>
            <a:r>
              <a:rPr kumimoji="0" lang="en-US" sz="2200" b="0" i="0" u="none" strike="noStrike" kern="1200" cap="none" spc="0" normalizeH="0" baseline="0" noProof="0" dirty="0" err="1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LogTemperature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(this </a:t>
            </a:r>
            <a:r>
              <a:rPr kumimoji="0" lang="en-US" sz="2200" b="0" i="0" u="none" strike="noStrike" kern="1200" cap="none" spc="0" normalizeH="0" baseline="0" noProof="0" dirty="0" err="1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ILogger</a:t>
            </a:r>
            <a:r>
              <a:rPr kumimoji="0" lang="en-US" sz="2200" b="0" i="0" u="none" strike="noStrike" kern="1200" cap="none" spc="0" normalizeH="0" baseline="0" noProof="0" dirty="0">
                <a:ln>
                  <a:noFill/>
                </a:ln>
                <a:gradFill>
                  <a:gsLst>
                    <a:gs pos="1250">
                      <a:srgbClr val="000000"/>
                    </a:gs>
                    <a:gs pos="100000">
                      <a:srgbClr val="000000"/>
                    </a:gs>
                  </a:gsLst>
                  <a:lin ang="5400000" scaled="0"/>
                </a:gradFill>
                <a:effectLst/>
                <a:uLnTx/>
                <a:uFillTx/>
                <a:latin typeface="Consolas" panose="020B0609020204030204" pitchFamily="49" charset="0"/>
                <a:ea typeface="+mn-ea"/>
                <a:cs typeface="Segoe UI" pitchFamily="34" charset="0"/>
              </a:rPr>
              <a:t> logger, int temperature);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7700196"/>
      </p:ext>
    </p:extLst>
  </p:cSld>
  <p:clrMapOvr>
    <a:masterClrMapping/>
  </p:clrMapOvr>
  <p:transition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Logging: Scopes!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2176109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This is your hero superpower.</a:t>
            </a:r>
          </a:p>
          <a:p>
            <a:pPr marL="457200" indent="-457200">
              <a:buFontTx/>
              <a:buChar char="-"/>
            </a:pP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Scopes allow you to attach </a:t>
            </a:r>
            <a:r>
              <a:rPr lang="en-US" dirty="0" err="1"/>
              <a:t>name:value</a:t>
            </a:r>
            <a:r>
              <a:rPr lang="en-US" dirty="0"/>
              <a:t> data pairs to all logs within a scope.</a:t>
            </a:r>
          </a:p>
        </p:txBody>
      </p:sp>
      <p:pic>
        <p:nvPicPr>
          <p:cNvPr id="7170" name="Picture 2">
            <a:extLst>
              <a:ext uri="{FF2B5EF4-FFF2-40B4-BE49-F238E27FC236}">
                <a16:creationId xmlns:a16="http://schemas.microsoft.com/office/drawing/2014/main" id="{19C24E00-923B-F3B0-D9A2-6954644936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61089" y="3074670"/>
            <a:ext cx="3469822" cy="3643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1969485"/>
      </p:ext>
    </p:extLst>
  </p:cSld>
  <p:clrMapOvr>
    <a:masterClrMapping/>
  </p:clrMapOvr>
  <p:transition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3: Scopes</a:t>
            </a:r>
          </a:p>
        </p:txBody>
      </p:sp>
    </p:spTree>
    <p:extLst>
      <p:ext uri="{BB962C8B-B14F-4D97-AF65-F5344CB8AC3E}">
        <p14:creationId xmlns:p14="http://schemas.microsoft.com/office/powerpoint/2010/main" val="1255695555"/>
      </p:ext>
    </p:extLst>
  </p:cSld>
  <p:clrMapOvr>
    <a:masterClrMapping/>
  </p:clrMapOvr>
  <p:transition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 Scopes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2474780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The scope type is</a:t>
            </a:r>
            <a:br>
              <a:rPr lang="en-US" dirty="0"/>
            </a:br>
            <a:r>
              <a:rPr lang="en-US" dirty="0" err="1">
                <a:latin typeface="Consolas" panose="020B0609020204030204" pitchFamily="49" charset="0"/>
              </a:rPr>
              <a:t>IEnumerable</a:t>
            </a:r>
            <a:r>
              <a:rPr lang="en-US" dirty="0">
                <a:latin typeface="Consolas" panose="020B0609020204030204" pitchFamily="49" charset="0"/>
              </a:rPr>
              <a:t>&lt;</a:t>
            </a:r>
            <a:r>
              <a:rPr lang="en-US" dirty="0" err="1">
                <a:latin typeface="Consolas" panose="020B0609020204030204" pitchFamily="49" charset="0"/>
              </a:rPr>
              <a:t>KeyValuePair</a:t>
            </a:r>
            <a:r>
              <a:rPr lang="en-US" dirty="0">
                <a:latin typeface="Consolas" panose="020B0609020204030204" pitchFamily="49" charset="0"/>
              </a:rPr>
              <a:t>&lt;string, object&gt;&gt;</a:t>
            </a:r>
          </a:p>
          <a:p>
            <a:pPr marL="796926" lvl="1" indent="-457200">
              <a:buFontTx/>
              <a:buChar char="-"/>
            </a:pPr>
            <a:r>
              <a:rPr lang="en-US" dirty="0">
                <a:hlinkClick r:id="rId3"/>
              </a:rPr>
              <a:t>https://tinyurl.com/BeginScope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Tip: helpers are convenient. E.g., </a:t>
            </a:r>
            <a:r>
              <a:rPr lang="en-US" dirty="0">
                <a:hlinkClick r:id="rId4"/>
              </a:rPr>
              <a:t>https://github.com/stephenCleary/Logging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5903675"/>
      </p:ext>
    </p:extLst>
  </p:cSld>
  <p:clrMapOvr>
    <a:masterClrMapping/>
  </p:clrMapOvr>
  <p:transition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Semantic Logging Scopes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8120381" cy="5066316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Common pitfall: exception handling scopes.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The scopes in force when the exception is thrown are different than when the exception is logged.</a:t>
            </a:r>
          </a:p>
          <a:p>
            <a:pPr marL="457200" indent="-457200">
              <a:buFontTx/>
              <a:buChar char="-"/>
            </a:pPr>
            <a:r>
              <a:rPr lang="en-US" dirty="0"/>
              <a:t>Workaround: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Capture the scopes when the exception is thrown.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Restore the scopes when the exception is logged.</a:t>
            </a:r>
          </a:p>
          <a:p>
            <a:pPr marL="796926" lvl="1" indent="-457200">
              <a:buFontTx/>
              <a:buChar char="-"/>
            </a:pPr>
            <a:r>
              <a:rPr lang="en-US" dirty="0">
                <a:hlinkClick r:id="rId3"/>
              </a:rPr>
              <a:t>https://github.com/stephenCleary/Logging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Alternative: Seq has a “throw context enricher”.</a:t>
            </a:r>
          </a:p>
        </p:txBody>
      </p:sp>
      <p:pic>
        <p:nvPicPr>
          <p:cNvPr id="9218" name="Picture 2">
            <a:extLst>
              <a:ext uri="{FF2B5EF4-FFF2-40B4-BE49-F238E27FC236}">
                <a16:creationId xmlns:a16="http://schemas.microsoft.com/office/drawing/2014/main" id="{8B1A04AD-005B-36DB-E883-3316A047477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66223" y="865073"/>
            <a:ext cx="3356537" cy="42090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5349702"/>
      </p:ext>
    </p:extLst>
  </p:cSld>
  <p:clrMapOvr>
    <a:masterClrMapping/>
  </p:clrMapOvr>
  <p:transition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Demo 4: Scopes in the Real World</a:t>
            </a:r>
          </a:p>
        </p:txBody>
      </p:sp>
    </p:spTree>
    <p:extLst>
      <p:ext uri="{BB962C8B-B14F-4D97-AF65-F5344CB8AC3E}">
        <p14:creationId xmlns:p14="http://schemas.microsoft.com/office/powerpoint/2010/main" val="306706287"/>
      </p:ext>
    </p:extLst>
  </p:cSld>
  <p:clrMapOvr>
    <a:masterClrMapping/>
  </p:clrMapOvr>
  <p:transition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Q&amp;A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4529" y="1103070"/>
            <a:ext cx="3129100" cy="39817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725930" y="3296644"/>
            <a:ext cx="2912785" cy="470898"/>
          </a:xfrm>
          <a:prstGeom prst="rect">
            <a:avLst/>
          </a:prstGeom>
          <a:noFill/>
        </p:spPr>
        <p:txBody>
          <a:bodyPr wrap="none" lIns="137160" tIns="109728" rIns="137160" bIns="109728" rtlCol="0">
            <a:spAutoFit/>
          </a:bodyPr>
          <a:lstStyle/>
          <a:p>
            <a:pPr>
              <a:lnSpc>
                <a:spcPct val="90000"/>
              </a:lnSpc>
              <a:spcAft>
                <a:spcPts val="450"/>
              </a:spcAft>
            </a:pPr>
            <a:r>
              <a:rPr lang="en-US" i="1" dirty="0">
                <a:solidFill>
                  <a:schemeClr val="bg1"/>
                </a:solidFill>
              </a:rPr>
              <a:t>Go forth and be awesome!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95786" y="5084852"/>
            <a:ext cx="3003707" cy="346249"/>
          </a:xfrm>
          <a:prstGeom prst="rect">
            <a:avLst/>
          </a:prstGeom>
          <a:noFill/>
        </p:spPr>
        <p:txBody>
          <a:bodyPr wrap="none" lIns="137160" tIns="109728" rIns="137160" bIns="109728" rtlCol="0">
            <a:spAutoFit/>
          </a:bodyPr>
          <a:lstStyle/>
          <a:p>
            <a:pPr>
              <a:lnSpc>
                <a:spcPct val="90000"/>
              </a:lnSpc>
              <a:spcAft>
                <a:spcPts val="450"/>
              </a:spcAft>
            </a:pPr>
            <a:r>
              <a:rPr lang="en-US" sz="900" dirty="0">
                <a:solidFill>
                  <a:schemeClr val="bg1"/>
                </a:solidFill>
              </a:rPr>
              <a:t>Image from </a:t>
            </a:r>
            <a:r>
              <a:rPr lang="en-US" sz="900" dirty="0" err="1">
                <a:solidFill>
                  <a:schemeClr val="bg1"/>
                </a:solidFill>
              </a:rPr>
              <a:t>Etsy</a:t>
            </a:r>
            <a:r>
              <a:rPr lang="en-US" sz="900" dirty="0">
                <a:solidFill>
                  <a:schemeClr val="bg1"/>
                </a:solidFill>
              </a:rPr>
              <a:t> user </a:t>
            </a:r>
            <a:r>
              <a:rPr lang="en-US" sz="900" dirty="0" err="1">
                <a:solidFill>
                  <a:schemeClr val="bg1"/>
                </a:solidFill>
              </a:rPr>
              <a:t>Rosewine</a:t>
            </a:r>
            <a:r>
              <a:rPr lang="en-US" sz="900" dirty="0">
                <a:solidFill>
                  <a:schemeClr val="bg1"/>
                </a:solidFill>
              </a:rPr>
              <a:t>; used with permission</a:t>
            </a:r>
          </a:p>
        </p:txBody>
      </p:sp>
    </p:spTree>
    <p:extLst>
      <p:ext uri="{BB962C8B-B14F-4D97-AF65-F5344CB8AC3E}">
        <p14:creationId xmlns:p14="http://schemas.microsoft.com/office/powerpoint/2010/main" val="3243594767"/>
      </p:ext>
    </p:extLst>
  </p:cSld>
  <p:clrMapOvr>
    <a:masterClrMapping/>
  </p:clrMapOvr>
  <p:transition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0"/>
          </p:nvPr>
        </p:nvSpPr>
        <p:spPr>
          <a:xfrm>
            <a:off x="269239" y="1197324"/>
            <a:ext cx="11653523" cy="1976888"/>
          </a:xfrm>
        </p:spPr>
        <p:txBody>
          <a:bodyPr/>
          <a:lstStyle/>
          <a:p>
            <a:pPr marL="457200" indent="-457200">
              <a:buFontTx/>
              <a:buChar char="-"/>
            </a:pPr>
            <a:r>
              <a:rPr lang="en-US" dirty="0"/>
              <a:t>Distributed tracing (including across queues):</a:t>
            </a:r>
          </a:p>
          <a:p>
            <a:pPr marL="796926" lvl="1" indent="-457200">
              <a:buFontTx/>
              <a:buChar char="-"/>
            </a:pPr>
            <a:r>
              <a:rPr lang="en-US" dirty="0">
                <a:hlinkClick r:id="rId3"/>
              </a:rPr>
              <a:t>https://tinyurl.com/OTEL-RabbitMQ</a:t>
            </a:r>
            <a:endParaRPr lang="en-US" dirty="0"/>
          </a:p>
          <a:p>
            <a:pPr marL="457200" indent="-457200">
              <a:buFontTx/>
              <a:buChar char="-"/>
            </a:pPr>
            <a:r>
              <a:rPr lang="en-US" dirty="0"/>
              <a:t>Pitfall:</a:t>
            </a:r>
          </a:p>
          <a:p>
            <a:pPr marL="796926" lvl="1" indent="-457200">
              <a:buFontTx/>
              <a:buChar char="-"/>
            </a:pPr>
            <a:r>
              <a:rPr lang="en-US" dirty="0"/>
              <a:t>Know your backend (e.g., </a:t>
            </a:r>
            <a:r>
              <a:rPr lang="en-US" dirty="0" err="1"/>
              <a:t>Graylog’s</a:t>
            </a:r>
            <a:r>
              <a:rPr lang="en-US" dirty="0"/>
              <a:t> </a:t>
            </a:r>
            <a:r>
              <a:rPr lang="en-US" dirty="0" err="1"/>
              <a:t>ElasticSearch</a:t>
            </a:r>
            <a:r>
              <a:rPr lang="en-US" dirty="0"/>
              <a:t> index typing)</a:t>
            </a:r>
          </a:p>
        </p:txBody>
      </p:sp>
    </p:spTree>
    <p:extLst>
      <p:ext uri="{BB962C8B-B14F-4D97-AF65-F5344CB8AC3E}">
        <p14:creationId xmlns:p14="http://schemas.microsoft.com/office/powerpoint/2010/main" val="3482452174"/>
      </p:ext>
    </p:extLst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Theme1">
  <a:themeElements>
    <a:clrScheme name="Custom 1">
      <a:dk1>
        <a:srgbClr val="000000"/>
      </a:dk1>
      <a:lt1>
        <a:srgbClr val="FFFFFF"/>
      </a:lt1>
      <a:dk2>
        <a:srgbClr val="26539C"/>
      </a:dk2>
      <a:lt2>
        <a:srgbClr val="B8E9FA"/>
      </a:lt2>
      <a:accent1>
        <a:srgbClr val="176F4E"/>
      </a:accent1>
      <a:accent2>
        <a:srgbClr val="F04848"/>
      </a:accent2>
      <a:accent3>
        <a:srgbClr val="603C1B"/>
      </a:accent3>
      <a:accent4>
        <a:srgbClr val="109A78"/>
      </a:accent4>
      <a:accent5>
        <a:srgbClr val="FCE470"/>
      </a:accent5>
      <a:accent6>
        <a:srgbClr val="70BC82"/>
      </a:accent6>
      <a:hlink>
        <a:srgbClr val="F04848"/>
      </a:hlink>
      <a:folHlink>
        <a:srgbClr val="F04848"/>
      </a:folHlink>
    </a:clrScheme>
    <a:fontScheme name="Custom 1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ln>
          <a:noFill/>
          <a:headEnd type="none" w="med" len="med"/>
          <a:tailEnd type="none" w="med" len="med"/>
        </a:ln>
      </a:spPr>
      <a:bodyPr vert="horz" wrap="square" lIns="0" tIns="46637" rIns="0" bIns="46637" numCol="1" rtlCol="0" anchor="ctr" anchorCtr="0" compatLnSpc="1">
        <a:prstTxWarp prst="textNoShape">
          <a:avLst/>
        </a:prstTxWarp>
      </a:bodyPr>
      <a:lstStyle>
        <a:defPPr algn="ctr" defTabSz="932472" fontAlgn="base">
          <a:spcBef>
            <a:spcPct val="0"/>
          </a:spcBef>
          <a:spcAft>
            <a:spcPct val="0"/>
          </a:spcAft>
          <a:defRPr sz="2000" dirty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heme1" id="{3A1D99AA-2C26-4EE3-9549-072F209D0352}" vid="{CC9ED212-E232-4257-BD79-C2D0F5FD60E9}"/>
    </a:ext>
  </a:extLst>
</a:theme>
</file>

<file path=ppt/theme/theme2.xml><?xml version="1.0" encoding="utf-8"?>
<a:theme xmlns:a="http://schemas.openxmlformats.org/drawingml/2006/main" name="2023 ThatConf Landscape">
  <a:themeElements>
    <a:clrScheme name="Custom 1">
      <a:dk1>
        <a:srgbClr val="000000"/>
      </a:dk1>
      <a:lt1>
        <a:srgbClr val="FFFFFF"/>
      </a:lt1>
      <a:dk2>
        <a:srgbClr val="26539C"/>
      </a:dk2>
      <a:lt2>
        <a:srgbClr val="B8E9FA"/>
      </a:lt2>
      <a:accent1>
        <a:srgbClr val="176F4E"/>
      </a:accent1>
      <a:accent2>
        <a:srgbClr val="F04848"/>
      </a:accent2>
      <a:accent3>
        <a:srgbClr val="603C1B"/>
      </a:accent3>
      <a:accent4>
        <a:srgbClr val="109A78"/>
      </a:accent4>
      <a:accent5>
        <a:srgbClr val="FCE470"/>
      </a:accent5>
      <a:accent6>
        <a:srgbClr val="70BC82"/>
      </a:accent6>
      <a:hlink>
        <a:srgbClr val="F04848"/>
      </a:hlink>
      <a:folHlink>
        <a:srgbClr val="F04848"/>
      </a:folHlink>
    </a:clrScheme>
    <a:fontScheme name="Custom 1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Coutur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8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9050" h="31750" prst="coolSlant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ln>
          <a:noFill/>
          <a:headEnd type="none" w="med" len="med"/>
          <a:tailEnd type="none" w="med" len="med"/>
        </a:ln>
      </a:spPr>
      <a:bodyPr vert="horz" wrap="square" lIns="0" tIns="46637" rIns="0" bIns="46637" numCol="1" rtlCol="0" anchor="ctr" anchorCtr="0" compatLnSpc="1">
        <a:prstTxWarp prst="textNoShape">
          <a:avLst/>
        </a:prstTxWarp>
      </a:bodyPr>
      <a:lstStyle>
        <a:defPPr algn="ctr" defTabSz="932472" fontAlgn="base">
          <a:spcBef>
            <a:spcPct val="0"/>
          </a:spcBef>
          <a:spcAft>
            <a:spcPct val="0"/>
          </a:spcAft>
          <a:defRPr sz="2000" dirty="0">
            <a:gradFill>
              <a:gsLst>
                <a:gs pos="0">
                  <a:srgbClr val="FFFFFF"/>
                </a:gs>
                <a:gs pos="100000">
                  <a:srgbClr val="FFFFFF"/>
                </a:gs>
              </a:gsLst>
              <a:lin ang="5400000" scaled="0"/>
            </a:gra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>
          <a:solidFill>
            <a:schemeClr val="tx1"/>
          </a:solidFill>
          <a:headEnd type="none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182880" tIns="146304" rIns="182880" bIns="146304" rtlCol="0">
        <a:spAutoFit/>
      </a:bodyPr>
      <a:lstStyle>
        <a:defPPr>
          <a:lnSpc>
            <a:spcPct val="90000"/>
          </a:lnSpc>
          <a:spcAft>
            <a:spcPts val="600"/>
          </a:spcAft>
          <a:defRPr sz="2400" dirty="0" err="1" smtClean="0">
            <a:gradFill>
              <a:gsLst>
                <a:gs pos="2917">
                  <a:schemeClr val="tx1"/>
                </a:gs>
                <a:gs pos="30000">
                  <a:schemeClr val="tx1"/>
                </a:gs>
              </a:gsLst>
              <a:lin ang="5400000" scaled="0"/>
            </a:gradFill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Microsoft" id="{AC9B6D51-8BBA-4D25-816B-B1B284F1984B}" vid="{5CB1449E-9144-40FE-A958-E686E7966457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Microsoft</Template>
  <TotalTime>25439</TotalTime>
  <Words>839</Words>
  <Application>Microsoft Office PowerPoint</Application>
  <PresentationFormat>Widescreen</PresentationFormat>
  <Paragraphs>150</Paragraphs>
  <Slides>25</Slides>
  <Notes>22</Notes>
  <HiddenSlides>2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25</vt:i4>
      </vt:variant>
    </vt:vector>
  </HeadingPairs>
  <TitlesOfParts>
    <vt:vector size="33" baseType="lpstr">
      <vt:lpstr>Arial</vt:lpstr>
      <vt:lpstr>Calibri</vt:lpstr>
      <vt:lpstr>Consolas</vt:lpstr>
      <vt:lpstr>Segoe UI</vt:lpstr>
      <vt:lpstr>Segoe UI Light</vt:lpstr>
      <vt:lpstr>Wingdings</vt:lpstr>
      <vt:lpstr>Theme1</vt:lpstr>
      <vt:lpstr>2023 ThatConf Landscape</vt:lpstr>
      <vt:lpstr>Be a Logging Hero!</vt:lpstr>
      <vt:lpstr>Who is this guy?</vt:lpstr>
      <vt:lpstr>PowerPoint Presentation</vt:lpstr>
      <vt:lpstr>Telemetry</vt:lpstr>
      <vt:lpstr>Telemetry Terminology</vt:lpstr>
      <vt:lpstr>Telemetry Terminology</vt:lpstr>
      <vt:lpstr>Telemetry History: Metrics</vt:lpstr>
      <vt:lpstr>Telemetry History: Traces</vt:lpstr>
      <vt:lpstr>Telemetry History: Logs</vt:lpstr>
      <vt:lpstr>Demo: Local Telemetry</vt:lpstr>
      <vt:lpstr>Demo 1: Telemetry the Easy Way</vt:lpstr>
      <vt:lpstr>Semantic Logging</vt:lpstr>
      <vt:lpstr>Semantic logging</vt:lpstr>
      <vt:lpstr>Semantic Logging: Getting a logger</vt:lpstr>
      <vt:lpstr>Semantic Logging: Basic Logging</vt:lpstr>
      <vt:lpstr>Demo 2: Basic Semantic Logging</vt:lpstr>
      <vt:lpstr>Semantic Logging: Backend options</vt:lpstr>
      <vt:lpstr>Semantic Logging: Performance</vt:lpstr>
      <vt:lpstr>Semantic Logging: Scopes!</vt:lpstr>
      <vt:lpstr>Demo 3: Scopes</vt:lpstr>
      <vt:lpstr>Semantic Logging Scopes</vt:lpstr>
      <vt:lpstr>Semantic Logging Scopes</vt:lpstr>
      <vt:lpstr>Demo 4: Scopes in the Real World</vt:lpstr>
      <vt:lpstr>Q&amp;A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Intermediate Async</dc:title>
  <dc:creator>Stephen Cleary</dc:creator>
  <cp:lastModifiedBy>Stephen Cleary</cp:lastModifiedBy>
  <cp:revision>439</cp:revision>
  <dcterms:created xsi:type="dcterms:W3CDTF">2013-02-28T01:41:02Z</dcterms:created>
  <dcterms:modified xsi:type="dcterms:W3CDTF">2026-09-08T02:02:35Z</dcterms:modified>
</cp:coreProperties>
</file>