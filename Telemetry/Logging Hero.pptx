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  <p:sldMasterId id="2147483718" r:id="rId2"/>
  </p:sldMasterIdLst>
  <p:notesMasterIdLst>
    <p:notesMasterId r:id="rId38"/>
  </p:notesMasterIdLst>
  <p:sldIdLst>
    <p:sldId id="256" r:id="rId3"/>
    <p:sldId id="258" r:id="rId4"/>
    <p:sldId id="317" r:id="rId5"/>
    <p:sldId id="409" r:id="rId6"/>
    <p:sldId id="400" r:id="rId7"/>
    <p:sldId id="411" r:id="rId8"/>
    <p:sldId id="414" r:id="rId9"/>
    <p:sldId id="417" r:id="rId10"/>
    <p:sldId id="416" r:id="rId11"/>
    <p:sldId id="418" r:id="rId12"/>
    <p:sldId id="413" r:id="rId13"/>
    <p:sldId id="419" r:id="rId14"/>
    <p:sldId id="412" r:id="rId15"/>
    <p:sldId id="420" r:id="rId16"/>
    <p:sldId id="422" r:id="rId17"/>
    <p:sldId id="421" r:id="rId18"/>
    <p:sldId id="426" r:id="rId19"/>
    <p:sldId id="424" r:id="rId20"/>
    <p:sldId id="423" r:id="rId21"/>
    <p:sldId id="427" r:id="rId22"/>
    <p:sldId id="425" r:id="rId23"/>
    <p:sldId id="428" r:id="rId24"/>
    <p:sldId id="429" r:id="rId25"/>
    <p:sldId id="430" r:id="rId26"/>
    <p:sldId id="431" r:id="rId27"/>
    <p:sldId id="432" r:id="rId28"/>
    <p:sldId id="434" r:id="rId29"/>
    <p:sldId id="433" r:id="rId30"/>
    <p:sldId id="435" r:id="rId31"/>
    <p:sldId id="436" r:id="rId32"/>
    <p:sldId id="439" r:id="rId33"/>
    <p:sldId id="437" r:id="rId34"/>
    <p:sldId id="438" r:id="rId35"/>
    <p:sldId id="390" r:id="rId36"/>
    <p:sldId id="410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40A61D7E-2C9D-4E7E-977C-2B6EC2434CD7}">
          <p14:sldIdLst>
            <p14:sldId id="256"/>
            <p14:sldId id="258"/>
            <p14:sldId id="317"/>
            <p14:sldId id="409"/>
            <p14:sldId id="400"/>
            <p14:sldId id="411"/>
            <p14:sldId id="414"/>
            <p14:sldId id="417"/>
            <p14:sldId id="416"/>
            <p14:sldId id="418"/>
            <p14:sldId id="413"/>
            <p14:sldId id="419"/>
            <p14:sldId id="412"/>
            <p14:sldId id="420"/>
            <p14:sldId id="422"/>
            <p14:sldId id="421"/>
            <p14:sldId id="426"/>
            <p14:sldId id="424"/>
            <p14:sldId id="423"/>
            <p14:sldId id="427"/>
            <p14:sldId id="425"/>
            <p14:sldId id="428"/>
            <p14:sldId id="429"/>
            <p14:sldId id="430"/>
            <p14:sldId id="431"/>
            <p14:sldId id="432"/>
            <p14:sldId id="434"/>
            <p14:sldId id="433"/>
            <p14:sldId id="435"/>
            <p14:sldId id="436"/>
            <p14:sldId id="439"/>
            <p14:sldId id="437"/>
            <p14:sldId id="438"/>
            <p14:sldId id="390"/>
            <p14:sldId id="41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F0"/>
    <a:srgbClr val="385723"/>
    <a:srgbClr val="A9D18E"/>
    <a:srgbClr val="000000"/>
    <a:srgbClr val="C55A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75472" autoAdjust="0"/>
  </p:normalViewPr>
  <p:slideViewPr>
    <p:cSldViewPr snapToGrid="0">
      <p:cViewPr varScale="1">
        <p:scale>
          <a:sx n="95" d="100"/>
          <a:sy n="95" d="100"/>
        </p:scale>
        <p:origin x="1116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presProps" Target="pres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4E8BCA-0B4F-4373-B78E-3D2899449797}" type="datetimeFigureOut">
              <a:rPr lang="en-US" smtClean="0"/>
              <a:t>9/11/2026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CE3395-F8FF-4336-B2AA-E15575B990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300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welcome!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04216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1" dirty="0"/>
              <a:t>Christian, husband, father, developer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46698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97546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59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95430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3545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TraceSource</a:t>
            </a:r>
            <a:r>
              <a:rPr lang="en-US" dirty="0"/>
              <a:t>: </a:t>
            </a:r>
            <a:r>
              <a:rPr lang="en-US" dirty="0" err="1"/>
              <a:t>TraceEventType</a:t>
            </a:r>
            <a:r>
              <a:rPr lang="en-US" dirty="0"/>
              <a:t> had Error/Warning/Information, but also Start and Stop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8556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(and under the hood of Aspire)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(and example of failures)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(compare how Seq combines logs and traces, while Aspire separates them)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(undo failure code before continuing)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46198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1738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99905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69587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7001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And searching by tags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42016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70929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(I don’t bother; this is really for hot path or framework/library code)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86829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don’t want to add “User” to </a:t>
            </a:r>
            <a:r>
              <a:rPr lang="en-US" i="1" dirty="0"/>
              <a:t>every single log statement!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23761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95724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7237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“throw context enricher”: we wrote our own for log4net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79583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Including custom </a:t>
            </a:r>
            <a:r>
              <a:rPr lang="en-US" baseline="0"/>
              <a:t>logger implementation.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05631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99C31-7E7F-F458-7138-E80B21C06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D6CA88-6A5E-9975-F56C-AC7F803651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8BC54C-8385-7109-0FFE-17E08D5AA5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Personally, I don’t find custom metrics to be particularly valuable.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D6EF2E-6972-D136-8E85-59DC8D2D51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48393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BB4B3-0148-89E0-DF7D-8B3DE1BBD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D421BE-7C0A-6F67-284A-F0E72B966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DCA926-0AEF-A780-BFAA-DB7246DE2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850E3-94DB-2A7B-A397-0ADE18FA89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85585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5EAFC-E633-F3DF-660C-D6C1FF86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A485FC-0791-E125-BA3A-AE0D14489C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DD4C7E-96B5-6EE9-EB64-F5F005F76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79371-9093-295E-597B-A4D19320B9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55098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415AC-6FF0-1457-9EB0-8A158971D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59B03-F092-0A92-EF40-DC24A6B76E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8C877C-950D-4CC6-BF36-25E689E16E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E7B66D-1EE7-5A7B-4F0C-7F2BEA0B4F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905671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0121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5613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Rectangle 2"/>
          <p:cNvSpPr/>
          <p:nvPr/>
        </p:nvSpPr>
        <p:spPr bwMode="hidden">
          <a:xfrm>
            <a:off x="1" y="1189176"/>
            <a:ext cx="12192000" cy="5668824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2" tIns="45722" rIns="45722" bIns="4572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spcBef>
                <a:spcPct val="0"/>
              </a:spcBef>
              <a:spcAft>
                <a:spcPct val="0"/>
              </a:spcAft>
            </a:pPr>
            <a:endParaRPr lang="en-US" sz="1765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743121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3462927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 (White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4115468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021316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31546348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3877273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69303" y="2075840"/>
            <a:ext cx="9860611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gradFill>
                  <a:gsLst>
                    <a:gs pos="3333">
                      <a:schemeClr val="tx1"/>
                    </a:gs>
                    <a:gs pos="39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596575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 Accent Colo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40" y="2084174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60545537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Slide for Developer Code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852069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ck Layout - Title and Content">
    <p:bg bwMode="gray"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 bwMode="white">
          <a:xfrm>
            <a:off x="519248" y="1447802"/>
            <a:ext cx="11151917" cy="1932837"/>
          </a:xfrm>
        </p:spPr>
        <p:txBody>
          <a:bodyPr/>
          <a:lstStyle>
            <a:lvl1pPr marL="346009" indent="-346009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32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  <a:lvl2pPr marL="920573" indent="-457112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28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24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1717345" indent="-285695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18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549102" indent="-342834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1800" kern="1200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</a:lstStyle>
          <a:p>
            <a:pPr marL="463461" lvl="0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Click to edit Master text styles</a:t>
            </a:r>
          </a:p>
          <a:p>
            <a:pPr marL="463461" lvl="1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Second level</a:t>
            </a:r>
          </a:p>
          <a:p>
            <a:pPr marL="463461" lvl="2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Third level</a:t>
            </a:r>
          </a:p>
          <a:p>
            <a:pPr marL="463461" lvl="3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Fourth level</a:t>
            </a:r>
          </a:p>
          <a:p>
            <a:pPr marL="463461" lvl="4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61638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4206641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92591850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Rectangle 2"/>
          <p:cNvSpPr/>
          <p:nvPr/>
        </p:nvSpPr>
        <p:spPr bwMode="hidden">
          <a:xfrm>
            <a:off x="1" y="1189176"/>
            <a:ext cx="12192000" cy="5668824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2" tIns="45722" rIns="45722" bIns="4572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spcBef>
                <a:spcPct val="0"/>
              </a:spcBef>
              <a:spcAft>
                <a:spcPct val="0"/>
              </a:spcAft>
            </a:pPr>
            <a:endParaRPr lang="en-US" sz="1765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5444532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78C6EE4-4C3E-4260-6DA3-CA8CD1EA310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64" y="1785"/>
            <a:ext cx="12187071" cy="6854429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69241" y="1189178"/>
            <a:ext cx="11653521" cy="2052030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20B82E-F3CB-0B36-22B3-80B0D127A051}"/>
              </a:ext>
            </a:extLst>
          </p:cNvPr>
          <p:cNvSpPr txBox="1"/>
          <p:nvPr userDrawn="1"/>
        </p:nvSpPr>
        <p:spPr>
          <a:xfrm>
            <a:off x="0" y="6230136"/>
            <a:ext cx="121920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373040038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22" r:id="rId9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5294" b="0" kern="1200" cap="none" spc="-100" baseline="0" dirty="0" smtClean="0">
          <a:ln w="3175">
            <a:noFill/>
          </a:ln>
          <a:solidFill>
            <a:schemeClr val="bg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336145" marR="0" indent="-336145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3921" kern="1200" spc="0" baseline="0">
          <a:solidFill>
            <a:schemeClr val="bg1"/>
          </a:solidFill>
          <a:latin typeface="+mj-lt"/>
          <a:ea typeface="+mn-ea"/>
          <a:cs typeface="+mn-cs"/>
        </a:defRPr>
      </a:lvl1pPr>
      <a:lvl2pPr marL="572691" marR="0" indent="-236546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53" kern="1200" spc="0" baseline="0">
          <a:solidFill>
            <a:schemeClr val="bg1"/>
          </a:solidFill>
          <a:latin typeface="+mn-lt"/>
          <a:ea typeface="+mn-ea"/>
          <a:cs typeface="+mn-cs"/>
        </a:defRPr>
      </a:lvl2pPr>
      <a:lvl3pPr marL="784338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61" kern="1200" spc="0" baseline="0">
          <a:solidFill>
            <a:schemeClr val="bg1"/>
          </a:solidFill>
          <a:latin typeface="+mn-lt"/>
          <a:ea typeface="+mn-ea"/>
          <a:cs typeface="+mn-cs"/>
        </a:defRPr>
      </a:lvl3pPr>
      <a:lvl4pPr marL="1008435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4pPr>
      <a:lvl5pPr marL="1232531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D763CE6-E6F4-AA5B-4A24-01806779A2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99"/>
            <a:ext cx="12192000" cy="68572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69241" y="1189178"/>
            <a:ext cx="11653521" cy="2052030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C68B18-36E2-28A3-4D6A-5300ABB83ED5}"/>
              </a:ext>
            </a:extLst>
          </p:cNvPr>
          <p:cNvSpPr txBox="1"/>
          <p:nvPr/>
        </p:nvSpPr>
        <p:spPr>
          <a:xfrm>
            <a:off x="4584700" y="6006613"/>
            <a:ext cx="30226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98132154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5294" b="0" kern="1200" cap="none" spc="-100" baseline="0" dirty="0" smtClean="0">
          <a:ln w="3175">
            <a:noFill/>
          </a:ln>
          <a:solidFill>
            <a:schemeClr val="bg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336145" marR="0" indent="-336145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3921" kern="1200" spc="0" baseline="0">
          <a:solidFill>
            <a:schemeClr val="bg1"/>
          </a:solidFill>
          <a:latin typeface="+mj-lt"/>
          <a:ea typeface="+mn-ea"/>
          <a:cs typeface="+mn-cs"/>
        </a:defRPr>
      </a:lvl1pPr>
      <a:lvl2pPr marL="572691" marR="0" indent="-236546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53" kern="1200" spc="0" baseline="0">
          <a:solidFill>
            <a:schemeClr val="bg1"/>
          </a:solidFill>
          <a:latin typeface="+mn-lt"/>
          <a:ea typeface="+mn-ea"/>
          <a:cs typeface="+mn-cs"/>
        </a:defRPr>
      </a:lvl2pPr>
      <a:lvl3pPr marL="784338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61" kern="1200" spc="0" baseline="0">
          <a:solidFill>
            <a:schemeClr val="bg1"/>
          </a:solidFill>
          <a:latin typeface="+mn-lt"/>
          <a:ea typeface="+mn-ea"/>
          <a:cs typeface="+mn-cs"/>
        </a:defRPr>
      </a:lvl3pPr>
      <a:lvl4pPr marL="1008435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4pPr>
      <a:lvl5pPr marL="1232531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ithub.com/StephenCleary/LocalTelemetry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essagetemplates.org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2.jpeg"/><Relationship Id="rId4" Type="http://schemas.openxmlformats.org/officeDocument/2006/relationships/hyperlink" Target="https://12factor.net/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WillAzureMonitorSupportOTLP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4.jpeg"/><Relationship Id="rId4" Type="http://schemas.openxmlformats.org/officeDocument/2006/relationships/hyperlink" Target="https://tinyurl.com/AWS-OTEL-logs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BeginScope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github.com/stephenCleary/Logging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ephenCleary/Logging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5.jpe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OTEL-RabbitMQ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839525-4981-AC8B-723B-4261B9EC3B6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Stephen Cleary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.NET Telemetry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in the Real World</a:t>
            </a:r>
          </a:p>
        </p:txBody>
      </p:sp>
    </p:spTree>
    <p:extLst>
      <p:ext uri="{BB962C8B-B14F-4D97-AF65-F5344CB8AC3E}">
        <p14:creationId xmlns:p14="http://schemas.microsoft.com/office/powerpoint/2010/main" val="3833262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is this guy?</a:t>
            </a:r>
          </a:p>
        </p:txBody>
      </p:sp>
      <p:pic>
        <p:nvPicPr>
          <p:cNvPr id="3" name="Picture 2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8007" y="4201227"/>
            <a:ext cx="3435985" cy="1389380"/>
          </a:xfrm>
          <a:prstGeom prst="rect">
            <a:avLst/>
          </a:prstGeom>
        </p:spPr>
      </p:pic>
      <p:pic>
        <p:nvPicPr>
          <p:cNvPr id="2" name="Picture 1" descr="A person with her hands on her head&#10;&#10;AI-generated content may be incorrect.">
            <a:extLst>
              <a:ext uri="{FF2B5EF4-FFF2-40B4-BE49-F238E27FC236}">
                <a16:creationId xmlns:a16="http://schemas.microsoft.com/office/drawing/2014/main" id="{F2270747-7385-F384-62B4-CCF49945B4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7967" y="981537"/>
            <a:ext cx="3072713" cy="460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90894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885FC9-B82E-937A-3192-687F8A05CA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83428" y="0"/>
            <a:ext cx="52251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57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</a:t>
            </a:r>
          </a:p>
        </p:txBody>
      </p:sp>
    </p:spTree>
    <p:extLst>
      <p:ext uri="{BB962C8B-B14F-4D97-AF65-F5344CB8AC3E}">
        <p14:creationId xmlns:p14="http://schemas.microsoft.com/office/powerpoint/2010/main" val="2468147346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Terminology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1262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Open Telemetry (OTEL)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Open Telemetry Protocol (OTLP)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gRPC:4317 / HTTP:4318</a:t>
            </a:r>
          </a:p>
        </p:txBody>
      </p:sp>
    </p:spTree>
    <p:extLst>
      <p:ext uri="{BB962C8B-B14F-4D97-AF65-F5344CB8AC3E}">
        <p14:creationId xmlns:p14="http://schemas.microsoft.com/office/powerpoint/2010/main" val="2678793416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Terminology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0180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Logs</a:t>
            </a:r>
          </a:p>
          <a:p>
            <a:pPr marL="457200" indent="-457200">
              <a:buFontTx/>
              <a:buChar char="-"/>
            </a:pPr>
            <a:r>
              <a:rPr lang="en-US" dirty="0"/>
              <a:t>Metrics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Measurements. Think Prometheus/Grafana dashboards.</a:t>
            </a:r>
          </a:p>
          <a:p>
            <a:pPr marL="457200" indent="-457200">
              <a:buFontTx/>
              <a:buChar char="-"/>
            </a:pPr>
            <a:r>
              <a:rPr lang="en-US" dirty="0"/>
              <a:t>Traces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Spans. Think waterfall diagrams or Start/Stop events.</a:t>
            </a:r>
          </a:p>
          <a:p>
            <a:pPr marL="796926" lvl="1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endParaRPr lang="en-US" i="1" dirty="0"/>
          </a:p>
          <a:p>
            <a:pPr marL="457200" indent="-457200">
              <a:buFontTx/>
              <a:buChar char="-"/>
            </a:pPr>
            <a:r>
              <a:rPr lang="en-US" i="1" dirty="0"/>
              <a:t>Timing</a:t>
            </a:r>
            <a:r>
              <a:rPr lang="en-US" dirty="0"/>
              <a:t> is a grey area; prefer traces unless you need metric.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279CA40-DB85-5F5F-23F4-BDD4177C6D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0461" y="103823"/>
            <a:ext cx="3012299" cy="38738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5416614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Metrics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823337"/>
          </a:xfrm>
        </p:spPr>
        <p:txBody>
          <a:bodyPr/>
          <a:lstStyle/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In the beginning, there were </a:t>
            </a:r>
            <a:r>
              <a:rPr lang="en-US" dirty="0" err="1"/>
              <a:t>PerformanceCounters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PerformanceCounters</a:t>
            </a:r>
            <a:r>
              <a:rPr lang="en-US" dirty="0"/>
              <a:t> were replaced by </a:t>
            </a:r>
            <a:r>
              <a:rPr lang="en-US" dirty="0" err="1"/>
              <a:t>EventCounters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EventCounters</a:t>
            </a:r>
            <a:r>
              <a:rPr lang="en-US" dirty="0"/>
              <a:t> are now replaced by OTEL Metrics</a:t>
            </a:r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E4AD0C7D-D6EF-F3EA-4BB6-7B68A1AAB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3297" y="3801723"/>
            <a:ext cx="3325406" cy="2417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6404392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Traces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3570080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ETW (Event Tracing for Windows) – extremely high-performance instrumentation across drivers et. al.</a:t>
            </a:r>
            <a:br>
              <a:rPr lang="en-US" dirty="0"/>
            </a:br>
            <a:r>
              <a:rPr lang="en-US" dirty="0"/>
              <a:t>Not particularly easy to use from C#</a:t>
            </a:r>
          </a:p>
          <a:p>
            <a:pPr marL="457200" indent="-457200">
              <a:buFontTx/>
              <a:buChar char="-"/>
            </a:pPr>
            <a:r>
              <a:rPr lang="en-US" dirty="0"/>
              <a:t>Custom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Modern: OTEL Traces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Replaces all of these.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A5C6CA98-BE7B-9706-8F62-3DC6F9FA1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8798" y="2857172"/>
            <a:ext cx="3044586" cy="2716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3017336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Logs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5013937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ETW logs</a:t>
            </a:r>
          </a:p>
          <a:p>
            <a:pPr marL="457200" indent="-457200">
              <a:buFontTx/>
              <a:buChar char="-"/>
            </a:pPr>
            <a:r>
              <a:rPr lang="en-US" dirty="0"/>
              <a:t>Custom logs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EventLog</a:t>
            </a:r>
            <a:r>
              <a:rPr lang="en-US" dirty="0"/>
              <a:t> (particularly services)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Trace.WriteLine</a:t>
            </a:r>
            <a:r>
              <a:rPr lang="en-US" dirty="0"/>
              <a:t> – replaced by </a:t>
            </a: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Modern: OTEL logs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Replaces all of these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25FDD68-5AAD-1434-E6CE-A1D268EB82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5228" y="3429000"/>
            <a:ext cx="3726180" cy="2484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6794152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41F8B5-FA38-46C3-BB17-0AAB7E0FC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Demo: Local Telemetry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D85031-FD42-6790-BA83-C5AD8F1BBB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632737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https://github.com/StephenCleary/LocalTelemetry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A881E6-EFB4-E0AB-7A9E-39009C73B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32895" y="6376643"/>
            <a:ext cx="12111841" cy="3088191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FEBAB900-0C6F-D5F8-4E39-AE0FB23923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4847" y="3754278"/>
            <a:ext cx="3065252" cy="230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D2AFF11-46EA-2F87-DFF2-0FB3D1C0BEC2}"/>
              </a:ext>
            </a:extLst>
          </p:cNvPr>
          <p:cNvSpPr/>
          <p:nvPr/>
        </p:nvSpPr>
        <p:spPr bwMode="auto">
          <a:xfrm>
            <a:off x="269239" y="2461516"/>
            <a:ext cx="2331217" cy="632737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OTLP endpoint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EE981B-7BD6-6080-3EEF-199177BBC3C5}"/>
              </a:ext>
            </a:extLst>
          </p:cNvPr>
          <p:cNvSpPr/>
          <p:nvPr/>
        </p:nvSpPr>
        <p:spPr bwMode="auto">
          <a:xfrm>
            <a:off x="3064356" y="2461516"/>
            <a:ext cx="2331217" cy="632737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OTEL Collector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5C5986-5142-81D8-A07A-3B0C6542FB44}"/>
              </a:ext>
            </a:extLst>
          </p:cNvPr>
          <p:cNvSpPr/>
          <p:nvPr/>
        </p:nvSpPr>
        <p:spPr bwMode="auto">
          <a:xfrm>
            <a:off x="6482635" y="2210637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Seq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914A86-79D1-1769-DE0B-9AB0163A2D8C}"/>
              </a:ext>
            </a:extLst>
          </p:cNvPr>
          <p:cNvSpPr/>
          <p:nvPr/>
        </p:nvSpPr>
        <p:spPr bwMode="auto">
          <a:xfrm>
            <a:off x="6487772" y="2706188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Aspire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7F89A1-102E-E70A-2D74-9A852E23DD32}"/>
              </a:ext>
            </a:extLst>
          </p:cNvPr>
          <p:cNvSpPr/>
          <p:nvPr/>
        </p:nvSpPr>
        <p:spPr bwMode="auto">
          <a:xfrm>
            <a:off x="6482633" y="3205682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Zipkin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CA341E-713A-9D2E-A7CB-227C5636B491}"/>
              </a:ext>
            </a:extLst>
          </p:cNvPr>
          <p:cNvSpPr/>
          <p:nvPr/>
        </p:nvSpPr>
        <p:spPr bwMode="auto">
          <a:xfrm>
            <a:off x="6482632" y="3696553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Prometheus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C391F2-A9A2-CE1A-C7D2-D0C8D1D5E82F}"/>
              </a:ext>
            </a:extLst>
          </p:cNvPr>
          <p:cNvSpPr/>
          <p:nvPr/>
        </p:nvSpPr>
        <p:spPr bwMode="auto">
          <a:xfrm>
            <a:off x="9408607" y="3696554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Grafana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97764E4-56E3-68C1-B902-57C3B77073AE}"/>
              </a:ext>
            </a:extLst>
          </p:cNvPr>
          <p:cNvSpPr/>
          <p:nvPr/>
        </p:nvSpPr>
        <p:spPr bwMode="auto">
          <a:xfrm>
            <a:off x="6482631" y="4170572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Jaeger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BCA6A0A-72F1-90B4-F012-85F5DB6C6F57}"/>
              </a:ext>
            </a:extLst>
          </p:cNvPr>
          <p:cNvSpPr/>
          <p:nvPr/>
        </p:nvSpPr>
        <p:spPr bwMode="auto">
          <a:xfrm>
            <a:off x="6482630" y="5062548"/>
            <a:ext cx="2331217" cy="395426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solidFill>
                  <a:schemeClr val="bg1"/>
                </a:solidFill>
              </a:rPr>
              <a:t>Honeycomb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C0D9FBA-20AE-338B-CE9B-AD8764124D80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2600456" y="2777885"/>
            <a:ext cx="463900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7CE0FEB-0E0C-C326-C0EE-CD450B989056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5395573" y="2408350"/>
            <a:ext cx="1087062" cy="369535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53467D8-E06F-10F4-8723-492AAC3247B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5395573" y="2777885"/>
            <a:ext cx="1092199" cy="12601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9EE94AC-8531-591A-F718-268F2FFF34BF}"/>
              </a:ext>
            </a:extLst>
          </p:cNvPr>
          <p:cNvCxnSpPr>
            <a:cxnSpLocks/>
            <a:stCxn id="6" idx="3"/>
            <a:endCxn id="13" idx="1"/>
          </p:cNvCxnSpPr>
          <p:nvPr/>
        </p:nvCxnSpPr>
        <p:spPr>
          <a:xfrm>
            <a:off x="5395573" y="2777885"/>
            <a:ext cx="1087060" cy="62551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4C009D1-D1CB-D718-2AD8-D0ECD147407B}"/>
              </a:ext>
            </a:extLst>
          </p:cNvPr>
          <p:cNvCxnSpPr>
            <a:cxnSpLocks/>
            <a:stCxn id="6" idx="3"/>
            <a:endCxn id="15" idx="1"/>
          </p:cNvCxnSpPr>
          <p:nvPr/>
        </p:nvCxnSpPr>
        <p:spPr>
          <a:xfrm>
            <a:off x="5395573" y="2777885"/>
            <a:ext cx="1087059" cy="111638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225CFDD-4A2A-2AF4-D219-2EB6B6DF03F3}"/>
              </a:ext>
            </a:extLst>
          </p:cNvPr>
          <p:cNvCxnSpPr>
            <a:cxnSpLocks/>
            <a:stCxn id="6" idx="3"/>
            <a:endCxn id="19" idx="1"/>
          </p:cNvCxnSpPr>
          <p:nvPr/>
        </p:nvCxnSpPr>
        <p:spPr>
          <a:xfrm>
            <a:off x="5395573" y="2777885"/>
            <a:ext cx="1087058" cy="15904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7177C14-EF68-3470-0F74-8B3241084902}"/>
              </a:ext>
            </a:extLst>
          </p:cNvPr>
          <p:cNvCxnSpPr>
            <a:cxnSpLocks/>
            <a:stCxn id="6" idx="3"/>
            <a:endCxn id="21" idx="1"/>
          </p:cNvCxnSpPr>
          <p:nvPr/>
        </p:nvCxnSpPr>
        <p:spPr>
          <a:xfrm>
            <a:off x="5395573" y="2777885"/>
            <a:ext cx="1087057" cy="248237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DA80E6E-7525-2451-8BAF-D5AA93EA02C4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8813849" y="3894266"/>
            <a:ext cx="594758" cy="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8030291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1: Telemetry the Easy Way</a:t>
            </a:r>
          </a:p>
        </p:txBody>
      </p:sp>
    </p:spTree>
    <p:extLst>
      <p:ext uri="{BB962C8B-B14F-4D97-AF65-F5344CB8AC3E}">
        <p14:creationId xmlns:p14="http://schemas.microsoft.com/office/powerpoint/2010/main" val="2978234360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</a:t>
            </a:r>
          </a:p>
        </p:txBody>
      </p:sp>
    </p:spTree>
    <p:extLst>
      <p:ext uri="{BB962C8B-B14F-4D97-AF65-F5344CB8AC3E}">
        <p14:creationId xmlns:p14="http://schemas.microsoft.com/office/powerpoint/2010/main" val="2083269779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2756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A.k.a. Structured logging</a:t>
            </a:r>
          </a:p>
          <a:p>
            <a:pPr marL="457200" indent="-457200">
              <a:buFontTx/>
              <a:buChar char="-"/>
            </a:pPr>
            <a:r>
              <a:rPr lang="en-US" dirty="0"/>
              <a:t>A.k.a. Message templates </a:t>
            </a:r>
            <a:r>
              <a:rPr lang="en-US" dirty="0">
                <a:hlinkClick r:id="rId3"/>
              </a:rPr>
              <a:t>https://messagetemplates.org/</a:t>
            </a:r>
            <a:endParaRPr lang="en-US" dirty="0"/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Technically violates 12-factor app: </a:t>
            </a:r>
            <a:r>
              <a:rPr lang="en-US" dirty="0">
                <a:hlinkClick r:id="rId4"/>
              </a:rPr>
              <a:t>https://12factor.net/</a:t>
            </a:r>
            <a:endParaRPr lang="en-US" dirty="0"/>
          </a:p>
        </p:txBody>
      </p:sp>
      <p:pic>
        <p:nvPicPr>
          <p:cNvPr id="2" name="Picture 2" descr="They're more what you'd call guidelines than actual rules - They're more what you'd call guidelines than actual rules  Barbosa Rules">
            <a:extLst>
              <a:ext uri="{FF2B5EF4-FFF2-40B4-BE49-F238E27FC236}">
                <a16:creationId xmlns:a16="http://schemas.microsoft.com/office/drawing/2014/main" id="{0B614A10-DCC2-87C6-C415-34FC9A1BD0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3481160"/>
            <a:ext cx="3048000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632353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Getting a logger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55951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Modern dependency injection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Configure your logger with its backend output(s).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Inject </a:t>
            </a:r>
            <a:r>
              <a:rPr lang="en-US" dirty="0" err="1">
                <a:latin typeface="Consolas" panose="020B0609020204030204" pitchFamily="49" charset="0"/>
              </a:rPr>
              <a:t>ILogger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Note: if you need to dynamically create loggers, inject </a:t>
            </a:r>
            <a:r>
              <a:rPr lang="en-US" dirty="0" err="1">
                <a:latin typeface="Consolas" panose="020B0609020204030204" pitchFamily="49" charset="0"/>
              </a:rPr>
              <a:t>ILoggerFactory</a:t>
            </a:r>
            <a:r>
              <a:rPr lang="en-US" dirty="0"/>
              <a:t>, not </a:t>
            </a:r>
            <a:r>
              <a:rPr lang="en-US" dirty="0" err="1">
                <a:latin typeface="Consolas" panose="020B0609020204030204" pitchFamily="49" charset="0"/>
              </a:rPr>
              <a:t>ILoggerProvider</a:t>
            </a:r>
            <a:r>
              <a:rPr lang="en-US" dirty="0"/>
              <a:t>.</a:t>
            </a:r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ILoggerFactory</a:t>
            </a:r>
            <a:r>
              <a:rPr lang="en-US" dirty="0">
                <a:latin typeface="+mn-lt"/>
              </a:rPr>
              <a:t> is for getting loggers for your components to use.</a:t>
            </a:r>
            <a:endParaRPr lang="en-US" dirty="0"/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ILoggerProvider</a:t>
            </a:r>
            <a:r>
              <a:rPr lang="en-US" dirty="0"/>
              <a:t> is for implementing custom backend outputs.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Tip: </a:t>
            </a:r>
            <a:r>
              <a:rPr lang="en-US" dirty="0" err="1">
                <a:latin typeface="Consolas" panose="020B0609020204030204" pitchFamily="49" charset="0"/>
              </a:rPr>
              <a:t>ILogger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  <a:r>
              <a:rPr lang="en-US" dirty="0"/>
              <a:t> is covariant; you can pass it to base types!</a:t>
            </a:r>
          </a:p>
          <a:p>
            <a:pPr marL="457200" indent="-457200">
              <a:buFontTx/>
              <a:buChar char="-"/>
            </a:pPr>
            <a:r>
              <a:rPr lang="en-US" dirty="0"/>
              <a:t>Everything else: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Configure a logger factory via </a:t>
            </a:r>
            <a:r>
              <a:rPr lang="en-US" dirty="0" err="1">
                <a:latin typeface="Consolas" panose="020B0609020204030204" pitchFamily="49" charset="0"/>
              </a:rPr>
              <a:t>LoggerFactory.Create</a:t>
            </a:r>
            <a:endParaRPr lang="en-US" dirty="0">
              <a:latin typeface="Consolas" panose="020B0609020204030204" pitchFamily="49" charset="0"/>
            </a:endParaRPr>
          </a:p>
          <a:p>
            <a:pPr marL="796926" lvl="1" indent="-457200">
              <a:buFontTx/>
              <a:buChar char="-"/>
            </a:pPr>
            <a:r>
              <a:rPr lang="en-US" dirty="0"/>
              <a:t>Call </a:t>
            </a:r>
            <a:r>
              <a:rPr lang="en-US" dirty="0" err="1">
                <a:latin typeface="Consolas" panose="020B0609020204030204" pitchFamily="49" charset="0"/>
              </a:rPr>
              <a:t>CreateLogger</a:t>
            </a:r>
            <a:r>
              <a:rPr lang="en-US" dirty="0"/>
              <a:t> on the factory.</a:t>
            </a:r>
          </a:p>
        </p:txBody>
      </p:sp>
    </p:spTree>
    <p:extLst>
      <p:ext uri="{BB962C8B-B14F-4D97-AF65-F5344CB8AC3E}">
        <p14:creationId xmlns:p14="http://schemas.microsoft.com/office/powerpoint/2010/main" val="1963768959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Basic Logging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832926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Log with placeholders, like this:</a:t>
            </a:r>
          </a:p>
          <a:p>
            <a:br>
              <a:rPr lang="en-US" sz="2200" dirty="0">
                <a:latin typeface="Consolas" panose="020B0609020204030204" pitchFamily="49" charset="0"/>
              </a:rPr>
            </a:br>
            <a:r>
              <a:rPr lang="en-US" sz="2100" dirty="0">
                <a:latin typeface="Consolas" panose="020B0609020204030204" pitchFamily="49" charset="0"/>
              </a:rPr>
              <a:t>_</a:t>
            </a:r>
            <a:r>
              <a:rPr lang="en-US" sz="2100" dirty="0" err="1">
                <a:latin typeface="Consolas" panose="020B0609020204030204" pitchFamily="49" charset="0"/>
              </a:rPr>
              <a:t>logger.LogInformation</a:t>
            </a:r>
            <a:r>
              <a:rPr lang="en-US" sz="2100" dirty="0">
                <a:latin typeface="Consolas" panose="020B0609020204030204" pitchFamily="49" charset="0"/>
              </a:rPr>
              <a:t>("Forecast result: {temperature}", </a:t>
            </a:r>
            <a:r>
              <a:rPr lang="en-US" sz="2100" dirty="0" err="1">
                <a:latin typeface="Consolas" panose="020B0609020204030204" pitchFamily="49" charset="0"/>
              </a:rPr>
              <a:t>temperatureValue</a:t>
            </a:r>
            <a:r>
              <a:rPr lang="en-US" sz="2100" dirty="0">
                <a:latin typeface="Consolas" panose="020B0609020204030204" pitchFamily="49" charset="0"/>
              </a:rPr>
              <a:t>);</a:t>
            </a:r>
            <a:br>
              <a:rPr lang="en-US" sz="2200" dirty="0">
                <a:latin typeface="Consolas" panose="020B0609020204030204" pitchFamily="49" charset="0"/>
              </a:rPr>
            </a:br>
            <a:endParaRPr lang="en-US" sz="2200" dirty="0">
              <a:latin typeface="Consolas" panose="020B0609020204030204" pitchFamily="49" charset="0"/>
            </a:endParaRPr>
          </a:p>
          <a:p>
            <a:pPr marL="457200" indent="-457200">
              <a:buFontTx/>
              <a:buChar char="-"/>
            </a:pPr>
            <a:r>
              <a:rPr lang="en-US" dirty="0"/>
              <a:t>This is not string interpolation!</a:t>
            </a:r>
          </a:p>
          <a:p>
            <a:pPr marL="457200" indent="-457200">
              <a:buFontTx/>
              <a:buChar char="-"/>
            </a:pPr>
            <a:r>
              <a:rPr lang="en-US" dirty="0"/>
              <a:t>This is not format string arguments!</a:t>
            </a:r>
          </a:p>
          <a:p>
            <a:pPr marL="457200" indent="-457200">
              <a:buFontTx/>
              <a:buChar char="-"/>
            </a:pPr>
            <a:r>
              <a:rPr lang="en-US" dirty="0"/>
              <a:t>This is a message template.</a:t>
            </a:r>
          </a:p>
          <a:p>
            <a:pPr marL="457200" indent="-457200">
              <a:buFontTx/>
              <a:buChar char="-"/>
            </a:pPr>
            <a:r>
              <a:rPr lang="en-US" dirty="0"/>
              <a:t>What actually happens (mostly):</a:t>
            </a:r>
          </a:p>
          <a:p>
            <a:r>
              <a:rPr lang="en-US" sz="3000" dirty="0">
                <a:latin typeface="Consolas" panose="020B0609020204030204" pitchFamily="49" charset="0"/>
              </a:rPr>
              <a:t>{ message: "Forecast result: 13", temperature: 13 }</a:t>
            </a:r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4AEAD1BF-01FE-2EF5-D6BA-D17587790F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34698"/>
          <a:stretch/>
        </p:blipFill>
        <p:spPr bwMode="auto">
          <a:xfrm>
            <a:off x="8360874" y="2571750"/>
            <a:ext cx="3133896" cy="2148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5855290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2: Basic Semantic Logging</a:t>
            </a:r>
          </a:p>
        </p:txBody>
      </p:sp>
    </p:spTree>
    <p:extLst>
      <p:ext uri="{BB962C8B-B14F-4D97-AF65-F5344CB8AC3E}">
        <p14:creationId xmlns:p14="http://schemas.microsoft.com/office/powerpoint/2010/main" val="2037938741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Backend options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383059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Cloud: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Azure Monitor </a:t>
            </a:r>
            <a:r>
              <a:rPr lang="en-US" dirty="0">
                <a:hlinkClick r:id="rId3"/>
              </a:rPr>
              <a:t>https://tinyurl.com/WillAzureMonitorSupportOTLP</a:t>
            </a:r>
            <a:endParaRPr lang="en-US" dirty="0"/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toint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customDimensions</a:t>
            </a:r>
            <a:r>
              <a:rPr lang="en-US" dirty="0">
                <a:latin typeface="Consolas" panose="020B0609020204030204" pitchFamily="49" charset="0"/>
              </a:rPr>
              <a:t>[“temperature"]) &gt; 5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AWS CloudWatch (</a:t>
            </a:r>
            <a:r>
              <a:rPr lang="en-US" dirty="0">
                <a:hlinkClick r:id="rId4"/>
              </a:rPr>
              <a:t>https://tinyurl.com/AWS-OTEL-logs</a:t>
            </a:r>
            <a:r>
              <a:rPr lang="en-US" dirty="0"/>
              <a:t>)</a:t>
            </a:r>
          </a:p>
          <a:p>
            <a:pPr marL="1030290" lvl="2" indent="-457200">
              <a:buFontTx/>
              <a:buChar char="-"/>
            </a:pPr>
            <a:r>
              <a:rPr lang="en-US" dirty="0">
                <a:latin typeface="Consolas" panose="020B0609020204030204" pitchFamily="49" charset="0"/>
              </a:rPr>
              <a:t>temperature &gt; 5      { $.temperature &gt; 5 }</a:t>
            </a:r>
          </a:p>
          <a:p>
            <a:pPr marL="457200" indent="-457200">
              <a:buFontTx/>
              <a:buChar char="-"/>
            </a:pPr>
            <a:r>
              <a:rPr lang="en-US" dirty="0"/>
              <a:t>SaaS: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Honeycomb</a:t>
            </a:r>
          </a:p>
          <a:p>
            <a:pPr marL="796926" lvl="1" indent="-457200">
              <a:buFontTx/>
              <a:buChar char="-"/>
            </a:pPr>
            <a:r>
              <a:rPr lang="en-US" dirty="0" err="1"/>
              <a:t>Graylog</a:t>
            </a:r>
            <a:r>
              <a:rPr lang="en-US" dirty="0"/>
              <a:t> cloud</a:t>
            </a:r>
          </a:p>
          <a:p>
            <a:pPr marL="796926" lvl="1" indent="-457200">
              <a:buFontTx/>
              <a:buChar char="-"/>
            </a:pPr>
            <a:r>
              <a:rPr lang="en-US" dirty="0" err="1"/>
              <a:t>Papertrail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Self-hosted: </a:t>
            </a:r>
            <a:r>
              <a:rPr lang="en-US" dirty="0" err="1"/>
              <a:t>Graylog</a:t>
            </a:r>
            <a:r>
              <a:rPr lang="en-US" dirty="0"/>
              <a:t>, Seq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45E9D6-CE0A-1E25-20B6-6A7AD75242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0026" y="2994873"/>
            <a:ext cx="3882690" cy="2593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9073084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125809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Basic form:</a:t>
            </a:r>
          </a:p>
          <a:p>
            <a:br>
              <a:rPr lang="en-US" sz="2200" dirty="0">
                <a:latin typeface="Consolas" panose="020B0609020204030204" pitchFamily="49" charset="0"/>
              </a:rPr>
            </a:br>
            <a:r>
              <a:rPr lang="en-US" sz="2200" dirty="0">
                <a:latin typeface="Consolas" panose="020B0609020204030204" pitchFamily="49" charset="0"/>
              </a:rPr>
              <a:t>_</a:t>
            </a:r>
            <a:r>
              <a:rPr lang="en-US" sz="2200" dirty="0" err="1">
                <a:latin typeface="Consolas" panose="020B0609020204030204" pitchFamily="49" charset="0"/>
              </a:rPr>
              <a:t>logger.LogInformation</a:t>
            </a:r>
            <a:r>
              <a:rPr lang="en-US" sz="2200" dirty="0">
                <a:latin typeface="Consolas" panose="020B0609020204030204" pitchFamily="49" charset="0"/>
              </a:rPr>
              <a:t>("Forecast result: {temperature}", temperature);</a:t>
            </a:r>
            <a:br>
              <a:rPr lang="en-US" sz="2200" dirty="0">
                <a:latin typeface="Consolas" panose="020B0609020204030204" pitchFamily="49" charset="0"/>
              </a:rPr>
            </a:br>
            <a:endParaRPr lang="en-US" sz="2200" dirty="0">
              <a:latin typeface="Consolas" panose="020B0609020204030204" pitchFamily="49" charset="0"/>
            </a:endParaRPr>
          </a:p>
          <a:p>
            <a:pPr marL="457200" indent="-457200">
              <a:buFontTx/>
              <a:buChar char="-"/>
            </a:pPr>
            <a:r>
              <a:rPr lang="en-US" dirty="0"/>
              <a:t>Performant form:</a:t>
            </a:r>
            <a:endParaRPr lang="en-US" sz="3000" dirty="0">
              <a:latin typeface="Consolas" panose="020B0609020204030204" pitchFamily="49" charset="0"/>
            </a:endParaRPr>
          </a:p>
          <a:p>
            <a:pPr marL="0" marR="0" lvl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/>
            </a:pPr>
            <a:b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</a:b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_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logger.LogTemperature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(temperature);</a:t>
            </a:r>
            <a:b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</a:br>
            <a:b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</a:b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[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LoggerMessage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(Level =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LogLevel.Information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, Message = "Forecast result: {temperature}")]</a:t>
            </a:r>
          </a:p>
          <a:p>
            <a:pPr marL="0" marR="0" lvl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static partial void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LogTemperature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(this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ILogger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 logger, int temperature);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7700196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Scopes!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176109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This is your hero superpower.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Scopes allow you to attach </a:t>
            </a:r>
            <a:r>
              <a:rPr lang="en-US" dirty="0" err="1"/>
              <a:t>name:value</a:t>
            </a:r>
            <a:r>
              <a:rPr lang="en-US" dirty="0"/>
              <a:t> data pairs to all logs within a scope.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19C24E00-923B-F3B0-D9A2-6954644936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1089" y="3074670"/>
            <a:ext cx="3469822" cy="3643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969485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3: Scopes</a:t>
            </a:r>
          </a:p>
        </p:txBody>
      </p:sp>
    </p:spTree>
    <p:extLst>
      <p:ext uri="{BB962C8B-B14F-4D97-AF65-F5344CB8AC3E}">
        <p14:creationId xmlns:p14="http://schemas.microsoft.com/office/powerpoint/2010/main" val="1255695555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 Scopes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474780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The scope type is</a:t>
            </a:r>
            <a:br>
              <a:rPr lang="en-US" dirty="0"/>
            </a:br>
            <a:r>
              <a:rPr lang="en-US" dirty="0" err="1">
                <a:latin typeface="Consolas" panose="020B0609020204030204" pitchFamily="49" charset="0"/>
              </a:rPr>
              <a:t>IEnumerable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 err="1">
                <a:latin typeface="Consolas" panose="020B0609020204030204" pitchFamily="49" charset="0"/>
              </a:rPr>
              <a:t>KeyValuePair</a:t>
            </a:r>
            <a:r>
              <a:rPr lang="en-US" dirty="0">
                <a:latin typeface="Consolas" panose="020B0609020204030204" pitchFamily="49" charset="0"/>
              </a:rPr>
              <a:t>&lt;string, object&gt;&gt;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3"/>
              </a:rPr>
              <a:t>https://tinyurl.com/BeginScope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Tip: helpers are convenient. E.g., </a:t>
            </a:r>
            <a:r>
              <a:rPr lang="en-US" dirty="0">
                <a:hlinkClick r:id="rId4"/>
              </a:rPr>
              <a:t>https://github.com/stephenCleary/Logging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5903675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 Scopes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8120381" cy="5066316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Common pitfall: exception handling scopes.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The scopes in force when the exception is thrown are different than when the exception is logged.</a:t>
            </a:r>
          </a:p>
          <a:p>
            <a:pPr marL="457200" indent="-457200">
              <a:buFontTx/>
              <a:buChar char="-"/>
            </a:pPr>
            <a:r>
              <a:rPr lang="en-US" dirty="0"/>
              <a:t>Workaround: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Capture the scopes when the exception is thrown.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Restore the scopes when the exception is logged.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3"/>
              </a:rPr>
              <a:t>https://github.com/stephenCleary/Logging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Alternative: Seq has a “throw context enricher”.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B1A04AD-005B-36DB-E883-3316A0474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66223" y="865073"/>
            <a:ext cx="3356537" cy="4209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5349702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4: Scopes in the Real World</a:t>
            </a:r>
          </a:p>
        </p:txBody>
      </p:sp>
    </p:spTree>
    <p:extLst>
      <p:ext uri="{BB962C8B-B14F-4D97-AF65-F5344CB8AC3E}">
        <p14:creationId xmlns:p14="http://schemas.microsoft.com/office/powerpoint/2010/main" val="306706287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2D650-641E-A8B0-9D3D-917CA4CB0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</a:t>
            </a:r>
          </a:p>
        </p:txBody>
      </p:sp>
    </p:spTree>
    <p:extLst>
      <p:ext uri="{BB962C8B-B14F-4D97-AF65-F5344CB8AC3E}">
        <p14:creationId xmlns:p14="http://schemas.microsoft.com/office/powerpoint/2010/main" val="1173523492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CBE2A49-41D0-7B4B-DB4B-F5CFD6AEA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Metrics: Things to measure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068E3D-668E-A8C4-7E14-0584ADA20A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728037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Most metrics are counters (Counter or </a:t>
            </a:r>
            <a:r>
              <a:rPr lang="en-US" dirty="0" err="1"/>
              <a:t>UpDownCounter</a:t>
            </a:r>
            <a:r>
              <a:rPr lang="en-US" dirty="0"/>
              <a:t>)</a:t>
            </a:r>
          </a:p>
          <a:p>
            <a:pPr marL="457200" indent="-457200">
              <a:buFontTx/>
              <a:buChar char="-"/>
            </a:pPr>
            <a:r>
              <a:rPr lang="en-US" dirty="0"/>
              <a:t>Gauge (when sums don’t make sense, e.g., percentages)</a:t>
            </a:r>
          </a:p>
          <a:p>
            <a:pPr marL="457200" indent="-457200">
              <a:buFontTx/>
              <a:buChar char="-"/>
            </a:pPr>
            <a:r>
              <a:rPr lang="en-US" dirty="0"/>
              <a:t>Histogram (distributions only)</a:t>
            </a:r>
          </a:p>
        </p:txBody>
      </p:sp>
      <p:pic>
        <p:nvPicPr>
          <p:cNvPr id="5" name="Picture 4" descr="Good Measure | Funny Clips | Mr Bean Official">
            <a:extLst>
              <a:ext uri="{FF2B5EF4-FFF2-40B4-BE49-F238E27FC236}">
                <a16:creationId xmlns:a16="http://schemas.microsoft.com/office/drawing/2014/main" id="{A66A75A1-268C-CF31-02B7-DB3E595B8E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0836" y="2933505"/>
            <a:ext cx="5610328" cy="3155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512039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B1787-5001-9C02-5FF6-B960AD071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6068B-344C-F2A3-25D9-605BB5802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5: Custom Counter Metric</a:t>
            </a:r>
          </a:p>
        </p:txBody>
      </p:sp>
    </p:spTree>
    <p:extLst>
      <p:ext uri="{BB962C8B-B14F-4D97-AF65-F5344CB8AC3E}">
        <p14:creationId xmlns:p14="http://schemas.microsoft.com/office/powerpoint/2010/main" val="2046997055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5409F-9EC3-3F77-2FBD-0B7CB269C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3A232CF-AE47-373D-413B-EA46A95FF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Metrics: A word of warning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9016A8-1C90-F59C-BD51-87CC2263BB2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222573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Metrics have dimensions.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Must be a fixed (and small) number of values!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Stored as one metric </a:t>
            </a:r>
            <a:r>
              <a:rPr lang="en-US" i="1" dirty="0"/>
              <a:t>per unique set of values across all dimensions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This gets expensive, </a:t>
            </a:r>
            <a:r>
              <a:rPr lang="en-US" i="1" dirty="0"/>
              <a:t>fast!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Use tags instead, if possible.</a:t>
            </a:r>
          </a:p>
        </p:txBody>
      </p:sp>
      <p:pic>
        <p:nvPicPr>
          <p:cNvPr id="2" name="Picture 1" descr="Money Burning GIFs | Tenor">
            <a:extLst>
              <a:ext uri="{FF2B5EF4-FFF2-40B4-BE49-F238E27FC236}">
                <a16:creationId xmlns:a16="http://schemas.microsoft.com/office/drawing/2014/main" id="{38B33FA3-F70F-CBBF-A02C-7C8CD71A14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632" y="2801844"/>
            <a:ext cx="3632793" cy="2742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008587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7404E-B4EC-4DC0-1629-1B20E4E31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A210C-4D65-C6A1-58D3-FA6BBD338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Traces</a:t>
            </a:r>
          </a:p>
        </p:txBody>
      </p:sp>
    </p:spTree>
    <p:extLst>
      <p:ext uri="{BB962C8B-B14F-4D97-AF65-F5344CB8AC3E}">
        <p14:creationId xmlns:p14="http://schemas.microsoft.com/office/powerpoint/2010/main" val="1444560797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BBBA-1879-7E65-B873-8423F361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79A729C-6940-2FA2-0A0F-AF5A6DAE0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Traces == Activities == Spans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40023C-B728-568F-C50E-41CE3A8851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2176109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Traces also support tags.</a:t>
            </a:r>
          </a:p>
          <a:p>
            <a:pPr marL="457200" indent="-457200">
              <a:buFontTx/>
              <a:buChar char="-"/>
            </a:pPr>
            <a:r>
              <a:rPr lang="en-US" dirty="0"/>
              <a:t>They can be completed successfully or with error.</a:t>
            </a:r>
          </a:p>
          <a:p>
            <a:pPr marL="457200" indent="-457200">
              <a:buFontTx/>
              <a:buChar char="-"/>
            </a:pPr>
            <a:r>
              <a:rPr lang="en-US" dirty="0"/>
              <a:t>They also have “events” which can happen within the trace, e.g., exceptions.</a:t>
            </a:r>
          </a:p>
        </p:txBody>
      </p:sp>
    </p:spTree>
    <p:extLst>
      <p:ext uri="{BB962C8B-B14F-4D97-AF65-F5344CB8AC3E}">
        <p14:creationId xmlns:p14="http://schemas.microsoft.com/office/powerpoint/2010/main" val="2483157513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3763E-43F5-C6EF-0476-DD37884B0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45074-6122-68AE-B386-2C795E16B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6: Custom Traces</a:t>
            </a:r>
          </a:p>
        </p:txBody>
      </p:sp>
    </p:spTree>
    <p:extLst>
      <p:ext uri="{BB962C8B-B14F-4D97-AF65-F5344CB8AC3E}">
        <p14:creationId xmlns:p14="http://schemas.microsoft.com/office/powerpoint/2010/main" val="3013190429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FDCD124-3099-2089-0DB1-915D878BE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Traces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CA1CD6-1635-FE2A-D45B-214BCF4181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632737"/>
          </a:xfrm>
        </p:spPr>
        <p:txBody>
          <a:bodyPr/>
          <a:lstStyle/>
          <a:p>
            <a:r>
              <a:rPr lang="en-US" dirty="0"/>
              <a:t>Kind: Internal</a:t>
            </a:r>
            <a:r>
              <a:rPr lang="en-US"/>
              <a:t>, Client, Server</a:t>
            </a:r>
          </a:p>
        </p:txBody>
      </p:sp>
    </p:spTree>
    <p:extLst>
      <p:ext uri="{BB962C8B-B14F-4D97-AF65-F5344CB8AC3E}">
        <p14:creationId xmlns:p14="http://schemas.microsoft.com/office/powerpoint/2010/main" val="2813034028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F0FA9-4DDF-9164-78AF-4AE7696D0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5A2C0-FDBA-990F-F7D7-510ECAE06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7: Distributed Traces</a:t>
            </a:r>
          </a:p>
        </p:txBody>
      </p:sp>
    </p:spTree>
    <p:extLst>
      <p:ext uri="{BB962C8B-B14F-4D97-AF65-F5344CB8AC3E}">
        <p14:creationId xmlns:p14="http://schemas.microsoft.com/office/powerpoint/2010/main" val="1759432130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BF229-E76D-15B8-6E38-E38D1B177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1CA4A-099B-9628-304A-D0EEEF8C0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6: Custom Traces</a:t>
            </a:r>
          </a:p>
        </p:txBody>
      </p:sp>
    </p:spTree>
    <p:extLst>
      <p:ext uri="{BB962C8B-B14F-4D97-AF65-F5344CB8AC3E}">
        <p14:creationId xmlns:p14="http://schemas.microsoft.com/office/powerpoint/2010/main" val="104124698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4529" y="1103070"/>
            <a:ext cx="3129100" cy="39817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5930" y="3296644"/>
            <a:ext cx="2912785" cy="470898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pPr>
              <a:lnSpc>
                <a:spcPct val="90000"/>
              </a:lnSpc>
              <a:spcAft>
                <a:spcPts val="450"/>
              </a:spcAft>
            </a:pPr>
            <a:r>
              <a:rPr lang="en-US" i="1" dirty="0">
                <a:solidFill>
                  <a:schemeClr val="bg1"/>
                </a:solidFill>
              </a:rPr>
              <a:t>Go forth and be awesome!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95786" y="5084852"/>
            <a:ext cx="3003707" cy="346249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pPr>
              <a:lnSpc>
                <a:spcPct val="90000"/>
              </a:lnSpc>
              <a:spcAft>
                <a:spcPts val="450"/>
              </a:spcAft>
            </a:pPr>
            <a:r>
              <a:rPr lang="en-US" sz="900" dirty="0">
                <a:solidFill>
                  <a:schemeClr val="bg1"/>
                </a:solidFill>
              </a:rPr>
              <a:t>Image from </a:t>
            </a:r>
            <a:r>
              <a:rPr lang="en-US" sz="900" dirty="0" err="1">
                <a:solidFill>
                  <a:schemeClr val="bg1"/>
                </a:solidFill>
              </a:rPr>
              <a:t>Etsy</a:t>
            </a:r>
            <a:r>
              <a:rPr lang="en-US" sz="900" dirty="0">
                <a:solidFill>
                  <a:schemeClr val="bg1"/>
                </a:solidFill>
              </a:rPr>
              <a:t> user </a:t>
            </a:r>
            <a:r>
              <a:rPr lang="en-US" sz="900" dirty="0" err="1">
                <a:solidFill>
                  <a:schemeClr val="bg1"/>
                </a:solidFill>
              </a:rPr>
              <a:t>Rosewine</a:t>
            </a:r>
            <a:r>
              <a:rPr lang="en-US" sz="900" dirty="0">
                <a:solidFill>
                  <a:schemeClr val="bg1"/>
                </a:solidFill>
              </a:rPr>
              <a:t>; used with permission</a:t>
            </a:r>
          </a:p>
        </p:txBody>
      </p:sp>
    </p:spTree>
    <p:extLst>
      <p:ext uri="{BB962C8B-B14F-4D97-AF65-F5344CB8AC3E}">
        <p14:creationId xmlns:p14="http://schemas.microsoft.com/office/powerpoint/2010/main" val="3243594767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19768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Distributed tracing (including across queues):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3"/>
              </a:rPr>
              <a:t>https://tinyurl.com/OTEL-RabbitMQ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Pitfall: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Know your backend (e.g., </a:t>
            </a:r>
            <a:r>
              <a:rPr lang="en-US" dirty="0" err="1"/>
              <a:t>Graylog’s</a:t>
            </a:r>
            <a:r>
              <a:rPr lang="en-US" dirty="0"/>
              <a:t> </a:t>
            </a:r>
            <a:r>
              <a:rPr lang="en-US" dirty="0" err="1"/>
              <a:t>ElasticSearch</a:t>
            </a:r>
            <a:r>
              <a:rPr lang="en-US" dirty="0"/>
              <a:t> index typing)</a:t>
            </a:r>
          </a:p>
        </p:txBody>
      </p:sp>
    </p:spTree>
    <p:extLst>
      <p:ext uri="{BB962C8B-B14F-4D97-AF65-F5344CB8AC3E}">
        <p14:creationId xmlns:p14="http://schemas.microsoft.com/office/powerpoint/2010/main" val="3482452174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Theme1">
  <a:themeElements>
    <a:clrScheme name="Custom 1">
      <a:dk1>
        <a:srgbClr val="000000"/>
      </a:dk1>
      <a:lt1>
        <a:srgbClr val="FFFFFF"/>
      </a:lt1>
      <a:dk2>
        <a:srgbClr val="26539C"/>
      </a:dk2>
      <a:lt2>
        <a:srgbClr val="B8E9FA"/>
      </a:lt2>
      <a:accent1>
        <a:srgbClr val="176F4E"/>
      </a:accent1>
      <a:accent2>
        <a:srgbClr val="F04848"/>
      </a:accent2>
      <a:accent3>
        <a:srgbClr val="603C1B"/>
      </a:accent3>
      <a:accent4>
        <a:srgbClr val="109A78"/>
      </a:accent4>
      <a:accent5>
        <a:srgbClr val="FCE470"/>
      </a:accent5>
      <a:accent6>
        <a:srgbClr val="70BC82"/>
      </a:accent6>
      <a:hlink>
        <a:srgbClr val="F04848"/>
      </a:hlink>
      <a:folHlink>
        <a:srgbClr val="F04848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eme1" id="{3A1D99AA-2C26-4EE3-9549-072F209D0352}" vid="{CC9ED212-E232-4257-BD79-C2D0F5FD60E9}"/>
    </a:ext>
  </a:extLst>
</a:theme>
</file>

<file path=ppt/theme/theme2.xml><?xml version="1.0" encoding="utf-8"?>
<a:theme xmlns:a="http://schemas.openxmlformats.org/drawingml/2006/main" name="2023 ThatConf Landscape">
  <a:themeElements>
    <a:clrScheme name="Custom 1">
      <a:dk1>
        <a:srgbClr val="000000"/>
      </a:dk1>
      <a:lt1>
        <a:srgbClr val="FFFFFF"/>
      </a:lt1>
      <a:dk2>
        <a:srgbClr val="26539C"/>
      </a:dk2>
      <a:lt2>
        <a:srgbClr val="B8E9FA"/>
      </a:lt2>
      <a:accent1>
        <a:srgbClr val="176F4E"/>
      </a:accent1>
      <a:accent2>
        <a:srgbClr val="F04848"/>
      </a:accent2>
      <a:accent3>
        <a:srgbClr val="603C1B"/>
      </a:accent3>
      <a:accent4>
        <a:srgbClr val="109A78"/>
      </a:accent4>
      <a:accent5>
        <a:srgbClr val="FCE470"/>
      </a:accent5>
      <a:accent6>
        <a:srgbClr val="70BC82"/>
      </a:accent6>
      <a:hlink>
        <a:srgbClr val="F04848"/>
      </a:hlink>
      <a:folHlink>
        <a:srgbClr val="F04848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" id="{AC9B6D51-8BBA-4D25-816B-B1B284F1984B}" vid="{5CB1449E-9144-40FE-A958-E686E7966457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Microsoft</Template>
  <TotalTime>25530</TotalTime>
  <Words>1013</Words>
  <Application>Microsoft Office PowerPoint</Application>
  <PresentationFormat>Widescreen</PresentationFormat>
  <Paragraphs>178</Paragraphs>
  <Slides>35</Slides>
  <Notes>26</Notes>
  <HiddenSlides>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Arial</vt:lpstr>
      <vt:lpstr>Calibri</vt:lpstr>
      <vt:lpstr>Consolas</vt:lpstr>
      <vt:lpstr>Segoe UI</vt:lpstr>
      <vt:lpstr>Segoe UI Light</vt:lpstr>
      <vt:lpstr>Wingdings</vt:lpstr>
      <vt:lpstr>Theme1</vt:lpstr>
      <vt:lpstr>2023 ThatConf Landscape</vt:lpstr>
      <vt:lpstr>.NET Telemetry in the Real World</vt:lpstr>
      <vt:lpstr>Who is this guy?</vt:lpstr>
      <vt:lpstr>PowerPoint Presentation</vt:lpstr>
      <vt:lpstr>Telemetry</vt:lpstr>
      <vt:lpstr>Telemetry Terminology</vt:lpstr>
      <vt:lpstr>Telemetry Terminology</vt:lpstr>
      <vt:lpstr>Telemetry History: Metrics</vt:lpstr>
      <vt:lpstr>Telemetry History: Traces</vt:lpstr>
      <vt:lpstr>Telemetry History: Logs</vt:lpstr>
      <vt:lpstr>Demo: Local Telemetry</vt:lpstr>
      <vt:lpstr>Demo 1: Telemetry the Easy Way</vt:lpstr>
      <vt:lpstr>Semantic Logging</vt:lpstr>
      <vt:lpstr>Semantic logging</vt:lpstr>
      <vt:lpstr>Semantic Logging: Getting a logger</vt:lpstr>
      <vt:lpstr>Semantic Logging: Basic Logging</vt:lpstr>
      <vt:lpstr>Demo 2: Basic Semantic Logging</vt:lpstr>
      <vt:lpstr>Semantic Logging: Backend options</vt:lpstr>
      <vt:lpstr>Semantic Logging: Performance</vt:lpstr>
      <vt:lpstr>Semantic Logging: Scopes!</vt:lpstr>
      <vt:lpstr>Demo 3: Scopes</vt:lpstr>
      <vt:lpstr>Semantic Logging Scopes</vt:lpstr>
      <vt:lpstr>Semantic Logging Scopes</vt:lpstr>
      <vt:lpstr>Demo 4: Scopes in the Real World</vt:lpstr>
      <vt:lpstr>Metrics</vt:lpstr>
      <vt:lpstr>Metrics: Things to measure</vt:lpstr>
      <vt:lpstr>Demo 5: Custom Counter Metric</vt:lpstr>
      <vt:lpstr>Metrics: A word of warning</vt:lpstr>
      <vt:lpstr>Traces</vt:lpstr>
      <vt:lpstr>Traces == Activities == Spans</vt:lpstr>
      <vt:lpstr>Demo 6: Custom Traces</vt:lpstr>
      <vt:lpstr>Distributed Traces</vt:lpstr>
      <vt:lpstr>Demo 7: Distributed Traces</vt:lpstr>
      <vt:lpstr>Demo 6: Custom Traces</vt:lpstr>
      <vt:lpstr>Q&amp;A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Async</dc:title>
  <dc:creator>Stephen Cleary</dc:creator>
  <cp:lastModifiedBy>Stephen Cleary</cp:lastModifiedBy>
  <cp:revision>448</cp:revision>
  <dcterms:created xsi:type="dcterms:W3CDTF">2013-02-28T01:41:02Z</dcterms:created>
  <dcterms:modified xsi:type="dcterms:W3CDTF">2026-09-12T03:36:33Z</dcterms:modified>
</cp:coreProperties>
</file>