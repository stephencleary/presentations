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  <p:sldMasterId id="2147483723" r:id="rId3"/>
  </p:sldMasterIdLst>
  <p:notesMasterIdLst>
    <p:notesMasterId r:id="rId38"/>
  </p:notesMasterIdLst>
  <p:sldIdLst>
    <p:sldId id="256" r:id="rId4"/>
    <p:sldId id="258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3" r:id="rId20"/>
    <p:sldId id="427" r:id="rId21"/>
    <p:sldId id="425" r:id="rId22"/>
    <p:sldId id="428" r:id="rId23"/>
    <p:sldId id="429" r:id="rId24"/>
    <p:sldId id="430" r:id="rId25"/>
    <p:sldId id="431" r:id="rId26"/>
    <p:sldId id="432" r:id="rId27"/>
    <p:sldId id="434" r:id="rId28"/>
    <p:sldId id="433" r:id="rId29"/>
    <p:sldId id="435" r:id="rId30"/>
    <p:sldId id="436" r:id="rId31"/>
    <p:sldId id="439" r:id="rId32"/>
    <p:sldId id="437" r:id="rId33"/>
    <p:sldId id="440" r:id="rId34"/>
    <p:sldId id="438" r:id="rId35"/>
    <p:sldId id="441" r:id="rId36"/>
    <p:sldId id="39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3"/>
            <p14:sldId id="427"/>
            <p14:sldId id="425"/>
            <p14:sldId id="428"/>
            <p14:sldId id="429"/>
            <p14:sldId id="430"/>
            <p14:sldId id="431"/>
            <p14:sldId id="432"/>
            <p14:sldId id="434"/>
            <p14:sldId id="433"/>
            <p14:sldId id="435"/>
            <p14:sldId id="436"/>
            <p14:sldId id="439"/>
            <p14:sldId id="437"/>
            <p14:sldId id="440"/>
            <p14:sldId id="438"/>
            <p14:sldId id="441"/>
            <p14:sldId id="3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presProps" Target="presProp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10/27/2026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Anyone used telemetry already?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Logs, traces, metrics?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of failures)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(compare how Seq combines logs and traces, while Aspire separates them)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(undo failure code before continuing)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(enable </a:t>
            </a:r>
            <a:r>
              <a:rPr lang="en-US" baseline="0" dirty="0" err="1"/>
              <a:t>MySqlConnector</a:t>
            </a:r>
            <a:r>
              <a:rPr lang="en-US" baseline="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9C31-7E7F-F458-7138-E80B21C06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D6CA88-6A5E-9975-F56C-AC7F80365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8BC54C-8385-7109-0FFE-17E08D5AA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Personally, I don’t find custom metrics to be particularly valuable.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6EF2E-6972-D136-8E85-59DC8D2D51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8393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BB4B3-0148-89E0-DF7D-8B3DE1BBD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421BE-7C0A-6F67-284A-F0E72B96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DCA926-0AEF-A780-BFAA-DB7246DE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850E3-94DB-2A7B-A397-0ADE18FA89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5585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5EAFC-E633-F3DF-660C-D6C1FF86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485FC-0791-E125-BA3A-AE0D1448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D4C7E-96B5-6EE9-EB64-F5F005F762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79371-9093-295E-597B-A4D19320B9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5098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15AC-6FF0-1457-9EB0-8A158971D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59B03-F092-0A92-EF40-DC24A6B76E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C877C-950D-4CC6-BF36-25E689E16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7B66D-1EE7-5A7B-4F0C-7F2BEA0B4F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0567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 start adding Telemetry, you’ll end up with way too much.</a:t>
            </a:r>
          </a:p>
          <a:p>
            <a:r>
              <a:rPr lang="en-US" dirty="0"/>
              <a:t>Pay attention to signal and noise, and if anyone is actually using the telemetry you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010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many symbols&#10;&#10;AI-generated content may be incorrect.">
            <a:extLst>
              <a:ext uri="{FF2B5EF4-FFF2-40B4-BE49-F238E27FC236}">
                <a16:creationId xmlns:a16="http://schemas.microsoft.com/office/drawing/2014/main" id="{1902EB1A-F536-DB1A-492A-25707A94E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04"/>
            <a:ext cx="12184741" cy="68540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bg1"/>
                </a:solidFill>
                <a:latin typeface="DS Wallau" panose="02000000000000000000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" name="Picture 9" descr="A logo with a person on a horse&#10;&#10;AI-generated content may be incorrect.">
            <a:extLst>
              <a:ext uri="{FF2B5EF4-FFF2-40B4-BE49-F238E27FC236}">
                <a16:creationId xmlns:a16="http://schemas.microsoft.com/office/drawing/2014/main" id="{1E6685CF-7B29-FD32-9A4B-63C40658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8189" y="669654"/>
            <a:ext cx="4608363" cy="267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8054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DFAE49C3-FD11-96CB-18D5-A42FA61FF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A6140361-A8B9-8C6F-33CB-FD8A62C6E0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31022"/>
            <a:ext cx="9144000" cy="1544692"/>
          </a:xfrm>
        </p:spPr>
        <p:txBody>
          <a:bodyPr anchor="b">
            <a:normAutofit/>
          </a:bodyPr>
          <a:lstStyle>
            <a:lvl1pPr algn="ctr">
              <a:defRPr sz="4899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FDB0775-F5CC-0C4D-08EE-A72A1E00C0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20104"/>
            <a:ext cx="9144000" cy="60953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3" indent="0" algn="ctr">
              <a:buNone/>
              <a:defRPr sz="2000"/>
            </a:lvl2pPr>
            <a:lvl3pPr marL="914406" indent="0" algn="ctr">
              <a:buNone/>
              <a:defRPr sz="1800"/>
            </a:lvl3pPr>
            <a:lvl4pPr marL="1371609" indent="0" algn="ctr">
              <a:buNone/>
              <a:defRPr sz="1600"/>
            </a:lvl4pPr>
            <a:lvl5pPr marL="1828812" indent="0" algn="ctr">
              <a:buNone/>
              <a:defRPr sz="1600"/>
            </a:lvl5pPr>
            <a:lvl6pPr marL="2286015" indent="0" algn="ctr">
              <a:buNone/>
              <a:defRPr sz="1600"/>
            </a:lvl6pPr>
            <a:lvl7pPr marL="2743218" indent="0" algn="ctr">
              <a:buNone/>
              <a:defRPr sz="1600"/>
            </a:lvl7pPr>
            <a:lvl8pPr marL="3200421" indent="0" algn="ctr">
              <a:buNone/>
              <a:defRPr sz="1600"/>
            </a:lvl8pPr>
            <a:lvl9pPr marL="365762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6FA818-26F8-C9FB-E272-FD0948ABE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82" y="904654"/>
            <a:ext cx="3902235" cy="21223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B7E971-29C4-4EB3-3A6A-8F1263D177CA}"/>
              </a:ext>
            </a:extLst>
          </p:cNvPr>
          <p:cNvSpPr txBox="1"/>
          <p:nvPr/>
        </p:nvSpPr>
        <p:spPr>
          <a:xfrm>
            <a:off x="4669147" y="3030220"/>
            <a:ext cx="2920479" cy="371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33" b="1" dirty="0">
                <a:latin typeface="Segoe UI" panose="020B0502040204020203" pitchFamily="34" charset="0"/>
                <a:cs typeface="Segoe UI" panose="020B0502040204020203" pitchFamily="34" charset="0"/>
              </a:rPr>
              <a:t>2026</a:t>
            </a:r>
            <a:r>
              <a:rPr lang="en-US" sz="1814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14" b="1" dirty="0">
                <a:latin typeface="Alegreya Black" pitchFamily="2" charset="0"/>
              </a:rPr>
              <a:t>MEDIEVAL EDITION</a:t>
            </a:r>
          </a:p>
        </p:txBody>
      </p:sp>
    </p:spTree>
    <p:extLst>
      <p:ext uri="{BB962C8B-B14F-4D97-AF65-F5344CB8AC3E}">
        <p14:creationId xmlns:p14="http://schemas.microsoft.com/office/powerpoint/2010/main" val="29839630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9196C838-1DC3-4544-70FA-5F5EBC70C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8962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3649" y="433545"/>
            <a:ext cx="10886542" cy="873680"/>
          </a:xfrm>
        </p:spPr>
        <p:txBody>
          <a:bodyPr>
            <a:normAutofit/>
          </a:bodyPr>
          <a:lstStyle>
            <a:lvl1pPr>
              <a:defRPr sz="3992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648" y="1390172"/>
            <a:ext cx="10886542" cy="46853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7" name="Picture 1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4AAC9E8E-F608-A616-7B95-02FF086E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788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495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01165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3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6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12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1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18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2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2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67C59FF-DA45-72AE-E6C1-C23B16B83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1162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2F15329-9985-5A8C-BBE8-A37A07ED3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100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3" indent="0">
              <a:buNone/>
              <a:defRPr sz="2000" b="1"/>
            </a:lvl2pPr>
            <a:lvl3pPr marL="914406" indent="0">
              <a:buNone/>
              <a:defRPr sz="1800" b="1"/>
            </a:lvl3pPr>
            <a:lvl4pPr marL="1371609" indent="0">
              <a:buNone/>
              <a:defRPr sz="1600" b="1"/>
            </a:lvl4pPr>
            <a:lvl5pPr marL="1828812" indent="0">
              <a:buNone/>
              <a:defRPr sz="1600" b="1"/>
            </a:lvl5pPr>
            <a:lvl6pPr marL="2286015" indent="0">
              <a:buNone/>
              <a:defRPr sz="1600" b="1"/>
            </a:lvl6pPr>
            <a:lvl7pPr marL="2743218" indent="0">
              <a:buNone/>
              <a:defRPr sz="1600" b="1"/>
            </a:lvl7pPr>
            <a:lvl8pPr marL="3200421" indent="0">
              <a:buNone/>
              <a:defRPr sz="1600" b="1"/>
            </a:lvl8pPr>
            <a:lvl9pPr marL="365762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8624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rectangular frame with an orange border&#10;&#10;AI-generated content may be incorrect.">
            <a:extLst>
              <a:ext uri="{FF2B5EF4-FFF2-40B4-BE49-F238E27FC236}">
                <a16:creationId xmlns:a16="http://schemas.microsoft.com/office/drawing/2014/main" id="{4D1255D9-DB33-2965-363C-00F2557C2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" y="0"/>
            <a:ext cx="12191680" cy="6858000"/>
          </a:xfrm>
          <a:prstGeom prst="rect">
            <a:avLst/>
          </a:prstGeom>
        </p:spPr>
      </p:pic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622E7BF1-7CD5-6D5E-D187-C08AAF571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7623" y="6156182"/>
            <a:ext cx="1110038" cy="182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9696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2074" y="471821"/>
            <a:ext cx="11115587" cy="700959"/>
          </a:xfrm>
        </p:spPr>
        <p:txBody>
          <a:bodyPr>
            <a:normAutofit/>
          </a:bodyPr>
          <a:lstStyle>
            <a:lvl1pPr>
              <a:defRPr sz="3266">
                <a:latin typeface="DS Wallau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Picture 2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D509C700-536C-AF8B-34C4-D50DC6E2E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241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29B1098A-3DD4-CD9F-F7AE-B6A37F61E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97392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A41C9F9B-2471-681D-B973-66552767B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3537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3" indent="0">
              <a:buNone/>
              <a:defRPr sz="2800"/>
            </a:lvl2pPr>
            <a:lvl3pPr marL="914406" indent="0">
              <a:buNone/>
              <a:defRPr sz="2400"/>
            </a:lvl3pPr>
            <a:lvl4pPr marL="1371609" indent="0">
              <a:buNone/>
              <a:defRPr sz="2000"/>
            </a:lvl4pPr>
            <a:lvl5pPr marL="1828812" indent="0">
              <a:buNone/>
              <a:defRPr sz="2000"/>
            </a:lvl5pPr>
            <a:lvl6pPr marL="2286015" indent="0">
              <a:buNone/>
              <a:defRPr sz="2000"/>
            </a:lvl6pPr>
            <a:lvl7pPr marL="2743218" indent="0">
              <a:buNone/>
              <a:defRPr sz="2000"/>
            </a:lvl7pPr>
            <a:lvl8pPr marL="3200421" indent="0">
              <a:buNone/>
              <a:defRPr sz="2000"/>
            </a:lvl8pPr>
            <a:lvl9pPr marL="3657624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3" indent="0">
              <a:buNone/>
              <a:defRPr sz="1400"/>
            </a:lvl2pPr>
            <a:lvl3pPr marL="914406" indent="0">
              <a:buNone/>
              <a:defRPr sz="1200"/>
            </a:lvl3pPr>
            <a:lvl4pPr marL="1371609" indent="0">
              <a:buNone/>
              <a:defRPr sz="1000"/>
            </a:lvl4pPr>
            <a:lvl5pPr marL="1828812" indent="0">
              <a:buNone/>
              <a:defRPr sz="1000"/>
            </a:lvl5pPr>
            <a:lvl6pPr marL="2286015" indent="0">
              <a:buNone/>
              <a:defRPr sz="1000"/>
            </a:lvl6pPr>
            <a:lvl7pPr marL="2743218" indent="0">
              <a:buNone/>
              <a:defRPr sz="1000"/>
            </a:lvl7pPr>
            <a:lvl8pPr marL="3200421" indent="0">
              <a:buNone/>
              <a:defRPr sz="1000"/>
            </a:lvl8pPr>
            <a:lvl9pPr marL="3657624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1CF946C4-0F63-472B-26BD-598434F71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16448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FEC22D41-9982-B266-6FD5-5801102B5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2252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 descr="A yellow letter on a white background&#10;&#10;AI-generated content may be incorrect.">
            <a:extLst>
              <a:ext uri="{FF2B5EF4-FFF2-40B4-BE49-F238E27FC236}">
                <a16:creationId xmlns:a16="http://schemas.microsoft.com/office/drawing/2014/main" id="{E83D6C74-A258-C7FA-C654-49C7EA25B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4398" y="6494905"/>
            <a:ext cx="1110038" cy="18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3274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958969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3249472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020400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2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0630" y="202940"/>
            <a:ext cx="11465999" cy="8736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0630" y="1224770"/>
            <a:ext cx="11465999" cy="50224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black and white image of a person riding a horse&#10;&#10;AI-generated content may be incorrect.">
            <a:extLst>
              <a:ext uri="{FF2B5EF4-FFF2-40B4-BE49-F238E27FC236}">
                <a16:creationId xmlns:a16="http://schemas.microsoft.com/office/drawing/2014/main" id="{1F8EBD09-8409-063F-2700-C2712DDAD6B1}"/>
              </a:ext>
            </a:extLst>
          </p:cNvPr>
          <p:cNvPicPr>
            <a:picLocks noChangeAspect="1"/>
          </p:cNvPicPr>
          <p:nvPr/>
        </p:nvPicPr>
        <p:blipFill>
          <a:blip r:embed="rId19">
            <a:alphaModFix amt="20000"/>
          </a:blip>
          <a:stretch>
            <a:fillRect/>
          </a:stretch>
        </p:blipFill>
        <p:spPr>
          <a:xfrm>
            <a:off x="6865270" y="107649"/>
            <a:ext cx="5326730" cy="68583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FA4438-2DFD-8FC3-E0EB-D83E423A54FA}"/>
              </a:ext>
            </a:extLst>
          </p:cNvPr>
          <p:cNvSpPr txBox="1"/>
          <p:nvPr userDrawn="1"/>
        </p:nvSpPr>
        <p:spPr>
          <a:xfrm>
            <a:off x="7629" y="5978731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84877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41" r:id="rId17"/>
  </p:sldLayoutIdLst>
  <p:transition>
    <p:fade/>
  </p:transition>
  <p:txStyles>
    <p:titleStyle>
      <a:lvl1pPr algn="l" defTabSz="914406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DS Wallau" panose="02000000000000000000" pitchFamily="2" charset="0"/>
          <a:ea typeface="+mj-ea"/>
          <a:cs typeface="+mj-cs"/>
        </a:defRPr>
      </a:lvl1pPr>
    </p:titleStyle>
    <p:bodyStyle>
      <a:lvl1pPr marL="228602" indent="-228602" algn="l" defTabSz="91440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1pPr>
      <a:lvl2pPr marL="685804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2pPr>
      <a:lvl3pPr marL="1143008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3pPr>
      <a:lvl4pPr marL="1600210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4pPr>
      <a:lvl5pPr marL="205741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legreya Medium" pitchFamily="2" charset="0"/>
          <a:ea typeface="+mn-ea"/>
          <a:cs typeface="+mn-cs"/>
        </a:defRPr>
      </a:lvl5pPr>
      <a:lvl6pPr marL="2514617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9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23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25" indent="-228602" algn="l" defTabSz="91440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3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6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9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12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15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8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21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24" algn="l" defTabSz="9144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6.jpeg"/><Relationship Id="rId4" Type="http://schemas.openxmlformats.org/officeDocument/2006/relationships/hyperlink" Target="https://12factor.net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8.jpeg"/><Relationship Id="rId4" Type="http://schemas.openxmlformats.org/officeDocument/2006/relationships/hyperlink" Target="https://tinyurl.com/AWS-OTEL-log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Relationship Id="rId4" Type="http://schemas.openxmlformats.org/officeDocument/2006/relationships/hyperlink" Target="https://github.com/stephenCleary/Logging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9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OTEL-RabbitMQ" TargetMode="External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spnet/core/fundamentals/logging/?view=aspnetcore-10.0&amp;WT.mc_id=DT-MVP-5000058#apply-log-filter-rules-in-code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4.jpg"/><Relationship Id="rId5" Type="http://schemas.openxmlformats.org/officeDocument/2006/relationships/hyperlink" Target="https://www.honeycomb.io/blog/bringing-most-advanced-sampling-opentelemetry-collector" TargetMode="External"/><Relationship Id="rId4" Type="http://schemas.openxmlformats.org/officeDocument/2006/relationships/hyperlink" Target="https://learn.microsoft.com/en-us/dotnet/core/diagnostics/distributed-tracing-concepts?WT.mc_id=DT-MVP-5000058#sampling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.NET Telemetry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in the Real World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</a:t>
            </a:r>
            <a:br>
              <a:rPr lang="en-US" dirty="0"/>
            </a:br>
            <a:r>
              <a:rPr lang="en-US" dirty="0"/>
              <a:t>Think waterfall diagrams or Start/Stop events.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</a:t>
            </a:r>
            <a:br>
              <a:rPr lang="en-US" dirty="0"/>
            </a:br>
            <a:r>
              <a:rPr lang="en-US" dirty="0"/>
              <a:t>Think Prometheus/Grafana dashboards.</a:t>
            </a:r>
          </a:p>
          <a:p>
            <a:pPr marL="0" indent="0">
              <a:buNone/>
            </a:pPr>
            <a:endParaRPr lang="en-US" i="1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658126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72074" y="1196975"/>
            <a:ext cx="11080176" cy="633413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552268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301760" y="5125563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883485" y="2777885"/>
            <a:ext cx="180871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906187" cy="254539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52F6963-DD6C-E386-1403-892B183A1647}"/>
              </a:ext>
            </a:extLst>
          </p:cNvPr>
          <p:cNvSpPr/>
          <p:nvPr/>
        </p:nvSpPr>
        <p:spPr bwMode="auto">
          <a:xfrm>
            <a:off x="6301759" y="4661443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Azure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20B3ED-6B96-D462-B140-C596969A6095}"/>
              </a:ext>
            </a:extLst>
          </p:cNvPr>
          <p:cNvSpPr/>
          <p:nvPr/>
        </p:nvSpPr>
        <p:spPr bwMode="auto">
          <a:xfrm>
            <a:off x="6301758" y="5606062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tx1"/>
                </a:solidFill>
              </a:rPr>
              <a:t>AWS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D75C84-2D91-5047-987B-2D9F8292CDC4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395573" y="2777885"/>
            <a:ext cx="906186" cy="208127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7F0B89C-3D30-700B-81A2-E78C10B4D597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5395573" y="2777885"/>
            <a:ext cx="906185" cy="302589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697230" y="1196975"/>
            <a:ext cx="10955020" cy="483393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pPr marL="0" indent="0">
              <a:buNone/>
            </a:pPr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100" dirty="0">
                <a:latin typeface="Consolas" panose="020B0609020204030204" pitchFamily="49" charset="0"/>
              </a:rPr>
              <a:t>_</a:t>
            </a:r>
            <a:r>
              <a:rPr lang="en-US" sz="2100" dirty="0" err="1">
                <a:latin typeface="Consolas" panose="020B0609020204030204" pitchFamily="49" charset="0"/>
              </a:rPr>
              <a:t>logger.LogInformation</a:t>
            </a:r>
            <a:r>
              <a:rPr lang="en-US" sz="2100" dirty="0">
                <a:latin typeface="Consolas" panose="020B0609020204030204" pitchFamily="49" charset="0"/>
              </a:rPr>
              <a:t>("Forecast result: {temperature}", </a:t>
            </a:r>
            <a:r>
              <a:rPr lang="en-US" sz="2100" dirty="0" err="1">
                <a:latin typeface="Consolas" panose="020B0609020204030204" pitchFamily="49" charset="0"/>
              </a:rPr>
              <a:t>temperatureValue</a:t>
            </a:r>
            <a:r>
              <a:rPr lang="en-US" sz="2100" dirty="0">
                <a:latin typeface="Consolas" panose="020B0609020204030204" pitchFamily="49" charset="0"/>
              </a:rPr>
              <a:t>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pPr marL="0" indent="0">
              <a:buNone/>
            </a:pPr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4294967295"/>
          </p:nvPr>
        </p:nvSpPr>
        <p:spPr>
          <a:xfrm>
            <a:off x="536662" y="1196975"/>
            <a:ext cx="11115587" cy="4383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toint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customDimensions</a:t>
            </a:r>
            <a:r>
              <a:rPr lang="en-US" dirty="0">
                <a:latin typeface="Consolas" panose="020B0609020204030204" pitchFamily="49" charset="0"/>
              </a:rPr>
              <a:t>["temperature"]) &gt; 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>
                <a:latin typeface="Consolas" panose="020B0609020204030204" pitchFamily="49" charset="0"/>
              </a:rPr>
              <a:t>temperature &gt; 5      { $.temperature &gt; 5 }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 </a:t>
            </a: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0268" y="3225985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6152" y="3034602"/>
            <a:ext cx="2761533" cy="2899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</a:t>
            </a:r>
            <a:br>
              <a:rPr lang="en-US" dirty="0"/>
            </a:br>
            <a:r>
              <a:rPr lang="en-US" dirty="0"/>
              <a:t>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</a:t>
            </a:r>
            <a:br>
              <a:rPr lang="en-US" dirty="0"/>
            </a:br>
            <a:r>
              <a:rPr lang="en-US" dirty="0"/>
              <a:t>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2D650-641E-A8B0-9D3D-917CA4CB0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</a:p>
        </p:txBody>
      </p:sp>
    </p:spTree>
    <p:extLst>
      <p:ext uri="{BB962C8B-B14F-4D97-AF65-F5344CB8AC3E}">
        <p14:creationId xmlns:p14="http://schemas.microsoft.com/office/powerpoint/2010/main" val="117352349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CBE2A49-41D0-7B4B-DB4B-F5CFD6AEA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Things to measure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068E3D-668E-A8C4-7E14-0584ADA20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Most metrics are counters (Counter or </a:t>
            </a:r>
            <a:r>
              <a:rPr lang="en-US" dirty="0" err="1"/>
              <a:t>UpDownCounter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Gauge (when sums don’t make sense, e.g., percentages)</a:t>
            </a:r>
          </a:p>
          <a:p>
            <a:pPr marL="457200" indent="-457200">
              <a:buFontTx/>
              <a:buChar char="-"/>
            </a:pPr>
            <a:r>
              <a:rPr lang="en-US" dirty="0"/>
              <a:t>Histogram (distributions only)</a:t>
            </a:r>
          </a:p>
        </p:txBody>
      </p:sp>
      <p:pic>
        <p:nvPicPr>
          <p:cNvPr id="5" name="Picture 4" descr="Good Measure | Funny Clips | Mr Bean Official">
            <a:extLst>
              <a:ext uri="{FF2B5EF4-FFF2-40B4-BE49-F238E27FC236}">
                <a16:creationId xmlns:a16="http://schemas.microsoft.com/office/drawing/2014/main" id="{A66A75A1-268C-CF31-02B7-DB3E595B8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836" y="2933505"/>
            <a:ext cx="5610328" cy="315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2039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B1787-5001-9C02-5FF6-B960AD071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068B-344C-F2A3-25D9-605BB5802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5: Custom Counter Metric</a:t>
            </a:r>
          </a:p>
        </p:txBody>
      </p:sp>
    </p:spTree>
    <p:extLst>
      <p:ext uri="{BB962C8B-B14F-4D97-AF65-F5344CB8AC3E}">
        <p14:creationId xmlns:p14="http://schemas.microsoft.com/office/powerpoint/2010/main" val="204699705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409F-9EC3-3F77-2FBD-0B7CB269C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3A232CF-AE47-373D-413B-EA46A95F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Metrics: A word of warning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016A8-1C90-F59C-BD51-87CC2263B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Metrics have dimensions.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Must be a fixed (and small) number of values!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Stored as one metric </a:t>
            </a:r>
            <a:r>
              <a:rPr lang="en-US" i="1" dirty="0"/>
              <a:t>per unique set of values across all dimensions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This gets expensive, </a:t>
            </a:r>
            <a:r>
              <a:rPr lang="en-US" i="1" dirty="0"/>
              <a:t>fast!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Cardinality: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Hat sales: 3 sizes, 5 colors = </a:t>
            </a:r>
            <a:r>
              <a:rPr lang="en-US" b="1" dirty="0"/>
              <a:t>15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Use tags instead, if possible.</a:t>
            </a:r>
          </a:p>
        </p:txBody>
      </p:sp>
      <p:pic>
        <p:nvPicPr>
          <p:cNvPr id="2" name="Picture 1" descr="Money Burning GIFs | Tenor">
            <a:extLst>
              <a:ext uri="{FF2B5EF4-FFF2-40B4-BE49-F238E27FC236}">
                <a16:creationId xmlns:a16="http://schemas.microsoft.com/office/drawing/2014/main" id="{38B33FA3-F70F-CBBF-A02C-7C8CD71A1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821" y="2982714"/>
            <a:ext cx="3632793" cy="274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008587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404E-B4EC-4DC0-1629-1B20E4E3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210C-4D65-C6A1-58D3-FA6BBD33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</a:t>
            </a:r>
          </a:p>
        </p:txBody>
      </p:sp>
    </p:spTree>
    <p:extLst>
      <p:ext uri="{BB962C8B-B14F-4D97-AF65-F5344CB8AC3E}">
        <p14:creationId xmlns:p14="http://schemas.microsoft.com/office/powerpoint/2010/main" val="1444560797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BBBA-1879-7E65-B873-8423F361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79A729C-6940-2FA2-0A0F-AF5A6DAE0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Traces == Activities == Spans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40023C-B728-568F-C50E-41CE3A885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Traces also support tags.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can be completed successfully or with error.</a:t>
            </a:r>
          </a:p>
          <a:p>
            <a:pPr marL="457200" indent="-457200">
              <a:buFontTx/>
              <a:buChar char="-"/>
            </a:pPr>
            <a:r>
              <a:rPr lang="en-US" dirty="0"/>
              <a:t>They also have “events” which can happen within the trace, e.g., exceptions.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8AA788-40D3-6B3B-59F9-79C8BEC928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915" y="3265714"/>
            <a:ext cx="3792169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157513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763E-43F5-C6EF-0476-DD37884B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45074-6122-68AE-B386-2C795E16B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6: Custom Traces</a:t>
            </a:r>
          </a:p>
        </p:txBody>
      </p:sp>
    </p:spTree>
    <p:extLst>
      <p:ext uri="{BB962C8B-B14F-4D97-AF65-F5344CB8AC3E}">
        <p14:creationId xmlns:p14="http://schemas.microsoft.com/office/powerpoint/2010/main" val="301319042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DCD124-3099-2089-0DB1-915D878BE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CA1CD6-1635-FE2A-D45B-214BCF418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Kind: Internal, </a:t>
            </a:r>
            <a:r>
              <a:rPr lang="en-US" b="1" dirty="0"/>
              <a:t>Client, Server</a:t>
            </a:r>
            <a:endParaRPr lang="en-US" dirty="0"/>
          </a:p>
          <a:p>
            <a:endParaRPr lang="en-US" dirty="0"/>
          </a:p>
          <a:p>
            <a:r>
              <a:rPr lang="en-US" dirty="0"/>
              <a:t>Mostly automatic if you’re on .NET Core (ASP.NET Core + </a:t>
            </a:r>
            <a:r>
              <a:rPr lang="en-US" dirty="0" err="1"/>
              <a:t>HttpClient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Library support varies; </a:t>
            </a:r>
            <a:r>
              <a:rPr lang="en-US" dirty="0" err="1"/>
              <a:t>MySqlConnector</a:t>
            </a:r>
            <a:r>
              <a:rPr lang="en-US" dirty="0"/>
              <a:t> is great, SQLite needed help.</a:t>
            </a:r>
          </a:p>
        </p:txBody>
      </p:sp>
    </p:spTree>
    <p:extLst>
      <p:ext uri="{BB962C8B-B14F-4D97-AF65-F5344CB8AC3E}">
        <p14:creationId xmlns:p14="http://schemas.microsoft.com/office/powerpoint/2010/main" val="281303402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0FA9-4DDF-9164-78AF-4AE7696D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5A2C0-FDBA-990F-F7D7-510ECAE06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7: Distributed Traces</a:t>
            </a:r>
          </a:p>
        </p:txBody>
      </p:sp>
    </p:spTree>
    <p:extLst>
      <p:ext uri="{BB962C8B-B14F-4D97-AF65-F5344CB8AC3E}">
        <p14:creationId xmlns:p14="http://schemas.microsoft.com/office/powerpoint/2010/main" val="175943213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EF492-13D8-EFEF-8BB8-C3FA3B4C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B9F91E4-E71A-499B-8DC1-3D8A08F46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Distributed Traces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9BF913-0DAA-AA9A-730D-6A8B2D046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Kind: Internal, Client, Server, </a:t>
            </a:r>
            <a:r>
              <a:rPr lang="en-US" b="1" dirty="0"/>
              <a:t>Producer, Consumer</a:t>
            </a:r>
          </a:p>
          <a:p>
            <a:endParaRPr lang="en-US" dirty="0"/>
          </a:p>
          <a:p>
            <a:r>
              <a:rPr lang="en-US" dirty="0"/>
              <a:t>Currently: little automatic support (RabbitMQ does it; AWS/Azure SDKs not so much).</a:t>
            </a:r>
          </a:p>
          <a:p>
            <a:pPr lvl="1"/>
            <a:r>
              <a:rPr lang="en-US" dirty="0"/>
              <a:t>Official sample code: </a:t>
            </a:r>
            <a:r>
              <a:rPr lang="en-US" dirty="0">
                <a:hlinkClick r:id="rId2"/>
              </a:rPr>
              <a:t>https://tinyurl.com/OTEL-RabbitMQ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Propagation API is odd because it can be used with: HTTP headers, queue message metadata, arbitrary dictionaries.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/>
              <a:t>E.g., child process using serialized JSON.</a:t>
            </a:r>
          </a:p>
          <a:p>
            <a:pPr marL="796926" lvl="1" indent="-457200">
              <a:buFont typeface="Arial" panose="020B0604020202020204" pitchFamily="34" charset="0"/>
              <a:buChar char="•"/>
            </a:pPr>
            <a:r>
              <a:rPr lang="en-US" dirty="0" err="1"/>
              <a:t>HttpClient</a:t>
            </a:r>
            <a:r>
              <a:rPr lang="en-US" dirty="0"/>
              <a:t> &amp; ASP.NET Core use propagation for their Client/Server traces.</a:t>
            </a:r>
          </a:p>
        </p:txBody>
      </p:sp>
    </p:spTree>
    <p:extLst>
      <p:ext uri="{BB962C8B-B14F-4D97-AF65-F5344CB8AC3E}">
        <p14:creationId xmlns:p14="http://schemas.microsoft.com/office/powerpoint/2010/main" val="87806506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F229-E76D-15B8-6E38-E38D1B17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1CA4A-099B-9628-304A-D0EEEF8C0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Demo 8: Asynchronous Distributed Traces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FE20B9-88C1-DF28-CB83-C7FE6B4E0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924" y="3294603"/>
            <a:ext cx="3479660" cy="22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24698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2F8367F-AB1D-375E-EDD7-94DF4F9EA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Notes: Reducing Noise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E147-2E0E-F80A-00E7-95B2EB7A4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Logging: </a:t>
            </a:r>
            <a:r>
              <a:rPr lang="en-US" dirty="0">
                <a:hlinkClick r:id="rId3"/>
              </a:rPr>
              <a:t>filters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Traces: </a:t>
            </a:r>
            <a:r>
              <a:rPr lang="en-US" dirty="0">
                <a:hlinkClick r:id="rId4"/>
              </a:rPr>
              <a:t>sampling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Metrics: only turn on what you need (e.g., alerts)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Consider running OTEL Collector; it can filter and transform!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5"/>
              </a:rPr>
              <a:t>Adaptive tail sampling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OTLP on-the-wire format to S3 for cold storage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Sampling on data sent to dashboards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Drop metrics not necessary for real-time alerting/dashboards</a:t>
            </a:r>
          </a:p>
        </p:txBody>
      </p:sp>
      <p:pic>
        <p:nvPicPr>
          <p:cNvPr id="5" name="Picture 4" descr="Drinking from the firehose Meme Generator - Imgflip">
            <a:extLst>
              <a:ext uri="{FF2B5EF4-FFF2-40B4-BE49-F238E27FC236}">
                <a16:creationId xmlns:a16="http://schemas.microsoft.com/office/drawing/2014/main" id="{7976156F-F090-895E-FEEF-96C8E832AA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6803" y="536751"/>
            <a:ext cx="3095625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4595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8396" y="5719530"/>
            <a:ext cx="1666803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Slides &amp;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753E0A-068A-E2EB-175D-6DCC4564FF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7499" y="1173929"/>
            <a:ext cx="4245429" cy="42454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06F4E2-10F6-04AD-6BFD-0B49A5E86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5930" y="3944764"/>
            <a:ext cx="1691736" cy="16917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885C3B-5D76-13F8-520A-A16876C17CDE}"/>
              </a:ext>
            </a:extLst>
          </p:cNvPr>
          <p:cNvSpPr txBox="1"/>
          <p:nvPr/>
        </p:nvSpPr>
        <p:spPr>
          <a:xfrm>
            <a:off x="8420264" y="5483279"/>
            <a:ext cx="1259897" cy="472502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Feedback</a:t>
            </a:r>
          </a:p>
        </p:txBody>
      </p:sp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Techorama 2026 Templat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7" id="{F25F3079-1AB4-224B-B687-C8B3492E77B3}" vid="{08E19B72-3914-E242-9C54-738B4A7D24DF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25796</TotalTime>
  <Words>1135</Words>
  <Application>Microsoft Office PowerPoint</Application>
  <PresentationFormat>Widescreen</PresentationFormat>
  <Paragraphs>196</Paragraphs>
  <Slides>34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Alegreya Black</vt:lpstr>
      <vt:lpstr>Alegreya Medium</vt:lpstr>
      <vt:lpstr>Aptos</vt:lpstr>
      <vt:lpstr>Arial</vt:lpstr>
      <vt:lpstr>Calibri</vt:lpstr>
      <vt:lpstr>Consolas</vt:lpstr>
      <vt:lpstr>DS Wallau</vt:lpstr>
      <vt:lpstr>Segoe UI</vt:lpstr>
      <vt:lpstr>Segoe UI Light</vt:lpstr>
      <vt:lpstr>Wingdings</vt:lpstr>
      <vt:lpstr>Theme1</vt:lpstr>
      <vt:lpstr>2023 ThatConf Landscape</vt:lpstr>
      <vt:lpstr>Techorama 2026 Template</vt:lpstr>
      <vt:lpstr>.NET Telemetry in the Real World</vt:lpstr>
      <vt:lpstr>Who is this guy?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Metrics</vt:lpstr>
      <vt:lpstr>Metrics: Things to measure</vt:lpstr>
      <vt:lpstr>Demo 5: Custom Counter Metric</vt:lpstr>
      <vt:lpstr>Metrics: A word of warning</vt:lpstr>
      <vt:lpstr>Traces</vt:lpstr>
      <vt:lpstr>Traces == Activities == Spans</vt:lpstr>
      <vt:lpstr>Demo 6: Custom Traces</vt:lpstr>
      <vt:lpstr>Distributed Traces</vt:lpstr>
      <vt:lpstr>Demo 7: Distributed Traces</vt:lpstr>
      <vt:lpstr>Asynchronous Distributed Traces</vt:lpstr>
      <vt:lpstr>Demo 8: Asynchronous Distributed Traces</vt:lpstr>
      <vt:lpstr>Final Notes: Reducing Noise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</cp:lastModifiedBy>
  <cp:revision>464</cp:revision>
  <dcterms:created xsi:type="dcterms:W3CDTF">2013-02-28T01:41:02Z</dcterms:created>
  <dcterms:modified xsi:type="dcterms:W3CDTF">2026-10-27T11:39:51Z</dcterms:modified>
</cp:coreProperties>
</file>