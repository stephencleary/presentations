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18" r:id="rId2"/>
  </p:sldMasterIdLst>
  <p:notesMasterIdLst>
    <p:notesMasterId r:id="rId38"/>
  </p:notesMasterIdLst>
  <p:sldIdLst>
    <p:sldId id="256" r:id="rId3"/>
    <p:sldId id="258" r:id="rId4"/>
    <p:sldId id="317" r:id="rId5"/>
    <p:sldId id="409" r:id="rId6"/>
    <p:sldId id="400" r:id="rId7"/>
    <p:sldId id="411" r:id="rId8"/>
    <p:sldId id="414" r:id="rId9"/>
    <p:sldId id="417" r:id="rId10"/>
    <p:sldId id="416" r:id="rId11"/>
    <p:sldId id="418" r:id="rId12"/>
    <p:sldId id="413" r:id="rId13"/>
    <p:sldId id="419" r:id="rId14"/>
    <p:sldId id="412" r:id="rId15"/>
    <p:sldId id="420" r:id="rId16"/>
    <p:sldId id="422" r:id="rId17"/>
    <p:sldId id="421" r:id="rId18"/>
    <p:sldId id="426" r:id="rId19"/>
    <p:sldId id="424" r:id="rId20"/>
    <p:sldId id="423" r:id="rId21"/>
    <p:sldId id="427" r:id="rId22"/>
    <p:sldId id="425" r:id="rId23"/>
    <p:sldId id="428" r:id="rId24"/>
    <p:sldId id="429" r:id="rId25"/>
    <p:sldId id="430" r:id="rId26"/>
    <p:sldId id="431" r:id="rId27"/>
    <p:sldId id="432" r:id="rId28"/>
    <p:sldId id="434" r:id="rId29"/>
    <p:sldId id="433" r:id="rId30"/>
    <p:sldId id="435" r:id="rId31"/>
    <p:sldId id="436" r:id="rId32"/>
    <p:sldId id="439" r:id="rId33"/>
    <p:sldId id="437" r:id="rId34"/>
    <p:sldId id="438" r:id="rId35"/>
    <p:sldId id="390" r:id="rId36"/>
    <p:sldId id="41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40A61D7E-2C9D-4E7E-977C-2B6EC2434CD7}">
          <p14:sldIdLst>
            <p14:sldId id="256"/>
            <p14:sldId id="258"/>
            <p14:sldId id="317"/>
            <p14:sldId id="409"/>
            <p14:sldId id="400"/>
            <p14:sldId id="411"/>
            <p14:sldId id="414"/>
            <p14:sldId id="417"/>
            <p14:sldId id="416"/>
            <p14:sldId id="418"/>
            <p14:sldId id="413"/>
            <p14:sldId id="419"/>
            <p14:sldId id="412"/>
            <p14:sldId id="420"/>
            <p14:sldId id="422"/>
            <p14:sldId id="421"/>
            <p14:sldId id="426"/>
            <p14:sldId id="424"/>
            <p14:sldId id="423"/>
            <p14:sldId id="427"/>
            <p14:sldId id="425"/>
            <p14:sldId id="428"/>
            <p14:sldId id="429"/>
            <p14:sldId id="430"/>
            <p14:sldId id="431"/>
            <p14:sldId id="432"/>
            <p14:sldId id="434"/>
            <p14:sldId id="433"/>
            <p14:sldId id="435"/>
            <p14:sldId id="436"/>
            <p14:sldId id="439"/>
            <p14:sldId id="437"/>
            <p14:sldId id="438"/>
            <p14:sldId id="390"/>
            <p14:sldId id="4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385723"/>
    <a:srgbClr val="A9D18E"/>
    <a:srgbClr val="000000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75472" autoAdjust="0"/>
  </p:normalViewPr>
  <p:slideViewPr>
    <p:cSldViewPr snapToGrid="0">
      <p:cViewPr varScale="1">
        <p:scale>
          <a:sx n="95" d="100"/>
          <a:sy n="95" d="100"/>
        </p:scale>
        <p:origin x="1116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9/15/2026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welcome!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421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Christian, husband, father,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669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754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59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543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3545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TraceSource</a:t>
            </a:r>
            <a:r>
              <a:rPr lang="en-US" dirty="0"/>
              <a:t>: </a:t>
            </a:r>
            <a:r>
              <a:rPr lang="en-US" dirty="0" err="1"/>
              <a:t>TraceEventType</a:t>
            </a:r>
            <a:r>
              <a:rPr lang="en-US" dirty="0"/>
              <a:t> had Error/Warning/Information, but also Start and Stop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8556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under the hood of Aspire)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example of failures)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(compare how Seq combines logs and traces, while Aspire separates them)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(undo failure code before continuing)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(enable </a:t>
            </a:r>
            <a:r>
              <a:rPr lang="en-US" baseline="0" dirty="0" err="1"/>
              <a:t>MySqlConnector</a:t>
            </a:r>
            <a:r>
              <a:rPr lang="en-US" baseline="0"/>
              <a:t>)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619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73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990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9587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700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And searching by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2016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0929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 don’t bother; this is really for hot path or framework/library code)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6829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don’t want to add “User” to </a:t>
            </a:r>
            <a:r>
              <a:rPr lang="en-US" i="1" dirty="0"/>
              <a:t>every single log statement!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3761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5724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7237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“throw context enricher”: we wrote our own for log4net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9583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Including custom </a:t>
            </a:r>
            <a:r>
              <a:rPr lang="en-US" baseline="0"/>
              <a:t>logger implementation.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631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99C31-7E7F-F458-7138-E80B21C06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6CA88-6A5E-9975-F56C-AC7F80365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BC54C-8385-7109-0FFE-17E08D5AA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Personally, I don’t find custom metrics to be particularly valuable.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6EF2E-6972-D136-8E85-59DC8D2D51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8393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BB4B3-0148-89E0-DF7D-8B3DE1BBD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421BE-7C0A-6F67-284A-F0E72B96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CA926-0AEF-A780-BFAA-DB7246DE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850E3-94DB-2A7B-A397-0ADE18FA8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5585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5EAFC-E633-F3DF-660C-D6C1FF86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485FC-0791-E125-BA3A-AE0D14489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D4C7E-96B5-6EE9-EB64-F5F005F76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79371-9093-295E-597B-A4D19320B9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5098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15AC-6FF0-1457-9EB0-8A158971D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59B03-F092-0A92-EF40-DC24A6B76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C877C-950D-4CC6-BF36-25E689E16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7B66D-1EE7-5A7B-4F0C-7F2BEA0B4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0567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0121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613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74312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346292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11546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021316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1546348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3877273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69303" y="2075840"/>
            <a:ext cx="9860611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gradFill>
                  <a:gsLst>
                    <a:gs pos="3333">
                      <a:schemeClr val="tx1"/>
                    </a:gs>
                    <a:gs pos="3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59657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40" y="2084174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054553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52069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ck Layout - Title and Content">
    <p:bg bwMode="gray"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 bwMode="white">
          <a:xfrm>
            <a:off x="519248" y="1447802"/>
            <a:ext cx="11151917" cy="1932837"/>
          </a:xfrm>
        </p:spPr>
        <p:txBody>
          <a:bodyPr/>
          <a:lstStyle>
            <a:lvl1pPr marL="346009" indent="-346009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32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920573" indent="-457112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4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717345" indent="-285695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549102" indent="-342834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463461" lvl="0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Click to edit Master text styles</a:t>
            </a:r>
          </a:p>
          <a:p>
            <a:pPr marL="463461" lvl="1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Second level</a:t>
            </a:r>
          </a:p>
          <a:p>
            <a:pPr marL="463461" lvl="2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Third level</a:t>
            </a:r>
          </a:p>
          <a:p>
            <a:pPr marL="463461" lvl="3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Fourth level</a:t>
            </a:r>
          </a:p>
          <a:p>
            <a:pPr marL="463461" lvl="4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61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20664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9259185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44453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0B82E-F3CB-0B36-22B3-80B0D127A051}"/>
              </a:ext>
            </a:extLst>
          </p:cNvPr>
          <p:cNvSpPr txBox="1"/>
          <p:nvPr userDrawn="1"/>
        </p:nvSpPr>
        <p:spPr>
          <a:xfrm>
            <a:off x="0" y="6230136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7304003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22" r:id="rId9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9813215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StephenCleary/LocalTelemetry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ssagetemplates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jpeg"/><Relationship Id="rId4" Type="http://schemas.openxmlformats.org/officeDocument/2006/relationships/hyperlink" Target="https://12factor.net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WillAzureMonitorSupportOTL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4.jpeg"/><Relationship Id="rId4" Type="http://schemas.openxmlformats.org/officeDocument/2006/relationships/hyperlink" Target="https://tinyurl.com/AWS-OTEL-logs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BeginScop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github.com/stephenCleary/Logging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phenCleary/Logging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OTEL-RabbitMQ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39525-4981-AC8B-723B-4261B9EC3B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Stephen Cleary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.NET Telemetry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3" name="Picture 2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2" name="Picture 1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F2270747-7385-F384-62B4-CCF49945B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885FC9-B82E-937A-3192-687F8A05C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3428" y="0"/>
            <a:ext cx="52251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57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</a:t>
            </a:r>
          </a:p>
        </p:txBody>
      </p:sp>
    </p:spTree>
    <p:extLst>
      <p:ext uri="{BB962C8B-B14F-4D97-AF65-F5344CB8AC3E}">
        <p14:creationId xmlns:p14="http://schemas.microsoft.com/office/powerpoint/2010/main" val="246814734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262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Open Telemetry (OTEL)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Open Telemetry Protocol (OTLP)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gRPC:4317 / HTTP:4318</a:t>
            </a:r>
          </a:p>
        </p:txBody>
      </p:sp>
    </p:spTree>
    <p:extLst>
      <p:ext uri="{BB962C8B-B14F-4D97-AF65-F5344CB8AC3E}">
        <p14:creationId xmlns:p14="http://schemas.microsoft.com/office/powerpoint/2010/main" val="267879341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0180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Metrics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Measurements. Think Prometheus/Grafana dashboards.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Spans. Think waterfall diagrams or Start/Stop events.</a:t>
            </a:r>
          </a:p>
          <a:p>
            <a:pPr marL="796926" lvl="1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i="1" dirty="0"/>
          </a:p>
          <a:p>
            <a:pPr marL="457200" indent="-457200">
              <a:buFontTx/>
              <a:buChar char="-"/>
            </a:pPr>
            <a:r>
              <a:rPr lang="en-US" i="1" dirty="0"/>
              <a:t>Timing</a:t>
            </a:r>
            <a:r>
              <a:rPr lang="en-US" dirty="0"/>
              <a:t> is a grey area; prefer traces unless you need metric.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79CA40-DB85-5F5F-23F4-BDD4177C6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0461" y="103823"/>
            <a:ext cx="3012299" cy="387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41661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823337"/>
          </a:xfrm>
        </p:spPr>
        <p:txBody>
          <a:bodyPr/>
          <a:lstStyle/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In the beginning, there were </a:t>
            </a:r>
            <a:r>
              <a:rPr lang="en-US" dirty="0" err="1"/>
              <a:t>PerformanceCounters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PerformanceCounters</a:t>
            </a:r>
            <a:r>
              <a:rPr lang="en-US" dirty="0"/>
              <a:t> were replaced by </a:t>
            </a:r>
            <a:r>
              <a:rPr lang="en-US" dirty="0" err="1"/>
              <a:t>EventCounters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EventCounters</a:t>
            </a:r>
            <a:r>
              <a:rPr lang="en-US" dirty="0"/>
              <a:t> are now replaced by OTEL Metrics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AD0C7D-D6EF-F3EA-4BB6-7B68A1AAB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297" y="3801723"/>
            <a:ext cx="3325406" cy="2417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0439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Traces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35700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(Event Tracing for Windows) – extremely high-performance instrumentation across drivers et. al.</a:t>
            </a:r>
            <a:br>
              <a:rPr lang="en-US" dirty="0"/>
            </a:br>
            <a:r>
              <a:rPr lang="en-US" dirty="0"/>
              <a:t>Not particularly easy to use from C#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5C6CA98-BE7B-9706-8F62-3DC6F9FA1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8798" y="2857172"/>
            <a:ext cx="3044586" cy="2716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01733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50139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 logs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EventLog</a:t>
            </a:r>
            <a:r>
              <a:rPr lang="en-US" dirty="0"/>
              <a:t> (particularly services)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Trace.WriteLine</a:t>
            </a:r>
            <a:r>
              <a:rPr lang="en-US" dirty="0"/>
              <a:t> – replaced by </a:t>
            </a: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logs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25FDD68-5AAD-1434-E6CE-A1D268EB8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228" y="3429000"/>
            <a:ext cx="3726180" cy="2484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679415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1F8B5-FA38-46C3-BB17-0AAB7E0FC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Local Telemetry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85031-FD42-6790-BA83-C5AD8F1BBB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632737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https://github.com/StephenCleary/LocalTelemetry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A881E6-EFB4-E0AB-7A9E-39009C7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32895" y="6376643"/>
            <a:ext cx="12111841" cy="3088191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EBAB900-0C6F-D5F8-4E39-AE0FB2392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847" y="3754278"/>
            <a:ext cx="3065252" cy="230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D2AFF11-46EA-2F87-DFF2-0FB3D1C0BEC2}"/>
              </a:ext>
            </a:extLst>
          </p:cNvPr>
          <p:cNvSpPr/>
          <p:nvPr/>
        </p:nvSpPr>
        <p:spPr bwMode="auto">
          <a:xfrm>
            <a:off x="269239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OTLP endpoint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EE981B-7BD6-6080-3EEF-199177BBC3C5}"/>
              </a:ext>
            </a:extLst>
          </p:cNvPr>
          <p:cNvSpPr/>
          <p:nvPr/>
        </p:nvSpPr>
        <p:spPr bwMode="auto">
          <a:xfrm>
            <a:off x="3064356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OTEL Collector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C5986-5142-81D8-A07A-3B0C6542FB44}"/>
              </a:ext>
            </a:extLst>
          </p:cNvPr>
          <p:cNvSpPr/>
          <p:nvPr/>
        </p:nvSpPr>
        <p:spPr bwMode="auto">
          <a:xfrm>
            <a:off x="6482635" y="2210637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Seq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914A86-79D1-1769-DE0B-9AB0163A2D8C}"/>
              </a:ext>
            </a:extLst>
          </p:cNvPr>
          <p:cNvSpPr/>
          <p:nvPr/>
        </p:nvSpPr>
        <p:spPr bwMode="auto">
          <a:xfrm>
            <a:off x="6487772" y="2706188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Aspire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7F89A1-102E-E70A-2D74-9A852E23DD32}"/>
              </a:ext>
            </a:extLst>
          </p:cNvPr>
          <p:cNvSpPr/>
          <p:nvPr/>
        </p:nvSpPr>
        <p:spPr bwMode="auto">
          <a:xfrm>
            <a:off x="6482633" y="320568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Zipkin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CA341E-713A-9D2E-A7CB-227C5636B491}"/>
              </a:ext>
            </a:extLst>
          </p:cNvPr>
          <p:cNvSpPr/>
          <p:nvPr/>
        </p:nvSpPr>
        <p:spPr bwMode="auto">
          <a:xfrm>
            <a:off x="6482632" y="3696553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Prometheus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C391F2-A9A2-CE1A-C7D2-D0C8D1D5E82F}"/>
              </a:ext>
            </a:extLst>
          </p:cNvPr>
          <p:cNvSpPr/>
          <p:nvPr/>
        </p:nvSpPr>
        <p:spPr bwMode="auto">
          <a:xfrm>
            <a:off x="9408607" y="3696554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Grafana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7764E4-56E3-68C1-B902-57C3B77073AE}"/>
              </a:ext>
            </a:extLst>
          </p:cNvPr>
          <p:cNvSpPr/>
          <p:nvPr/>
        </p:nvSpPr>
        <p:spPr bwMode="auto">
          <a:xfrm>
            <a:off x="6482631" y="417057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Jaeger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CA6A0A-72F1-90B4-F012-85F5DB6C6F57}"/>
              </a:ext>
            </a:extLst>
          </p:cNvPr>
          <p:cNvSpPr/>
          <p:nvPr/>
        </p:nvSpPr>
        <p:spPr bwMode="auto">
          <a:xfrm>
            <a:off x="6482630" y="5062548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bg1"/>
                </a:solidFill>
              </a:rPr>
              <a:t>Honeycomb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C0D9FBA-20AE-338B-CE9B-AD8764124D8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600456" y="2777885"/>
            <a:ext cx="463900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CE0FEB-0E0C-C326-C0EE-CD450B989056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5395573" y="2408350"/>
            <a:ext cx="1087062" cy="36953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53467D8-E06F-10F4-8723-492AAC3247B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5395573" y="2777885"/>
            <a:ext cx="1092199" cy="12601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EE94AC-8531-591A-F718-268F2FFF34B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5395573" y="2777885"/>
            <a:ext cx="1087060" cy="62551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4C009D1-D1CB-D718-2AD8-D0ECD147407B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5395573" y="2777885"/>
            <a:ext cx="1087059" cy="111638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25CFDD-4A2A-2AF4-D219-2EB6B6DF03F3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5395573" y="2777885"/>
            <a:ext cx="1087058" cy="15904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177C14-EF68-3470-0F74-8B3241084902}"/>
              </a:ext>
            </a:extLst>
          </p:cNvPr>
          <p:cNvCxnSpPr>
            <a:cxnSpLocks/>
            <a:stCxn id="6" idx="3"/>
            <a:endCxn id="21" idx="1"/>
          </p:cNvCxnSpPr>
          <p:nvPr/>
        </p:nvCxnSpPr>
        <p:spPr>
          <a:xfrm>
            <a:off x="5395573" y="2777885"/>
            <a:ext cx="1087057" cy="24823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A80E6E-7525-2451-8BAF-D5AA93EA02C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8813849" y="3894266"/>
            <a:ext cx="594758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03029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Telemetry the Easy Way</a:t>
            </a:r>
          </a:p>
        </p:txBody>
      </p:sp>
    </p:spTree>
    <p:extLst>
      <p:ext uri="{BB962C8B-B14F-4D97-AF65-F5344CB8AC3E}">
        <p14:creationId xmlns:p14="http://schemas.microsoft.com/office/powerpoint/2010/main" val="297823436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8326977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2756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A.k.a. Structured logging</a:t>
            </a:r>
          </a:p>
          <a:p>
            <a:pPr marL="457200" indent="-457200">
              <a:buFontTx/>
              <a:buChar char="-"/>
            </a:pPr>
            <a:r>
              <a:rPr lang="en-US" dirty="0"/>
              <a:t>A.k.a. Message templates </a:t>
            </a:r>
            <a:r>
              <a:rPr lang="en-US" dirty="0">
                <a:hlinkClick r:id="rId3"/>
              </a:rPr>
              <a:t>https://messagetemplates.org/</a:t>
            </a: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Technically violates 12-factor app: </a:t>
            </a:r>
            <a:r>
              <a:rPr lang="en-US" dirty="0">
                <a:hlinkClick r:id="rId4"/>
              </a:rPr>
              <a:t>https://12factor.net/</a:t>
            </a:r>
            <a:endParaRPr lang="en-US" dirty="0"/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0B614A10-DCC2-87C6-C415-34FC9A1BD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481160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632353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Getting a logger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55951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Modern dependency injection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your logger with its backend output(s).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Inject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Note: if you need to dynamically create loggers, inject </a:t>
            </a: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/>
              <a:t>, not </a:t>
            </a: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.</a:t>
            </a:r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>
                <a:latin typeface="+mn-lt"/>
              </a:rPr>
              <a:t> is for getting loggers for your components to use.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 is for implementing custom backend outputs.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Tip: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 is covariant; you can pass it to base types!</a:t>
            </a:r>
          </a:p>
          <a:p>
            <a:pPr marL="457200" indent="-457200">
              <a:buFontTx/>
              <a:buChar char="-"/>
            </a:pPr>
            <a:r>
              <a:rPr lang="en-US" dirty="0"/>
              <a:t>Everything else: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a logger factory via </a:t>
            </a:r>
            <a:r>
              <a:rPr lang="en-US" dirty="0" err="1">
                <a:latin typeface="Consolas" panose="020B0609020204030204" pitchFamily="49" charset="0"/>
              </a:rPr>
              <a:t>LoggerFactory.Create</a:t>
            </a:r>
            <a:endParaRPr lang="en-US" dirty="0">
              <a:latin typeface="Consolas" panose="020B0609020204030204" pitchFamily="49" charset="0"/>
            </a:endParaRPr>
          </a:p>
          <a:p>
            <a:pPr marL="796926" lvl="1" indent="-457200">
              <a:buFontTx/>
              <a:buChar char="-"/>
            </a:pPr>
            <a:r>
              <a:rPr lang="en-US" dirty="0"/>
              <a:t>Call </a:t>
            </a:r>
            <a:r>
              <a:rPr lang="en-US" dirty="0" err="1">
                <a:latin typeface="Consolas" panose="020B0609020204030204" pitchFamily="49" charset="0"/>
              </a:rPr>
              <a:t>CreateLogger</a:t>
            </a:r>
            <a:r>
              <a:rPr lang="en-US" dirty="0"/>
              <a:t> on the factory.</a:t>
            </a:r>
          </a:p>
        </p:txBody>
      </p:sp>
    </p:spTree>
    <p:extLst>
      <p:ext uri="{BB962C8B-B14F-4D97-AF65-F5344CB8AC3E}">
        <p14:creationId xmlns:p14="http://schemas.microsoft.com/office/powerpoint/2010/main" val="196376895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Basic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83292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 with placeholders, like this: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100" dirty="0">
                <a:latin typeface="Consolas" panose="020B0609020204030204" pitchFamily="49" charset="0"/>
              </a:rPr>
              <a:t>_</a:t>
            </a:r>
            <a:r>
              <a:rPr lang="en-US" sz="2100" dirty="0" err="1">
                <a:latin typeface="Consolas" panose="020B0609020204030204" pitchFamily="49" charset="0"/>
              </a:rPr>
              <a:t>logger.LogInformation</a:t>
            </a:r>
            <a:r>
              <a:rPr lang="en-US" sz="2100" dirty="0">
                <a:latin typeface="Consolas" panose="020B0609020204030204" pitchFamily="49" charset="0"/>
              </a:rPr>
              <a:t>("Forecast result: {temperature}", </a:t>
            </a:r>
            <a:r>
              <a:rPr lang="en-US" sz="2100" dirty="0" err="1">
                <a:latin typeface="Consolas" panose="020B0609020204030204" pitchFamily="49" charset="0"/>
              </a:rPr>
              <a:t>temperatureValue</a:t>
            </a:r>
            <a:r>
              <a:rPr lang="en-US" sz="2100" dirty="0">
                <a:latin typeface="Consolas" panose="020B0609020204030204" pitchFamily="49" charset="0"/>
              </a:rPr>
              <a:t>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This is not string interpolation!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not format string arguments!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a message template.</a:t>
            </a:r>
          </a:p>
          <a:p>
            <a:pPr marL="457200" indent="-457200">
              <a:buFontTx/>
              <a:buChar char="-"/>
            </a:pPr>
            <a:r>
              <a:rPr lang="en-US" dirty="0"/>
              <a:t>What actually happens (mostly):</a:t>
            </a:r>
          </a:p>
          <a:p>
            <a:r>
              <a:rPr lang="en-US" sz="3000" dirty="0">
                <a:latin typeface="Consolas" panose="020B0609020204030204" pitchFamily="49" charset="0"/>
              </a:rPr>
              <a:t>{ message: "Forecast result: 13", temperature: 13 }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4AEAD1BF-01FE-2EF5-D6BA-D17587790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34698"/>
          <a:stretch/>
        </p:blipFill>
        <p:spPr bwMode="auto">
          <a:xfrm>
            <a:off x="8360874" y="2571750"/>
            <a:ext cx="3133896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85529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2: Basic 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3793874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Backend options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38305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Cloud: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Azure Monitor </a:t>
            </a:r>
            <a:r>
              <a:rPr lang="en-US" dirty="0">
                <a:hlinkClick r:id="rId3"/>
              </a:rPr>
              <a:t>https://tinyurl.com/WillAzureMonitorSupportOTLP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toint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customDimensions</a:t>
            </a:r>
            <a:r>
              <a:rPr lang="en-US" dirty="0">
                <a:latin typeface="Consolas" panose="020B0609020204030204" pitchFamily="49" charset="0"/>
              </a:rPr>
              <a:t>[“temperature"]) &gt; 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AWS CloudWatch (</a:t>
            </a:r>
            <a:r>
              <a:rPr lang="en-US" dirty="0">
                <a:hlinkClick r:id="rId4"/>
              </a:rPr>
              <a:t>https://tinyurl.com/AWS-OTEL-logs</a:t>
            </a:r>
            <a:r>
              <a:rPr lang="en-US" dirty="0"/>
              <a:t>)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temperature &gt; 5      { $.temperature &gt; 5 }</a:t>
            </a:r>
          </a:p>
          <a:p>
            <a:pPr marL="457200" indent="-457200">
              <a:buFontTx/>
              <a:buChar char="-"/>
            </a:pPr>
            <a:r>
              <a:rPr lang="en-US" dirty="0"/>
              <a:t>SaaS: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Honeycomb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Graylog</a:t>
            </a:r>
            <a:r>
              <a:rPr lang="en-US" dirty="0"/>
              <a:t> cloud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Papertrail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Self-hosted: </a:t>
            </a:r>
            <a:r>
              <a:rPr lang="en-US" dirty="0" err="1"/>
              <a:t>Graylog</a:t>
            </a:r>
            <a:r>
              <a:rPr lang="en-US" dirty="0"/>
              <a:t>, Seq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45E9D6-CE0A-1E25-20B6-6A7AD7524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0026" y="2994873"/>
            <a:ext cx="3882690" cy="2593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07308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1258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Basic form: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200" dirty="0">
                <a:latin typeface="Consolas" panose="020B0609020204030204" pitchFamily="49" charset="0"/>
              </a:rPr>
              <a:t>_</a:t>
            </a:r>
            <a:r>
              <a:rPr lang="en-US" sz="2200" dirty="0" err="1">
                <a:latin typeface="Consolas" panose="020B0609020204030204" pitchFamily="49" charset="0"/>
              </a:rPr>
              <a:t>logger.LogInformation</a:t>
            </a:r>
            <a:r>
              <a:rPr lang="en-US" sz="2200" dirty="0">
                <a:latin typeface="Consolas" panose="020B0609020204030204" pitchFamily="49" charset="0"/>
              </a:rPr>
              <a:t>("Forecast result: {temperature}", temperature);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Performant form:</a:t>
            </a:r>
            <a:endParaRPr lang="en-US" sz="3000" dirty="0">
              <a:latin typeface="Consolas" panose="020B0609020204030204" pitchFamily="49" charset="0"/>
            </a:endParaRP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_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logger.LogTemperature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(temperature);</a:t>
            </a: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[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LoggerMessage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(Level =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LogLevel.Information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, Message = "Forecast result: {temperature}")]</a:t>
            </a: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static partial void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(this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ILogger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 logger, int temperature);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700196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Scopes!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This is your hero superpower.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Scopes allow you to attach </a:t>
            </a:r>
            <a:r>
              <a:rPr lang="en-US" dirty="0" err="1"/>
              <a:t>name:value</a:t>
            </a:r>
            <a:r>
              <a:rPr lang="en-US" dirty="0"/>
              <a:t> data pairs to all logs within a scope.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9C24E00-923B-F3B0-D9A2-695464493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1089" y="3074670"/>
            <a:ext cx="3469822" cy="364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96948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3: Scopes</a:t>
            </a:r>
          </a:p>
        </p:txBody>
      </p:sp>
    </p:spTree>
    <p:extLst>
      <p:ext uri="{BB962C8B-B14F-4D97-AF65-F5344CB8AC3E}">
        <p14:creationId xmlns:p14="http://schemas.microsoft.com/office/powerpoint/2010/main" val="125569555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4747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The scope type is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IEnumerable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KeyValuePair</a:t>
            </a:r>
            <a:r>
              <a:rPr lang="en-US" dirty="0">
                <a:latin typeface="Consolas" panose="020B0609020204030204" pitchFamily="49" charset="0"/>
              </a:rPr>
              <a:t>&lt;string, object&gt;&gt;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https://tinyurl.com/BeginScope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Tip: helpers are convenient. E.g., </a:t>
            </a:r>
            <a:r>
              <a:rPr lang="en-US" dirty="0">
                <a:hlinkClick r:id="rId4"/>
              </a:rPr>
              <a:t>https://github.com/stephenCleary/Logging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590367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8120381" cy="506631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Common pitfall: exception handling scopes.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 scopes in force when the exception is thrown are different than when the exception is logged.</a:t>
            </a:r>
          </a:p>
          <a:p>
            <a:pPr marL="457200" indent="-457200">
              <a:buFontTx/>
              <a:buChar char="-"/>
            </a:pPr>
            <a:r>
              <a:rPr lang="en-US" dirty="0"/>
              <a:t>Workaround: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Capture the scopes when the exception is thrown.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Restore the scopes when the exception is logged.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https://github.com/stephenCleary/Logging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Alternative: Seq has a “throw context enricher”.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B1A04AD-005B-36DB-E883-3316A0474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6223" y="865073"/>
            <a:ext cx="3356537" cy="4209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34970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4: Scopes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670628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2D650-641E-A8B0-9D3D-917CA4CB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</a:p>
        </p:txBody>
      </p:sp>
    </p:spTree>
    <p:extLst>
      <p:ext uri="{BB962C8B-B14F-4D97-AF65-F5344CB8AC3E}">
        <p14:creationId xmlns:p14="http://schemas.microsoft.com/office/powerpoint/2010/main" val="1173523492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CBE2A49-41D0-7B4B-DB4B-F5CFD6AEA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Things to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068E3D-668E-A8C4-7E14-0584ADA20A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7280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Most metrics are counters (Counter or </a:t>
            </a:r>
            <a:r>
              <a:rPr lang="en-US" dirty="0" err="1"/>
              <a:t>UpDownCounter</a:t>
            </a:r>
            <a:r>
              <a:rPr lang="en-US" dirty="0"/>
              <a:t>)</a:t>
            </a:r>
          </a:p>
          <a:p>
            <a:pPr marL="457200" indent="-457200">
              <a:buFontTx/>
              <a:buChar char="-"/>
            </a:pPr>
            <a:r>
              <a:rPr lang="en-US" dirty="0"/>
              <a:t>Gauge (when sums don’t make sense, e.g., percentages)</a:t>
            </a:r>
          </a:p>
          <a:p>
            <a:pPr marL="457200" indent="-457200">
              <a:buFontTx/>
              <a:buChar char="-"/>
            </a:pPr>
            <a:r>
              <a:rPr lang="en-US" dirty="0"/>
              <a:t>Histogram (distributions only)</a:t>
            </a:r>
          </a:p>
        </p:txBody>
      </p:sp>
      <p:pic>
        <p:nvPicPr>
          <p:cNvPr id="5" name="Picture 4" descr="Good Measure | Funny Clips | Mr Bean Official">
            <a:extLst>
              <a:ext uri="{FF2B5EF4-FFF2-40B4-BE49-F238E27FC236}">
                <a16:creationId xmlns:a16="http://schemas.microsoft.com/office/drawing/2014/main" id="{A66A75A1-268C-CF31-02B7-DB3E595B8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836" y="2933505"/>
            <a:ext cx="5610328" cy="315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2039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B1787-5001-9C02-5FF6-B960AD071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068B-344C-F2A3-25D9-605BB5802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5: Custom Counter Metric</a:t>
            </a:r>
          </a:p>
        </p:txBody>
      </p:sp>
    </p:spTree>
    <p:extLst>
      <p:ext uri="{BB962C8B-B14F-4D97-AF65-F5344CB8AC3E}">
        <p14:creationId xmlns:p14="http://schemas.microsoft.com/office/powerpoint/2010/main" val="204699705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5409F-9EC3-3F77-2FBD-0B7CB269C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232CF-AE47-373D-413B-EA46A95F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A word of warning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016A8-1C90-F59C-BD51-87CC2263BB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222573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Metrics have dimensions.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Must be a fixed (and small) number of values!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Stored as one metric </a:t>
            </a:r>
            <a:r>
              <a:rPr lang="en-US" i="1" dirty="0"/>
              <a:t>per unique set of values across all dimensions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This gets expensive, </a:t>
            </a:r>
            <a:r>
              <a:rPr lang="en-US" i="1" dirty="0"/>
              <a:t>fast!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Use tags instead, if possible.</a:t>
            </a:r>
          </a:p>
        </p:txBody>
      </p:sp>
      <p:pic>
        <p:nvPicPr>
          <p:cNvPr id="2" name="Picture 1" descr="Money Burning GIFs | Tenor">
            <a:extLst>
              <a:ext uri="{FF2B5EF4-FFF2-40B4-BE49-F238E27FC236}">
                <a16:creationId xmlns:a16="http://schemas.microsoft.com/office/drawing/2014/main" id="{38B33FA3-F70F-CBBF-A02C-7C8CD71A1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632" y="2801844"/>
            <a:ext cx="3632793" cy="274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008587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404E-B4EC-4DC0-1629-1B20E4E3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210C-4D65-C6A1-58D3-FA6BBD33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</a:t>
            </a:r>
          </a:p>
        </p:txBody>
      </p:sp>
    </p:spTree>
    <p:extLst>
      <p:ext uri="{BB962C8B-B14F-4D97-AF65-F5344CB8AC3E}">
        <p14:creationId xmlns:p14="http://schemas.microsoft.com/office/powerpoint/2010/main" val="1444560797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BBBA-1879-7E65-B873-8423F361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9A729C-6940-2FA2-0A0F-AF5A6DAE0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 == Activities == Spans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40023C-B728-568F-C50E-41CE3A8851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Traces also support tags.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can be completed successfully or with error.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also have “events” which can happen within the trace, e.g., exceptions.</a:t>
            </a:r>
          </a:p>
        </p:txBody>
      </p:sp>
    </p:spTree>
    <p:extLst>
      <p:ext uri="{BB962C8B-B14F-4D97-AF65-F5344CB8AC3E}">
        <p14:creationId xmlns:p14="http://schemas.microsoft.com/office/powerpoint/2010/main" val="2483157513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3763E-43F5-C6EF-0476-DD37884B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45074-6122-68AE-B386-2C795E16B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6: Custom Traces</a:t>
            </a:r>
          </a:p>
        </p:txBody>
      </p:sp>
    </p:spTree>
    <p:extLst>
      <p:ext uri="{BB962C8B-B14F-4D97-AF65-F5344CB8AC3E}">
        <p14:creationId xmlns:p14="http://schemas.microsoft.com/office/powerpoint/2010/main" val="3013190429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DCD124-3099-2089-0DB1-915D878BE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CA1CD6-1635-FE2A-D45B-214BCF418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632737"/>
          </a:xfrm>
        </p:spPr>
        <p:txBody>
          <a:bodyPr/>
          <a:lstStyle/>
          <a:p>
            <a:r>
              <a:rPr lang="en-US" dirty="0"/>
              <a:t>Kind: Internal</a:t>
            </a:r>
            <a:r>
              <a:rPr lang="en-US"/>
              <a:t>, Client, Server</a:t>
            </a:r>
          </a:p>
        </p:txBody>
      </p:sp>
    </p:spTree>
    <p:extLst>
      <p:ext uri="{BB962C8B-B14F-4D97-AF65-F5344CB8AC3E}">
        <p14:creationId xmlns:p14="http://schemas.microsoft.com/office/powerpoint/2010/main" val="2813034028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0FA9-4DDF-9164-78AF-4AE7696D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5A2C0-FDBA-990F-F7D7-510ECAE06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7: Distributed Traces</a:t>
            </a:r>
          </a:p>
        </p:txBody>
      </p:sp>
    </p:spTree>
    <p:extLst>
      <p:ext uri="{BB962C8B-B14F-4D97-AF65-F5344CB8AC3E}">
        <p14:creationId xmlns:p14="http://schemas.microsoft.com/office/powerpoint/2010/main" val="1759432130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BF229-E76D-15B8-6E38-E38D1B177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1CA4A-099B-9628-304A-D0EEEF8C0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6: Custom Traces</a:t>
            </a:r>
          </a:p>
        </p:txBody>
      </p:sp>
    </p:spTree>
    <p:extLst>
      <p:ext uri="{BB962C8B-B14F-4D97-AF65-F5344CB8AC3E}">
        <p14:creationId xmlns:p14="http://schemas.microsoft.com/office/powerpoint/2010/main" val="104124698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4529" y="1103070"/>
            <a:ext cx="3129100" cy="39817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5930" y="3296644"/>
            <a:ext cx="2912785" cy="470898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Go forth and be awesome!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95786" y="5084852"/>
            <a:ext cx="3003707" cy="346249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sz="900" dirty="0">
                <a:solidFill>
                  <a:schemeClr val="bg1"/>
                </a:solidFill>
              </a:rPr>
              <a:t>Image from </a:t>
            </a:r>
            <a:r>
              <a:rPr lang="en-US" sz="900" dirty="0" err="1">
                <a:solidFill>
                  <a:schemeClr val="bg1"/>
                </a:solidFill>
              </a:rPr>
              <a:t>Etsy</a:t>
            </a:r>
            <a:r>
              <a:rPr lang="en-US" sz="900" dirty="0">
                <a:solidFill>
                  <a:schemeClr val="bg1"/>
                </a:solidFill>
              </a:rPr>
              <a:t> user </a:t>
            </a:r>
            <a:r>
              <a:rPr lang="en-US" sz="900" dirty="0" err="1">
                <a:solidFill>
                  <a:schemeClr val="bg1"/>
                </a:solidFill>
              </a:rPr>
              <a:t>Rosewine</a:t>
            </a:r>
            <a:r>
              <a:rPr lang="en-US" sz="900" dirty="0">
                <a:solidFill>
                  <a:schemeClr val="bg1"/>
                </a:solidFill>
              </a:rPr>
              <a:t>; used with permission</a:t>
            </a:r>
          </a:p>
        </p:txBody>
      </p:sp>
    </p:spTree>
    <p:extLst>
      <p:ext uri="{BB962C8B-B14F-4D97-AF65-F5344CB8AC3E}">
        <p14:creationId xmlns:p14="http://schemas.microsoft.com/office/powerpoint/2010/main" val="3243594767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768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Distributed tracing (including across queues):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https://tinyurl.com/OTEL-RabbitMQ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Pitfall: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Know your backend (e.g., </a:t>
            </a:r>
            <a:r>
              <a:rPr lang="en-US" dirty="0" err="1"/>
              <a:t>Graylog’s</a:t>
            </a:r>
            <a:r>
              <a:rPr lang="en-US" dirty="0"/>
              <a:t> </a:t>
            </a:r>
            <a:r>
              <a:rPr lang="en-US" dirty="0" err="1"/>
              <a:t>ElasticSearch</a:t>
            </a:r>
            <a:r>
              <a:rPr lang="en-US" dirty="0"/>
              <a:t> index typing)</a:t>
            </a:r>
          </a:p>
        </p:txBody>
      </p:sp>
    </p:spTree>
    <p:extLst>
      <p:ext uri="{BB962C8B-B14F-4D97-AF65-F5344CB8AC3E}">
        <p14:creationId xmlns:p14="http://schemas.microsoft.com/office/powerpoint/2010/main" val="348245217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eme1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3A1D99AA-2C26-4EE3-9549-072F209D0352}" vid="{CC9ED212-E232-4257-BD79-C2D0F5FD60E9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</Template>
  <TotalTime>25530</TotalTime>
  <Words>1017</Words>
  <Application>Microsoft Office PowerPoint</Application>
  <PresentationFormat>Widescreen</PresentationFormat>
  <Paragraphs>179</Paragraphs>
  <Slides>35</Slides>
  <Notes>26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Arial</vt:lpstr>
      <vt:lpstr>Calibri</vt:lpstr>
      <vt:lpstr>Consolas</vt:lpstr>
      <vt:lpstr>Segoe UI</vt:lpstr>
      <vt:lpstr>Segoe UI Light</vt:lpstr>
      <vt:lpstr>Wingdings</vt:lpstr>
      <vt:lpstr>Theme1</vt:lpstr>
      <vt:lpstr>2023 ThatConf Landscape</vt:lpstr>
      <vt:lpstr>.NET Telemetry in the Real World</vt:lpstr>
      <vt:lpstr>Who is this guy?</vt:lpstr>
      <vt:lpstr>PowerPoint Presentation</vt:lpstr>
      <vt:lpstr>Telemetry</vt:lpstr>
      <vt:lpstr>Telemetry Terminology</vt:lpstr>
      <vt:lpstr>Telemetry Terminology</vt:lpstr>
      <vt:lpstr>Telemetry History: Metrics</vt:lpstr>
      <vt:lpstr>Telemetry History: Traces</vt:lpstr>
      <vt:lpstr>Telemetry History: Logs</vt:lpstr>
      <vt:lpstr>Demo: Local Telemetry</vt:lpstr>
      <vt:lpstr>Demo 1: Telemetry the Easy Way</vt:lpstr>
      <vt:lpstr>Semantic Logging</vt:lpstr>
      <vt:lpstr>Semantic logging</vt:lpstr>
      <vt:lpstr>Semantic Logging: Getting a logger</vt:lpstr>
      <vt:lpstr>Semantic Logging: Basic Logging</vt:lpstr>
      <vt:lpstr>Demo 2: Basic Semantic Logging</vt:lpstr>
      <vt:lpstr>Semantic Logging: Backend options</vt:lpstr>
      <vt:lpstr>Semantic Logging: Performance</vt:lpstr>
      <vt:lpstr>Semantic Logging: Scopes!</vt:lpstr>
      <vt:lpstr>Demo 3: Scopes</vt:lpstr>
      <vt:lpstr>Semantic Logging Scopes</vt:lpstr>
      <vt:lpstr>Semantic Logging Scopes</vt:lpstr>
      <vt:lpstr>Demo 4: Scopes in the Real World</vt:lpstr>
      <vt:lpstr>Metrics</vt:lpstr>
      <vt:lpstr>Metrics: Things to measure</vt:lpstr>
      <vt:lpstr>Demo 5: Custom Counter Metric</vt:lpstr>
      <vt:lpstr>Metrics: A word of warning</vt:lpstr>
      <vt:lpstr>Traces</vt:lpstr>
      <vt:lpstr>Traces == Activities == Spans</vt:lpstr>
      <vt:lpstr>Demo 6: Custom Traces</vt:lpstr>
      <vt:lpstr>Distributed Traces</vt:lpstr>
      <vt:lpstr>Demo 7: Distributed Traces</vt:lpstr>
      <vt:lpstr>Demo 6: Custom Traces</vt:lpstr>
      <vt:lpstr>Q&amp;A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 Cleary</cp:lastModifiedBy>
  <cp:revision>449</cp:revision>
  <dcterms:created xsi:type="dcterms:W3CDTF">2013-02-28T01:41:02Z</dcterms:created>
  <dcterms:modified xsi:type="dcterms:W3CDTF">2026-09-15T12:52:14Z</dcterms:modified>
</cp:coreProperties>
</file>