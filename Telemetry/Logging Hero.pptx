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</p:sldMasterIdLst>
  <p:notesMasterIdLst>
    <p:notesMasterId r:id="rId39"/>
  </p:notesMasterIdLst>
  <p:sldIdLst>
    <p:sldId id="256" r:id="rId3"/>
    <p:sldId id="258" r:id="rId4"/>
    <p:sldId id="317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4" r:id="rId20"/>
    <p:sldId id="423" r:id="rId21"/>
    <p:sldId id="427" r:id="rId22"/>
    <p:sldId id="425" r:id="rId23"/>
    <p:sldId id="428" r:id="rId24"/>
    <p:sldId id="429" r:id="rId25"/>
    <p:sldId id="430" r:id="rId26"/>
    <p:sldId id="431" r:id="rId27"/>
    <p:sldId id="432" r:id="rId28"/>
    <p:sldId id="434" r:id="rId29"/>
    <p:sldId id="433" r:id="rId30"/>
    <p:sldId id="435" r:id="rId31"/>
    <p:sldId id="436" r:id="rId32"/>
    <p:sldId id="439" r:id="rId33"/>
    <p:sldId id="437" r:id="rId34"/>
    <p:sldId id="440" r:id="rId35"/>
    <p:sldId id="438" r:id="rId36"/>
    <p:sldId id="390" r:id="rId37"/>
    <p:sldId id="41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317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4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40"/>
            <p14:sldId id="438"/>
            <p14:sldId id="390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54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(enable </a:t>
            </a:r>
            <a:r>
              <a:rPr lang="en-US" baseline="0" dirty="0" err="1"/>
              <a:t>MySqlConnector</a:t>
            </a:r>
            <a:r>
              <a:rPr lang="en-US" baseline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 don’t bother; this is really for hot path or framework/library code)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6829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613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jpeg"/><Relationship Id="rId4" Type="http://schemas.openxmlformats.org/officeDocument/2006/relationships/hyperlink" Target="https://12factor.net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jpeg"/><Relationship Id="rId4" Type="http://schemas.openxmlformats.org/officeDocument/2006/relationships/hyperlink" Target="https://tinyurl.com/AWS-OTEL-logs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hub.com/stephenCleary/Logging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OTEL-RabbitMQ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885FC9-B82E-937A-3192-687F8A05C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262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018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 Think Prometheus/Grafana dashboards.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 Think waterfall diagrams or Start/Stop events.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823337"/>
          </a:xfrm>
        </p:spPr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801723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35700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50139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632737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A881E6-EFB4-E0AB-7A9E-39009C7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32895" y="6376643"/>
            <a:ext cx="12111841" cy="3088191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269239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482630" y="5062548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600456" y="2777885"/>
            <a:ext cx="463900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1087057" cy="24823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2756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55951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83292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38305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[“temperature"])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026" y="2994873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1258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Basic form: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200" dirty="0">
                <a:latin typeface="Consolas" panose="020B0609020204030204" pitchFamily="49" charset="0"/>
              </a:rPr>
              <a:t>_</a:t>
            </a:r>
            <a:r>
              <a:rPr lang="en-US" sz="2200" dirty="0" err="1">
                <a:latin typeface="Consolas" panose="020B0609020204030204" pitchFamily="49" charset="0"/>
              </a:rPr>
              <a:t>logger.LogInformation</a:t>
            </a:r>
            <a:r>
              <a:rPr lang="en-US" sz="2200" dirty="0">
                <a:latin typeface="Consolas" panose="020B0609020204030204" pitchFamily="49" charset="0"/>
              </a:rPr>
              <a:t>("Forecast result: {temperature}", temperature);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Performant form:</a:t>
            </a:r>
            <a:endParaRPr lang="en-US" sz="3000" dirty="0">
              <a:latin typeface="Consolas" panose="020B0609020204030204" pitchFamily="49" charset="0"/>
            </a:endParaRP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_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logger.LogTemperature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(temperature);</a:t>
            </a: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[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LoggerMessage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(Level =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LogLevel.Information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, Message = "Forecast result: {temperature}")]</a:t>
            </a: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static partial void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(this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ILogger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 logger, int temperature);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70019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089" y="3074670"/>
            <a:ext cx="3469822" cy="364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4747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8120381" cy="506631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 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 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7280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30222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Cardinality: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Hat sales: 3 sizes, 5 colors = </a:t>
            </a:r>
            <a:r>
              <a:rPr lang="en-US" b="1" dirty="0"/>
              <a:t>15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632" y="280184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3719480"/>
          </a:xfrm>
        </p:spPr>
        <p:txBody>
          <a:bodyPr/>
          <a:lstStyle/>
          <a:p>
            <a:r>
              <a:rPr lang="en-US" dirty="0"/>
              <a:t>Kind: Internal, </a:t>
            </a:r>
            <a:r>
              <a:rPr lang="en-US" b="1" dirty="0"/>
              <a:t>Client, Server</a:t>
            </a:r>
            <a:endParaRPr lang="en-US" dirty="0"/>
          </a:p>
          <a:p>
            <a:endParaRPr lang="en-US" dirty="0"/>
          </a:p>
          <a:p>
            <a:r>
              <a:rPr lang="en-US" dirty="0"/>
              <a:t>Mostly automatic if you’re on .NET Core (ASP.NET Core + </a:t>
            </a:r>
            <a:r>
              <a:rPr lang="en-US" dirty="0" err="1"/>
              <a:t>HttpClient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Library support varies; </a:t>
            </a:r>
            <a:r>
              <a:rPr lang="en-US" dirty="0" err="1"/>
              <a:t>MySqlConnector</a:t>
            </a:r>
            <a:r>
              <a:rPr lang="en-US" dirty="0"/>
              <a:t> is great, SQLite needed help.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EF492-13D8-EFEF-8BB8-C3FA3B4C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F91E4-E71A-499B-8DC1-3D8A08F4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BF913-0DAA-AA9A-730D-6A8B2D0467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4267130"/>
          </a:xfrm>
        </p:spPr>
        <p:txBody>
          <a:bodyPr/>
          <a:lstStyle/>
          <a:p>
            <a:r>
              <a:rPr lang="en-US" dirty="0"/>
              <a:t>Kind: Internal, Client, Server, </a:t>
            </a:r>
            <a:r>
              <a:rPr lang="en-US" b="1" dirty="0"/>
              <a:t>Producer, Consumer</a:t>
            </a:r>
          </a:p>
          <a:p>
            <a:endParaRPr lang="en-US" dirty="0"/>
          </a:p>
          <a:p>
            <a:r>
              <a:rPr lang="en-US" dirty="0"/>
              <a:t>Currently: no automatic support (although libraries like RabbitMQ .NET Client </a:t>
            </a:r>
            <a:r>
              <a:rPr lang="en-US" i="1" dirty="0"/>
              <a:t>could</a:t>
            </a:r>
            <a:r>
              <a:rPr lang="en-US" dirty="0"/>
              <a:t> make it automatic).</a:t>
            </a:r>
          </a:p>
          <a:p>
            <a:endParaRPr lang="en-US" dirty="0"/>
          </a:p>
          <a:p>
            <a:r>
              <a:rPr lang="en-US" dirty="0"/>
              <a:t>Propagation API is odd because it can be used with: HTTP headers, queue message metadata, arbitrary dictionaries.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/>
              <a:t>E.g., child process using serialized JSON.</a:t>
            </a:r>
          </a:p>
        </p:txBody>
      </p:sp>
    </p:spTree>
    <p:extLst>
      <p:ext uri="{BB962C8B-B14F-4D97-AF65-F5344CB8AC3E}">
        <p14:creationId xmlns:p14="http://schemas.microsoft.com/office/powerpoint/2010/main" val="87806506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8: Asynchronous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4529" y="1103070"/>
            <a:ext cx="3129100" cy="39817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5930" y="3296644"/>
            <a:ext cx="2912785" cy="470898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Go forth and be awesome!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95786" y="5084852"/>
            <a:ext cx="3003707" cy="346249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900" dirty="0">
                <a:solidFill>
                  <a:schemeClr val="bg1"/>
                </a:solidFill>
              </a:rPr>
              <a:t>Image from </a:t>
            </a:r>
            <a:r>
              <a:rPr lang="en-US" sz="900" dirty="0" err="1">
                <a:solidFill>
                  <a:schemeClr val="bg1"/>
                </a:solidFill>
              </a:rPr>
              <a:t>Etsy</a:t>
            </a:r>
            <a:r>
              <a:rPr lang="en-US" sz="900" dirty="0">
                <a:solidFill>
                  <a:schemeClr val="bg1"/>
                </a:solidFill>
              </a:rPr>
              <a:t> user </a:t>
            </a:r>
            <a:r>
              <a:rPr lang="en-US" sz="900" dirty="0" err="1">
                <a:solidFill>
                  <a:schemeClr val="bg1"/>
                </a:solidFill>
              </a:rPr>
              <a:t>Rosewine</a:t>
            </a:r>
            <a:r>
              <a:rPr lang="en-US" sz="900" dirty="0">
                <a:solidFill>
                  <a:schemeClr val="bg1"/>
                </a:solidFill>
              </a:rPr>
              <a:t>; used with permission</a:t>
            </a:r>
          </a:p>
        </p:txBody>
      </p:sp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768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Distributed tracing (including across queues):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https://tinyurl.com/OTEL-RabbitMQ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Pitfall: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Know your backend (e.g., </a:t>
            </a:r>
            <a:r>
              <a:rPr lang="en-US" dirty="0" err="1"/>
              <a:t>Graylog’s</a:t>
            </a:r>
            <a:r>
              <a:rPr lang="en-US" dirty="0"/>
              <a:t> </a:t>
            </a:r>
            <a:r>
              <a:rPr lang="en-US" dirty="0" err="1"/>
              <a:t>ElasticSearch</a:t>
            </a:r>
            <a:r>
              <a:rPr lang="en-US" dirty="0"/>
              <a:t> index typing)</a:t>
            </a:r>
          </a:p>
        </p:txBody>
      </p:sp>
    </p:spTree>
    <p:extLst>
      <p:ext uri="{BB962C8B-B14F-4D97-AF65-F5344CB8AC3E}">
        <p14:creationId xmlns:p14="http://schemas.microsoft.com/office/powerpoint/2010/main" val="34824521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25592</TotalTime>
  <Words>1121</Words>
  <Application>Microsoft Office PowerPoint</Application>
  <PresentationFormat>Widescreen</PresentationFormat>
  <Paragraphs>192</Paragraphs>
  <Slides>36</Slides>
  <Notes>26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Light</vt:lpstr>
      <vt:lpstr>Wingdings</vt:lpstr>
      <vt:lpstr>Theme1</vt:lpstr>
      <vt:lpstr>2023 ThatConf Landscape</vt:lpstr>
      <vt:lpstr>.NET Telemetry in the Real World</vt:lpstr>
      <vt:lpstr>Who is this guy?</vt:lpstr>
      <vt:lpstr>PowerPoint Presentation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Performance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Asynchronous Distributed Traces</vt:lpstr>
      <vt:lpstr>Demo 8: Asynchronous Distributed Traces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 Cleary</cp:lastModifiedBy>
  <cp:revision>451</cp:revision>
  <dcterms:created xsi:type="dcterms:W3CDTF">2013-02-28T01:41:02Z</dcterms:created>
  <dcterms:modified xsi:type="dcterms:W3CDTF">2026-09-15T13:54:04Z</dcterms:modified>
</cp:coreProperties>
</file>