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</p:sldMasterIdLst>
  <p:notesMasterIdLst>
    <p:notesMasterId r:id="rId40"/>
  </p:notesMasterIdLst>
  <p:sldIdLst>
    <p:sldId id="256" r:id="rId3"/>
    <p:sldId id="258" r:id="rId4"/>
    <p:sldId id="317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4" r:id="rId20"/>
    <p:sldId id="423" r:id="rId21"/>
    <p:sldId id="427" r:id="rId22"/>
    <p:sldId id="425" r:id="rId23"/>
    <p:sldId id="428" r:id="rId24"/>
    <p:sldId id="429" r:id="rId25"/>
    <p:sldId id="430" r:id="rId26"/>
    <p:sldId id="431" r:id="rId27"/>
    <p:sldId id="432" r:id="rId28"/>
    <p:sldId id="434" r:id="rId29"/>
    <p:sldId id="433" r:id="rId30"/>
    <p:sldId id="435" r:id="rId31"/>
    <p:sldId id="436" r:id="rId32"/>
    <p:sldId id="439" r:id="rId33"/>
    <p:sldId id="437" r:id="rId34"/>
    <p:sldId id="440" r:id="rId35"/>
    <p:sldId id="438" r:id="rId36"/>
    <p:sldId id="441" r:id="rId37"/>
    <p:sldId id="390" r:id="rId38"/>
    <p:sldId id="41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317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4"/>
            <p14:sldId id="423"/>
            <p14:sldId id="427"/>
            <p14:sldId id="425"/>
            <p14:sldId id="428"/>
            <p14:sldId id="429"/>
            <p14:sldId id="430"/>
            <p14:sldId id="431"/>
            <p14:sldId id="432"/>
            <p14:sldId id="434"/>
            <p14:sldId id="433"/>
            <p14:sldId id="435"/>
            <p14:sldId id="436"/>
            <p14:sldId id="439"/>
            <p14:sldId id="437"/>
            <p14:sldId id="440"/>
            <p14:sldId id="438"/>
            <p14:sldId id="441"/>
            <p14:sldId id="390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9/16/2026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754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Anyone used telemetry already?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Logs, traces, metrics?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of failures)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(compare how Seq combines logs and traces, while Aspire separates them)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(undo failure code before continuing)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(enable </a:t>
            </a:r>
            <a:r>
              <a:rPr lang="en-US" baseline="0" dirty="0" err="1"/>
              <a:t>MySqlConnector</a:t>
            </a:r>
            <a:r>
              <a:rPr lang="en-US" baseline="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 don’t bother; this is really for hot path or framework/library code)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6829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9C31-7E7F-F458-7138-E80B21C0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6CA88-6A5E-9975-F56C-AC7F80365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BC54C-8385-7109-0FFE-17E08D5AA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Personally, I don’t find custom metrics to be particularly valuable.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6EF2E-6972-D136-8E85-59DC8D2D5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8393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B4B3-0148-89E0-DF7D-8B3DE1BBD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421BE-7C0A-6F67-284A-F0E72B96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A926-0AEF-A780-BFAA-DB7246DE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850E3-94DB-2A7B-A397-0ADE18FA8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585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EAFC-E633-F3DF-660C-D6C1FF86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485FC-0791-E125-BA3A-AE0D1448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D4C7E-96B5-6EE9-EB64-F5F005F76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79371-9093-295E-597B-A4D19320B9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098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15AC-6FF0-1457-9EB0-8A158971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59B03-F092-0A92-EF40-DC24A6B76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C877C-950D-4CC6-BF36-25E689E16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B66D-1EE7-5A7B-4F0C-7F2BEA0B4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0567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 start adding Telemetry, you’ll end up with way too much.</a:t>
            </a:r>
          </a:p>
          <a:p>
            <a:r>
              <a:rPr lang="en-US" dirty="0"/>
              <a:t>Pay attention to signal and noise, and if anyone is actually using the telemetry you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010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613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jpeg"/><Relationship Id="rId4" Type="http://schemas.openxmlformats.org/officeDocument/2006/relationships/hyperlink" Target="https://12factor.net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jpeg"/><Relationship Id="rId4" Type="http://schemas.openxmlformats.org/officeDocument/2006/relationships/hyperlink" Target="https://tinyurl.com/AWS-OTEL-logs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github.com/stephenCleary/Logging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spnet/core/fundamentals/logging/?view=aspnetcore-10.0&amp;WT.mc_id=DT-MVP-5000058#apply-log-filter-rules-in-code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jpg"/><Relationship Id="rId4" Type="http://schemas.openxmlformats.org/officeDocument/2006/relationships/hyperlink" Target="https://learn.microsoft.com/en-us/dotnet/core/diagnostics/distributed-tracing-concepts?WT.mc_id=DT-MVP-5000058#sampling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OTEL-RabbitMQ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.NET Telemetry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885FC9-B82E-937A-3192-687F8A05C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262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018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 Think waterfall diagrams or Start/Stop events.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 Think Prometheus/Grafana dashboards.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i="1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823337"/>
          </a:xfrm>
        </p:spPr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801723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35700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50139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632737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A881E6-EFB4-E0AB-7A9E-39009C7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32895" y="6376643"/>
            <a:ext cx="12111841" cy="3088191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269239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482630" y="5062548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bg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600456" y="2777885"/>
            <a:ext cx="463900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1087057" cy="24823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2756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55951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83292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100" dirty="0">
                <a:latin typeface="Consolas" panose="020B0609020204030204" pitchFamily="49" charset="0"/>
              </a:rPr>
              <a:t>_</a:t>
            </a:r>
            <a:r>
              <a:rPr lang="en-US" sz="2100" dirty="0" err="1">
                <a:latin typeface="Consolas" panose="020B0609020204030204" pitchFamily="49" charset="0"/>
              </a:rPr>
              <a:t>logger.LogInformation</a:t>
            </a:r>
            <a:r>
              <a:rPr lang="en-US" sz="2100" dirty="0">
                <a:latin typeface="Consolas" panose="020B0609020204030204" pitchFamily="49" charset="0"/>
              </a:rPr>
              <a:t>("Forecast result: {temperature}", </a:t>
            </a:r>
            <a:r>
              <a:rPr lang="en-US" sz="2100" dirty="0" err="1">
                <a:latin typeface="Consolas" panose="020B0609020204030204" pitchFamily="49" charset="0"/>
              </a:rPr>
              <a:t>temperatureValue</a:t>
            </a:r>
            <a:r>
              <a:rPr lang="en-US" sz="2100" dirty="0">
                <a:latin typeface="Consolas" panose="020B0609020204030204" pitchFamily="49" charset="0"/>
              </a:rPr>
              <a:t>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38305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toint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customDimensions</a:t>
            </a:r>
            <a:r>
              <a:rPr lang="en-US" dirty="0">
                <a:latin typeface="Consolas" panose="020B0609020204030204" pitchFamily="49" charset="0"/>
              </a:rPr>
              <a:t>[“temperature"]) &gt; 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temperature &gt; 5      { $.temperature &gt; 5 }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 </a:t>
            </a: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026" y="2994873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1258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Basic form: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200" dirty="0">
                <a:latin typeface="Consolas" panose="020B0609020204030204" pitchFamily="49" charset="0"/>
              </a:rPr>
              <a:t>_</a:t>
            </a:r>
            <a:r>
              <a:rPr lang="en-US" sz="2200" dirty="0" err="1">
                <a:latin typeface="Consolas" panose="020B0609020204030204" pitchFamily="49" charset="0"/>
              </a:rPr>
              <a:t>logger.LogInformation</a:t>
            </a:r>
            <a:r>
              <a:rPr lang="en-US" sz="2200" dirty="0">
                <a:latin typeface="Consolas" panose="020B0609020204030204" pitchFamily="49" charset="0"/>
              </a:rPr>
              <a:t>("Forecast result: {temperature}", temperature);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Performant form:</a:t>
            </a:r>
            <a:endParaRPr lang="en-US" sz="3000" dirty="0">
              <a:latin typeface="Consolas" panose="020B0609020204030204" pitchFamily="49" charset="0"/>
            </a:endParaRP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_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logger.LogTemperature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(temperature);</a:t>
            </a: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[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LoggerMessage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(Level =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LogLevel.Information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, Message = "Forecast result: {temperature}")]</a:t>
            </a: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static partial void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(this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ILogger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 logger, int temperature);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70019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089" y="3074670"/>
            <a:ext cx="3469822" cy="364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4747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8120381" cy="506631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 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 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2D650-641E-A8B0-9D3D-917CA4CB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</a:p>
        </p:txBody>
      </p:sp>
    </p:spTree>
    <p:extLst>
      <p:ext uri="{BB962C8B-B14F-4D97-AF65-F5344CB8AC3E}">
        <p14:creationId xmlns:p14="http://schemas.microsoft.com/office/powerpoint/2010/main" val="117352349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BE2A49-41D0-7B4B-DB4B-F5CFD6AE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Things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068E3D-668E-A8C4-7E14-0584ADA20A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7280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Most metrics are counters (Counter or </a:t>
            </a:r>
            <a:r>
              <a:rPr lang="en-US" dirty="0" err="1"/>
              <a:t>UpDownCounter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Gauge (when sums don’t make sense, e.g., percentages)</a:t>
            </a:r>
          </a:p>
          <a:p>
            <a:pPr marL="457200" indent="-457200">
              <a:buFontTx/>
              <a:buChar char="-"/>
            </a:pPr>
            <a:r>
              <a:rPr lang="en-US" dirty="0"/>
              <a:t>Histogram (distributions only)</a:t>
            </a:r>
          </a:p>
        </p:txBody>
      </p:sp>
      <p:pic>
        <p:nvPicPr>
          <p:cNvPr id="5" name="Picture 4" descr="Good Measure | Funny Clips | Mr Bean Official">
            <a:extLst>
              <a:ext uri="{FF2B5EF4-FFF2-40B4-BE49-F238E27FC236}">
                <a16:creationId xmlns:a16="http://schemas.microsoft.com/office/drawing/2014/main" id="{A66A75A1-268C-CF31-02B7-DB3E595B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36" y="2933505"/>
            <a:ext cx="5610328" cy="315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203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B1787-5001-9C02-5FF6-B960AD071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068B-344C-F2A3-25D9-605BB5802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5: Custom Counter Metric</a:t>
            </a:r>
          </a:p>
        </p:txBody>
      </p:sp>
    </p:spTree>
    <p:extLst>
      <p:ext uri="{BB962C8B-B14F-4D97-AF65-F5344CB8AC3E}">
        <p14:creationId xmlns:p14="http://schemas.microsoft.com/office/powerpoint/2010/main" val="204699705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409F-9EC3-3F77-2FBD-0B7CB269C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232CF-AE47-373D-413B-EA46A95F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A word of warning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016A8-1C90-F59C-BD51-87CC2263BB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302223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Metrics have dimensions.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Must be a fixed (and small) number of values!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Stored as one metric </a:t>
            </a:r>
            <a:r>
              <a:rPr lang="en-US" i="1" dirty="0"/>
              <a:t>per unique set of values across all dimensions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This gets expensive, </a:t>
            </a:r>
            <a:r>
              <a:rPr lang="en-US" i="1" dirty="0"/>
              <a:t>fast!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Cardinality: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Hat sales: 3 sizes, 5 colors = </a:t>
            </a:r>
            <a:r>
              <a:rPr lang="en-US" b="1" dirty="0"/>
              <a:t>15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Use tags instead, if possible.</a:t>
            </a:r>
          </a:p>
        </p:txBody>
      </p:sp>
      <p:pic>
        <p:nvPicPr>
          <p:cNvPr id="2" name="Picture 1" descr="Money Burning GIFs | Tenor">
            <a:extLst>
              <a:ext uri="{FF2B5EF4-FFF2-40B4-BE49-F238E27FC236}">
                <a16:creationId xmlns:a16="http://schemas.microsoft.com/office/drawing/2014/main" id="{38B33FA3-F70F-CBBF-A02C-7C8CD71A1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632" y="2801844"/>
            <a:ext cx="3632793" cy="27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008587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404E-B4EC-4DC0-1629-1B20E4E3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210C-4D65-C6A1-58D3-FA6BBD33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</a:t>
            </a:r>
          </a:p>
        </p:txBody>
      </p:sp>
    </p:spTree>
    <p:extLst>
      <p:ext uri="{BB962C8B-B14F-4D97-AF65-F5344CB8AC3E}">
        <p14:creationId xmlns:p14="http://schemas.microsoft.com/office/powerpoint/2010/main" val="1444560797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BBBA-1879-7E65-B873-8423F361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9A729C-6940-2FA2-0A0F-AF5A6DAE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 == Activities == Spans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023C-B728-568F-C50E-41CE3A8851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Traces also support tags.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can be completed successfully or with error.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also have “events” which can happen within the trace, e.g., exceptions.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8AA788-40D3-6B3B-59F9-79C8BEC92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915" y="3265714"/>
            <a:ext cx="3792169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157513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763E-43F5-C6EF-0476-DD37884B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5074-6122-68AE-B386-2C795E16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301319042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DCD124-3099-2089-0DB1-915D878B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1CD6-1635-FE2A-D45B-214BCF418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3719480"/>
          </a:xfrm>
        </p:spPr>
        <p:txBody>
          <a:bodyPr/>
          <a:lstStyle/>
          <a:p>
            <a:r>
              <a:rPr lang="en-US" dirty="0"/>
              <a:t>Kind: Internal, </a:t>
            </a:r>
            <a:r>
              <a:rPr lang="en-US" b="1" dirty="0"/>
              <a:t>Client, Server</a:t>
            </a:r>
            <a:endParaRPr lang="en-US" dirty="0"/>
          </a:p>
          <a:p>
            <a:endParaRPr lang="en-US" dirty="0"/>
          </a:p>
          <a:p>
            <a:r>
              <a:rPr lang="en-US" dirty="0"/>
              <a:t>Mostly automatic if you’re on .NET Core (ASP.NET Core + </a:t>
            </a:r>
            <a:r>
              <a:rPr lang="en-US" dirty="0" err="1"/>
              <a:t>HttpClient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Library support varies; </a:t>
            </a:r>
            <a:r>
              <a:rPr lang="en-US" dirty="0" err="1"/>
              <a:t>MySqlConnector</a:t>
            </a:r>
            <a:r>
              <a:rPr lang="en-US" dirty="0"/>
              <a:t> is great, SQLite needed help.</a:t>
            </a:r>
          </a:p>
        </p:txBody>
      </p:sp>
    </p:spTree>
    <p:extLst>
      <p:ext uri="{BB962C8B-B14F-4D97-AF65-F5344CB8AC3E}">
        <p14:creationId xmlns:p14="http://schemas.microsoft.com/office/powerpoint/2010/main" val="2813034028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0FA9-4DDF-9164-78AF-4AE7696D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A2C0-FDBA-990F-F7D7-510ECAE06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7: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75943213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EF492-13D8-EFEF-8BB8-C3FA3B4C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F91E4-E71A-499B-8DC1-3D8A08F4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BF913-0DAA-AA9A-730D-6A8B2D0467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4515980"/>
          </a:xfrm>
        </p:spPr>
        <p:txBody>
          <a:bodyPr/>
          <a:lstStyle/>
          <a:p>
            <a:r>
              <a:rPr lang="en-US" dirty="0"/>
              <a:t>Kind: Internal, Client, Server, </a:t>
            </a:r>
            <a:r>
              <a:rPr lang="en-US" b="1" dirty="0"/>
              <a:t>Producer, Consumer</a:t>
            </a:r>
          </a:p>
          <a:p>
            <a:endParaRPr lang="en-US" dirty="0"/>
          </a:p>
          <a:p>
            <a:r>
              <a:rPr lang="en-US" dirty="0"/>
              <a:t>Currently: no automatic support (although libraries like RabbitMQ .NET Client </a:t>
            </a:r>
            <a:r>
              <a:rPr lang="en-US" i="1" dirty="0"/>
              <a:t>could</a:t>
            </a:r>
            <a:r>
              <a:rPr lang="en-US" dirty="0"/>
              <a:t> make it automatic).</a:t>
            </a:r>
          </a:p>
          <a:p>
            <a:endParaRPr lang="en-US" dirty="0"/>
          </a:p>
          <a:p>
            <a:r>
              <a:rPr lang="en-US" dirty="0"/>
              <a:t>Propagation API is odd because it can be used with: HTTP headers, queue message metadata, arbitrary dictionaries.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/>
              <a:t>E.g., child process using serialized JSON.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 err="1"/>
              <a:t>HttpClient</a:t>
            </a:r>
            <a:r>
              <a:rPr lang="en-US" dirty="0"/>
              <a:t> &amp; ASP.NET Core use propagation for their Client/Server traces.</a:t>
            </a:r>
          </a:p>
        </p:txBody>
      </p:sp>
    </p:spTree>
    <p:extLst>
      <p:ext uri="{BB962C8B-B14F-4D97-AF65-F5344CB8AC3E}">
        <p14:creationId xmlns:p14="http://schemas.microsoft.com/office/powerpoint/2010/main" val="878065060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F229-E76D-15B8-6E38-E38D1B17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CA4A-099B-9628-304A-D0EEEF8C0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8: Asynchronous Distributed Traces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FE20B9-88C1-DF28-CB83-C7FE6B4E0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924" y="3294603"/>
            <a:ext cx="3479660" cy="22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24698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2F8367F-AB1D-375E-EDD7-94DF4F9EA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Notes: Reducing Noise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8E147-2E0E-F80A-00E7-95B2EB7A42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39186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Logging: </a:t>
            </a:r>
            <a:r>
              <a:rPr lang="en-US" dirty="0">
                <a:hlinkClick r:id="rId3"/>
              </a:rPr>
              <a:t>filters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Traces: </a:t>
            </a:r>
            <a:r>
              <a:rPr lang="en-US" dirty="0">
                <a:hlinkClick r:id="rId4"/>
              </a:rPr>
              <a:t>sampling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Metrics: only turn on what you need (e.g., alerts)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Consider running OTEL Collector; it can filter and transform!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dirty="0"/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 descr="Drinking from the firehose Meme Generator - Imgflip">
            <a:extLst>
              <a:ext uri="{FF2B5EF4-FFF2-40B4-BE49-F238E27FC236}">
                <a16:creationId xmlns:a16="http://schemas.microsoft.com/office/drawing/2014/main" id="{7976156F-F090-895E-FEEF-96C8E832AA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8187" y="4184303"/>
            <a:ext cx="3095625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45950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5930" y="3296644"/>
            <a:ext cx="2912785" cy="470898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Go forth and be awesome!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DAA7EF-C868-0999-EDF2-553DC8E71C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0401" y="1708848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768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Distributed tracing (including across queues):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https://tinyurl.com/OTEL-RabbitMQ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Pitfall: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Know your backend (e.g., </a:t>
            </a:r>
            <a:r>
              <a:rPr lang="en-US" dirty="0" err="1"/>
              <a:t>Graylog’s</a:t>
            </a:r>
            <a:r>
              <a:rPr lang="en-US" dirty="0"/>
              <a:t> </a:t>
            </a:r>
            <a:r>
              <a:rPr lang="en-US" dirty="0" err="1"/>
              <a:t>ElasticSearch</a:t>
            </a:r>
            <a:r>
              <a:rPr lang="en-US" dirty="0"/>
              <a:t> index typing)</a:t>
            </a:r>
          </a:p>
        </p:txBody>
      </p:sp>
    </p:spTree>
    <p:extLst>
      <p:ext uri="{BB962C8B-B14F-4D97-AF65-F5344CB8AC3E}">
        <p14:creationId xmlns:p14="http://schemas.microsoft.com/office/powerpoint/2010/main" val="348245217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25633</TotalTime>
  <Words>1208</Words>
  <Application>Microsoft Office PowerPoint</Application>
  <PresentationFormat>Widescreen</PresentationFormat>
  <Paragraphs>203</Paragraphs>
  <Slides>37</Slides>
  <Notes>27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Arial</vt:lpstr>
      <vt:lpstr>Calibri</vt:lpstr>
      <vt:lpstr>Consolas</vt:lpstr>
      <vt:lpstr>Segoe UI</vt:lpstr>
      <vt:lpstr>Segoe UI Light</vt:lpstr>
      <vt:lpstr>Wingdings</vt:lpstr>
      <vt:lpstr>Theme1</vt:lpstr>
      <vt:lpstr>2023 ThatConf Landscape</vt:lpstr>
      <vt:lpstr>.NET Telemetry in the Real World</vt:lpstr>
      <vt:lpstr>Who is this guy?</vt:lpstr>
      <vt:lpstr>PowerPoint Presentation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Performance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Metrics</vt:lpstr>
      <vt:lpstr>Metrics: Things to measure</vt:lpstr>
      <vt:lpstr>Demo 5: Custom Counter Metric</vt:lpstr>
      <vt:lpstr>Metrics: A word of warning</vt:lpstr>
      <vt:lpstr>Traces</vt:lpstr>
      <vt:lpstr>Traces == Activities == Spans</vt:lpstr>
      <vt:lpstr>Demo 6: Custom Traces</vt:lpstr>
      <vt:lpstr>Distributed Traces</vt:lpstr>
      <vt:lpstr>Demo 7: Distributed Traces</vt:lpstr>
      <vt:lpstr>Asynchronous Distributed Traces</vt:lpstr>
      <vt:lpstr>Demo 8: Asynchronous Distributed Traces</vt:lpstr>
      <vt:lpstr>Final Notes: Reducing Noise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 Cleary</cp:lastModifiedBy>
  <cp:revision>456</cp:revision>
  <dcterms:created xsi:type="dcterms:W3CDTF">2013-02-28T01:41:02Z</dcterms:created>
  <dcterms:modified xsi:type="dcterms:W3CDTF">2026-09-16T09:19:39Z</dcterms:modified>
</cp:coreProperties>
</file>