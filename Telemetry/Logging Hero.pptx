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  <p:sldMasterId id="2147483718" r:id="rId2"/>
    <p:sldMasterId id="2147483723" r:id="rId3"/>
  </p:sldMasterIdLst>
  <p:notesMasterIdLst>
    <p:notesMasterId r:id="rId38"/>
  </p:notesMasterIdLst>
  <p:sldIdLst>
    <p:sldId id="256" r:id="rId4"/>
    <p:sldId id="258" r:id="rId5"/>
    <p:sldId id="409" r:id="rId6"/>
    <p:sldId id="400" r:id="rId7"/>
    <p:sldId id="411" r:id="rId8"/>
    <p:sldId id="414" r:id="rId9"/>
    <p:sldId id="417" r:id="rId10"/>
    <p:sldId id="416" r:id="rId11"/>
    <p:sldId id="418" r:id="rId12"/>
    <p:sldId id="413" r:id="rId13"/>
    <p:sldId id="419" r:id="rId14"/>
    <p:sldId id="412" r:id="rId15"/>
    <p:sldId id="420" r:id="rId16"/>
    <p:sldId id="422" r:id="rId17"/>
    <p:sldId id="421" r:id="rId18"/>
    <p:sldId id="426" r:id="rId19"/>
    <p:sldId id="423" r:id="rId20"/>
    <p:sldId id="427" r:id="rId21"/>
    <p:sldId id="425" r:id="rId22"/>
    <p:sldId id="428" r:id="rId23"/>
    <p:sldId id="429" r:id="rId24"/>
    <p:sldId id="430" r:id="rId25"/>
    <p:sldId id="431" r:id="rId26"/>
    <p:sldId id="432" r:id="rId27"/>
    <p:sldId id="434" r:id="rId28"/>
    <p:sldId id="433" r:id="rId29"/>
    <p:sldId id="435" r:id="rId30"/>
    <p:sldId id="436" r:id="rId31"/>
    <p:sldId id="439" r:id="rId32"/>
    <p:sldId id="437" r:id="rId33"/>
    <p:sldId id="440" r:id="rId34"/>
    <p:sldId id="438" r:id="rId35"/>
    <p:sldId id="441" r:id="rId36"/>
    <p:sldId id="390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tion" id="{40A61D7E-2C9D-4E7E-977C-2B6EC2434CD7}">
          <p14:sldIdLst>
            <p14:sldId id="256"/>
            <p14:sldId id="258"/>
            <p14:sldId id="409"/>
            <p14:sldId id="400"/>
            <p14:sldId id="411"/>
            <p14:sldId id="414"/>
            <p14:sldId id="417"/>
            <p14:sldId id="416"/>
            <p14:sldId id="418"/>
            <p14:sldId id="413"/>
            <p14:sldId id="419"/>
            <p14:sldId id="412"/>
            <p14:sldId id="420"/>
            <p14:sldId id="422"/>
            <p14:sldId id="421"/>
            <p14:sldId id="426"/>
            <p14:sldId id="423"/>
            <p14:sldId id="427"/>
            <p14:sldId id="425"/>
            <p14:sldId id="428"/>
            <p14:sldId id="429"/>
            <p14:sldId id="430"/>
            <p14:sldId id="431"/>
            <p14:sldId id="432"/>
            <p14:sldId id="434"/>
            <p14:sldId id="433"/>
            <p14:sldId id="435"/>
            <p14:sldId id="436"/>
            <p14:sldId id="439"/>
            <p14:sldId id="437"/>
            <p14:sldId id="440"/>
            <p14:sldId id="438"/>
            <p14:sldId id="441"/>
            <p14:sldId id="3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  <a:srgbClr val="385723"/>
    <a:srgbClr val="A9D18E"/>
    <a:srgbClr val="000000"/>
    <a:srgbClr val="C55A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75472" autoAdjust="0"/>
  </p:normalViewPr>
  <p:slideViewPr>
    <p:cSldViewPr snapToGrid="0">
      <p:cViewPr varScale="1">
        <p:scale>
          <a:sx n="95" d="100"/>
          <a:sy n="95" d="100"/>
        </p:scale>
        <p:origin x="1116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presProps" Target="presProps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4E8BCA-0B4F-4373-B78E-3D2899449797}" type="datetimeFigureOut">
              <a:rPr lang="en-US" smtClean="0"/>
              <a:t>10/24/2026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CE3395-F8FF-4336-B2AA-E15575B990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300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 welcome!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0421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b="1" dirty="0"/>
              <a:t>Christian, husband, father, developer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6698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/>
              <a:t>Anyone used telemetry already?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/>
              <a:t>Logs, traces, metrics?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359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95430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3545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TraceSource</a:t>
            </a:r>
            <a:r>
              <a:rPr lang="en-US" dirty="0"/>
              <a:t>: </a:t>
            </a:r>
            <a:r>
              <a:rPr lang="en-US" dirty="0" err="1"/>
              <a:t>TraceEventType</a:t>
            </a:r>
            <a:r>
              <a:rPr lang="en-US" dirty="0"/>
              <a:t> had Error/Warning/Information, but also Start and Stop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8556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/>
              <a:t>(and under the hood of Aspire)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/>
              <a:t>(and example of failures)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/>
              <a:t>(compare how Seq combines logs and traces, while Aspire separates them)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/>
              <a:t>(undo failure code before continuing)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/>
              <a:t>(enable </a:t>
            </a:r>
            <a:r>
              <a:rPr lang="en-US" baseline="0" dirty="0" err="1"/>
              <a:t>MySqlConnector</a:t>
            </a:r>
            <a:r>
              <a:rPr lang="en-US" baseline="0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46198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738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9905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69587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7001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/>
              <a:t>And searching by tags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2016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70929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don’t want to add “User” to </a:t>
            </a:r>
            <a:r>
              <a:rPr lang="en-US" i="1" dirty="0"/>
              <a:t>every single log statement!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3761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5724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97237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“throw context enricher”: we wrote our own for log4net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9583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/>
              <a:t>Including custom </a:t>
            </a:r>
            <a:r>
              <a:rPr lang="en-US" baseline="0"/>
              <a:t>logger implementation.</a:t>
            </a: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5631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99C31-7E7F-F458-7138-E80B21C06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D6CA88-6A5E-9975-F56C-AC7F803651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8BC54C-8385-7109-0FFE-17E08D5AA5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/>
              <a:t>Personally, I don’t find custom metrics to be particularly valuable.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aseline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D6EF2E-6972-D136-8E85-59DC8D2D51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48393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BB4B3-0148-89E0-DF7D-8B3DE1BBD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D421BE-7C0A-6F67-284A-F0E72B9669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DCA926-0AEF-A780-BFAA-DB7246DE2C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aseline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850E3-94DB-2A7B-A397-0ADE18FA89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5585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5EAFC-E633-F3DF-660C-D6C1FF863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A485FC-0791-E125-BA3A-AE0D14489C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DD4C7E-96B5-6EE9-EB64-F5F005F762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aseline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79371-9093-295E-597B-A4D19320B9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55098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415AC-6FF0-1457-9EB0-8A158971D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E59B03-F092-0A92-EF40-DC24A6B76E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8C877C-950D-4CC6-BF36-25E689E16E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aseline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E7B66D-1EE7-5A7B-4F0C-7F2BEA0B4F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0567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you start adding Telemetry, you’ll end up with way too much.</a:t>
            </a:r>
          </a:p>
          <a:p>
            <a:r>
              <a:rPr lang="en-US" dirty="0"/>
              <a:t>Pay attention to signal and noise, and if anyone is actually using the telemetry you publish.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8010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0121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Rectangle 2"/>
          <p:cNvSpPr/>
          <p:nvPr/>
        </p:nvSpPr>
        <p:spPr bwMode="hidden">
          <a:xfrm>
            <a:off x="1" y="1189176"/>
            <a:ext cx="12192000" cy="5668824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2" tIns="45722" rIns="45722" bIns="4572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 fontAlgn="base">
              <a:spcBef>
                <a:spcPct val="0"/>
              </a:spcBef>
              <a:spcAft>
                <a:spcPct val="0"/>
              </a:spcAft>
            </a:pPr>
            <a:endParaRPr lang="en-US" sz="1765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69239" y="1197322"/>
            <a:ext cx="11653522" cy="1956973"/>
          </a:xfrm>
        </p:spPr>
        <p:txBody>
          <a:bodyPr/>
          <a:lstStyle>
            <a:lvl1pPr marL="0" indent="0">
              <a:buNone/>
              <a:defRPr sz="3235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1pPr>
            <a:lvl2pPr marL="339726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2pPr>
            <a:lvl3pPr marL="573090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3pPr>
            <a:lvl4pPr marL="798516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4pPr>
            <a:lvl5pPr marL="1030292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743121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3462927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(White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4115468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1104" y="2086786"/>
            <a:ext cx="9858808" cy="1794661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529" spc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71104" y="285350"/>
            <a:ext cx="9860610" cy="1801436"/>
          </a:xfrm>
          <a:noFill/>
        </p:spPr>
        <p:txBody>
          <a:bodyPr lIns="146304" tIns="91440" rIns="146304" bIns="91440" anchor="t" anchorCtr="0"/>
          <a:lstStyle>
            <a:lvl1pPr>
              <a:defRPr sz="5882" spc="-98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021316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9239" y="2084172"/>
            <a:ext cx="11653523" cy="1796217"/>
          </a:xfrm>
          <a:noFill/>
        </p:spPr>
        <p:txBody>
          <a:bodyPr tIns="91440" bIns="91440" anchor="t" anchorCtr="0"/>
          <a:lstStyle>
            <a:lvl1pPr>
              <a:defRPr sz="8627" spc="-98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15463484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1104" y="3877273"/>
            <a:ext cx="9858808" cy="1794661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529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69303" y="2075840"/>
            <a:ext cx="9860611" cy="1801436"/>
          </a:xfrm>
          <a:noFill/>
        </p:spPr>
        <p:txBody>
          <a:bodyPr lIns="146304" tIns="91440" rIns="146304" bIns="91440" anchor="t" anchorCtr="0"/>
          <a:lstStyle>
            <a:lvl1pPr>
              <a:defRPr sz="5882" spc="-98" baseline="0">
                <a:gradFill>
                  <a:gsLst>
                    <a:gs pos="3333">
                      <a:schemeClr val="tx1"/>
                    </a:gs>
                    <a:gs pos="39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596575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9240" y="2084174"/>
            <a:ext cx="11653523" cy="1796217"/>
          </a:xfrm>
          <a:noFill/>
        </p:spPr>
        <p:txBody>
          <a:bodyPr tIns="91440" bIns="91440" anchor="t" anchorCtr="0"/>
          <a:lstStyle>
            <a:lvl1pPr>
              <a:defRPr sz="8627" spc="-98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260545537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1956973"/>
          </a:xfrm>
        </p:spPr>
        <p:txBody>
          <a:bodyPr/>
          <a:lstStyle>
            <a:lvl1pPr marL="0" indent="0">
              <a:buNone/>
              <a:defRPr sz="3235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1pPr>
            <a:lvl2pPr marL="339726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2pPr>
            <a:lvl3pPr marL="573090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3pPr>
            <a:lvl4pPr marL="798516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4pPr>
            <a:lvl5pPr marL="1030292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8520699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ck Layout - Title and Content">
    <p:bg bwMode="gray"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 bwMode="white">
          <a:xfrm>
            <a:off x="519248" y="1447802"/>
            <a:ext cx="11151917" cy="1932837"/>
          </a:xfrm>
        </p:spPr>
        <p:txBody>
          <a:bodyPr/>
          <a:lstStyle>
            <a:lvl1pPr marL="346009" indent="-346009">
              <a:buClr>
                <a:srgbClr val="FFFFFF"/>
              </a:buClr>
              <a:buSzPct val="70000"/>
              <a:buFont typeface="Wingdings" pitchFamily="2" charset="2"/>
              <a:buChar char="l"/>
              <a:defRPr lang="en-US" sz="3200" kern="120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920573" indent="-457112">
              <a:buClr>
                <a:srgbClr val="FFFFFF"/>
              </a:buClr>
              <a:buSzPct val="70000"/>
              <a:buFont typeface="Wingdings" pitchFamily="2" charset="2"/>
              <a:buChar char="l"/>
              <a:defRPr lang="en-US" sz="2800" kern="120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>
              <a:buClr>
                <a:srgbClr val="FFFFFF"/>
              </a:buClr>
              <a:buSzPct val="70000"/>
              <a:buFont typeface="Wingdings" pitchFamily="2" charset="2"/>
              <a:buChar char="l"/>
              <a:defRPr lang="en-US" sz="2400" kern="120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1717345" indent="-285695">
              <a:buClr>
                <a:srgbClr val="FFFFFF"/>
              </a:buClr>
              <a:buSzPct val="70000"/>
              <a:buFont typeface="Wingdings" pitchFamily="2" charset="2"/>
              <a:buChar char="l"/>
              <a:defRPr lang="en-US" sz="1800" kern="120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549102" indent="-342834">
              <a:buClr>
                <a:srgbClr val="FFFFFF"/>
              </a:buClr>
              <a:buSzPct val="70000"/>
              <a:buFont typeface="Wingdings" pitchFamily="2" charset="2"/>
              <a:buChar char="l"/>
              <a:defRPr lang="en-US" sz="1800" kern="12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</a:lstStyle>
          <a:p>
            <a:pPr marL="463461" lvl="0" indent="-463461" algn="l" defTabSz="685915" rtl="0" eaLnBrk="1" latinLnBrk="0" hangingPunct="1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  <a:buSzPct val="70000"/>
              <a:buFont typeface="Wingdings" pitchFamily="2" charset="2"/>
              <a:buChar char="l"/>
            </a:pPr>
            <a:r>
              <a:rPr lang="en-US"/>
              <a:t>Click to edit Master text styles</a:t>
            </a:r>
          </a:p>
          <a:p>
            <a:pPr marL="463461" lvl="1" indent="-463461" algn="l" defTabSz="685915" rtl="0" eaLnBrk="1" latinLnBrk="0" hangingPunct="1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  <a:buSzPct val="70000"/>
              <a:buFont typeface="Wingdings" pitchFamily="2" charset="2"/>
              <a:buChar char="l"/>
            </a:pPr>
            <a:r>
              <a:rPr lang="en-US"/>
              <a:t>Second level</a:t>
            </a:r>
          </a:p>
          <a:p>
            <a:pPr marL="463461" lvl="2" indent="-463461" algn="l" defTabSz="685915" rtl="0" eaLnBrk="1" latinLnBrk="0" hangingPunct="1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  <a:buSzPct val="70000"/>
              <a:buFont typeface="Wingdings" pitchFamily="2" charset="2"/>
              <a:buChar char="l"/>
            </a:pPr>
            <a:r>
              <a:rPr lang="en-US"/>
              <a:t>Third level</a:t>
            </a:r>
          </a:p>
          <a:p>
            <a:pPr marL="463461" lvl="3" indent="-463461" algn="l" defTabSz="685915" rtl="0" eaLnBrk="1" latinLnBrk="0" hangingPunct="1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  <a:buSzPct val="70000"/>
              <a:buFont typeface="Wingdings" pitchFamily="2" charset="2"/>
              <a:buChar char="l"/>
            </a:pPr>
            <a:r>
              <a:rPr lang="en-US"/>
              <a:t>Fourth level</a:t>
            </a:r>
          </a:p>
          <a:p>
            <a:pPr marL="463461" lvl="4" indent="-463461" algn="l" defTabSz="685915" rtl="0" eaLnBrk="1" latinLnBrk="0" hangingPunct="1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  <a:buSzPct val="70000"/>
              <a:buFont typeface="Wingdings" pitchFamily="2" charset="2"/>
              <a:buChar char="l"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61638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1104" y="2086786"/>
            <a:ext cx="9858808" cy="1794661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529" spc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71104" y="285350"/>
            <a:ext cx="9860610" cy="1801436"/>
          </a:xfrm>
          <a:noFill/>
        </p:spPr>
        <p:txBody>
          <a:bodyPr lIns="146304" tIns="91440" rIns="146304" bIns="91440" anchor="t" anchorCtr="0"/>
          <a:lstStyle>
            <a:lvl1pPr>
              <a:defRPr sz="5882" spc="-98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206641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9239" y="2084172"/>
            <a:ext cx="11653523" cy="1796217"/>
          </a:xfrm>
          <a:noFill/>
        </p:spPr>
        <p:txBody>
          <a:bodyPr tIns="91440" bIns="91440" anchor="t" anchorCtr="0"/>
          <a:lstStyle>
            <a:lvl1pPr>
              <a:defRPr sz="8627" spc="-98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92591850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Rectangle 2"/>
          <p:cNvSpPr/>
          <p:nvPr/>
        </p:nvSpPr>
        <p:spPr bwMode="hidden">
          <a:xfrm>
            <a:off x="1" y="1189176"/>
            <a:ext cx="12192000" cy="5668824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2" tIns="45722" rIns="45722" bIns="4572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 fontAlgn="base">
              <a:spcBef>
                <a:spcPct val="0"/>
              </a:spcBef>
              <a:spcAft>
                <a:spcPct val="0"/>
              </a:spcAft>
            </a:pPr>
            <a:endParaRPr lang="en-US" sz="1765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69239" y="1197322"/>
            <a:ext cx="11653522" cy="1956973"/>
          </a:xfrm>
        </p:spPr>
        <p:txBody>
          <a:bodyPr/>
          <a:lstStyle>
            <a:lvl1pPr marL="0" indent="0">
              <a:buNone/>
              <a:defRPr sz="3235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1pPr>
            <a:lvl2pPr marL="339726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2pPr>
            <a:lvl3pPr marL="573090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3pPr>
            <a:lvl4pPr marL="798516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4pPr>
            <a:lvl5pPr marL="1030292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444532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background with many symbols&#10;&#10;AI-generated content may be incorrect.">
            <a:extLst>
              <a:ext uri="{FF2B5EF4-FFF2-40B4-BE49-F238E27FC236}">
                <a16:creationId xmlns:a16="http://schemas.microsoft.com/office/drawing/2014/main" id="{1902EB1A-F536-DB1A-492A-25707A94E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04"/>
            <a:ext cx="12184741" cy="68540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831022"/>
            <a:ext cx="9144000" cy="1544692"/>
          </a:xfrm>
        </p:spPr>
        <p:txBody>
          <a:bodyPr anchor="b">
            <a:normAutofit/>
          </a:bodyPr>
          <a:lstStyle>
            <a:lvl1pPr algn="ctr">
              <a:defRPr sz="4899">
                <a:solidFill>
                  <a:schemeClr val="bg1"/>
                </a:solidFill>
                <a:latin typeface="DS Wallau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520104"/>
            <a:ext cx="9144000" cy="60953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3" indent="0" algn="ctr">
              <a:buNone/>
              <a:defRPr sz="2000"/>
            </a:lvl2pPr>
            <a:lvl3pPr marL="914406" indent="0" algn="ctr">
              <a:buNone/>
              <a:defRPr sz="1800"/>
            </a:lvl3pPr>
            <a:lvl4pPr marL="1371609" indent="0" algn="ctr">
              <a:buNone/>
              <a:defRPr sz="1600"/>
            </a:lvl4pPr>
            <a:lvl5pPr marL="1828812" indent="0" algn="ctr">
              <a:buNone/>
              <a:defRPr sz="1600"/>
            </a:lvl5pPr>
            <a:lvl6pPr marL="2286015" indent="0" algn="ctr">
              <a:buNone/>
              <a:defRPr sz="1600"/>
            </a:lvl6pPr>
            <a:lvl7pPr marL="2743218" indent="0" algn="ctr">
              <a:buNone/>
              <a:defRPr sz="1600"/>
            </a:lvl7pPr>
            <a:lvl8pPr marL="3200421" indent="0" algn="ctr">
              <a:buNone/>
              <a:defRPr sz="1600"/>
            </a:lvl8pPr>
            <a:lvl9pPr marL="3657624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0" name="Picture 9" descr="A logo with a person on a horse&#10;&#10;AI-generated content may be incorrect.">
            <a:extLst>
              <a:ext uri="{FF2B5EF4-FFF2-40B4-BE49-F238E27FC236}">
                <a16:creationId xmlns:a16="http://schemas.microsoft.com/office/drawing/2014/main" id="{1E6685CF-7B29-FD32-9A4B-63C406585B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8189" y="669654"/>
            <a:ext cx="4608363" cy="2672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8054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rectangular frame with an orange border&#10;&#10;AI-generated content may be incorrect.">
            <a:extLst>
              <a:ext uri="{FF2B5EF4-FFF2-40B4-BE49-F238E27FC236}">
                <a16:creationId xmlns:a16="http://schemas.microsoft.com/office/drawing/2014/main" id="{DFAE49C3-FD11-96CB-18D5-A42FA61FF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8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6140361-A8B9-8C6F-33CB-FD8A62C6E0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31022"/>
            <a:ext cx="9144000" cy="1544692"/>
          </a:xfrm>
        </p:spPr>
        <p:txBody>
          <a:bodyPr anchor="b">
            <a:normAutofit/>
          </a:bodyPr>
          <a:lstStyle>
            <a:lvl1pPr algn="ctr">
              <a:defRPr sz="4899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FDB0775-F5CC-0C4D-08EE-A72A1E00C0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20104"/>
            <a:ext cx="9144000" cy="60953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3" indent="0" algn="ctr">
              <a:buNone/>
              <a:defRPr sz="2000"/>
            </a:lvl2pPr>
            <a:lvl3pPr marL="914406" indent="0" algn="ctr">
              <a:buNone/>
              <a:defRPr sz="1800"/>
            </a:lvl3pPr>
            <a:lvl4pPr marL="1371609" indent="0" algn="ctr">
              <a:buNone/>
              <a:defRPr sz="1600"/>
            </a:lvl4pPr>
            <a:lvl5pPr marL="1828812" indent="0" algn="ctr">
              <a:buNone/>
              <a:defRPr sz="1600"/>
            </a:lvl5pPr>
            <a:lvl6pPr marL="2286015" indent="0" algn="ctr">
              <a:buNone/>
              <a:defRPr sz="1600"/>
            </a:lvl6pPr>
            <a:lvl7pPr marL="2743218" indent="0" algn="ctr">
              <a:buNone/>
              <a:defRPr sz="1600"/>
            </a:lvl7pPr>
            <a:lvl8pPr marL="3200421" indent="0" algn="ctr">
              <a:buNone/>
              <a:defRPr sz="1600"/>
            </a:lvl8pPr>
            <a:lvl9pPr marL="3657624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6FA818-26F8-C9FB-E272-FD0948ABE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4882" y="904654"/>
            <a:ext cx="3902235" cy="21223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0B7E971-29C4-4EB3-3A6A-8F1263D177CA}"/>
              </a:ext>
            </a:extLst>
          </p:cNvPr>
          <p:cNvSpPr txBox="1"/>
          <p:nvPr/>
        </p:nvSpPr>
        <p:spPr>
          <a:xfrm>
            <a:off x="4669147" y="3030220"/>
            <a:ext cx="2920479" cy="3715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33" b="1" dirty="0">
                <a:latin typeface="Segoe UI" panose="020B0502040204020203" pitchFamily="34" charset="0"/>
                <a:cs typeface="Segoe UI" panose="020B0502040204020203" pitchFamily="34" charset="0"/>
              </a:rPr>
              <a:t>2026</a:t>
            </a:r>
            <a:r>
              <a:rPr lang="en-US" sz="1814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814" b="1" dirty="0">
                <a:latin typeface="Alegreya Black" pitchFamily="2" charset="0"/>
              </a:rPr>
              <a:t>MEDIEVAL EDITION</a:t>
            </a:r>
          </a:p>
        </p:txBody>
      </p:sp>
    </p:spTree>
    <p:extLst>
      <p:ext uri="{BB962C8B-B14F-4D97-AF65-F5344CB8AC3E}">
        <p14:creationId xmlns:p14="http://schemas.microsoft.com/office/powerpoint/2010/main" val="29839630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black rectangular frame with an orange border&#10;&#10;AI-generated content may be incorrect.">
            <a:extLst>
              <a:ext uri="{FF2B5EF4-FFF2-40B4-BE49-F238E27FC236}">
                <a16:creationId xmlns:a16="http://schemas.microsoft.com/office/drawing/2014/main" id="{9196C838-1DC3-4544-70FA-5F5EBC70C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8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649" y="433545"/>
            <a:ext cx="10886542" cy="873680"/>
          </a:xfrm>
        </p:spPr>
        <p:txBody>
          <a:bodyPr>
            <a:normAutofit/>
          </a:bodyPr>
          <a:lstStyle>
            <a:lvl1pPr>
              <a:defRPr sz="3992">
                <a:latin typeface="DS Wallau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648" y="1390172"/>
            <a:ext cx="10886542" cy="46853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7" name="Picture 16" descr="A yellow letter on a white background&#10;&#10;AI-generated content may be incorrect.">
            <a:extLst>
              <a:ext uri="{FF2B5EF4-FFF2-40B4-BE49-F238E27FC236}">
                <a16:creationId xmlns:a16="http://schemas.microsoft.com/office/drawing/2014/main" id="{4AAC9E8E-F608-A616-7B95-02FF086E9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7623" y="6156182"/>
            <a:ext cx="1110038" cy="182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8962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649" y="433545"/>
            <a:ext cx="10886542" cy="873680"/>
          </a:xfrm>
        </p:spPr>
        <p:txBody>
          <a:bodyPr>
            <a:normAutofit/>
          </a:bodyPr>
          <a:lstStyle>
            <a:lvl1pPr>
              <a:defRPr sz="3992">
                <a:latin typeface="DS Wallau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648" y="1390172"/>
            <a:ext cx="10886542" cy="46853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7" name="Picture 16" descr="A yellow letter on a white background&#10;&#10;AI-generated content may be incorrect.">
            <a:extLst>
              <a:ext uri="{FF2B5EF4-FFF2-40B4-BE49-F238E27FC236}">
                <a16:creationId xmlns:a16="http://schemas.microsoft.com/office/drawing/2014/main" id="{4AAC9E8E-F608-A616-7B95-02FF086E9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4398" y="6494905"/>
            <a:ext cx="1110038" cy="182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8788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7495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401165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3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6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12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15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18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2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2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 descr="A yellow letter on a white background&#10;&#10;AI-generated content may be incorrect.">
            <a:extLst>
              <a:ext uri="{FF2B5EF4-FFF2-40B4-BE49-F238E27FC236}">
                <a16:creationId xmlns:a16="http://schemas.microsoft.com/office/drawing/2014/main" id="{D67C59FF-DA45-72AE-E6C1-C23B16B83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4398" y="6494905"/>
            <a:ext cx="1110038" cy="182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1162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8" name="Picture 7" descr="A yellow letter on a white background&#10;&#10;AI-generated content may be incorrect.">
            <a:extLst>
              <a:ext uri="{FF2B5EF4-FFF2-40B4-BE49-F238E27FC236}">
                <a16:creationId xmlns:a16="http://schemas.microsoft.com/office/drawing/2014/main" id="{12F15329-9985-5A8C-BBE8-A37A07ED3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4398" y="6494905"/>
            <a:ext cx="1110038" cy="182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6100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3" indent="0">
              <a:buNone/>
              <a:defRPr sz="2000" b="1"/>
            </a:lvl2pPr>
            <a:lvl3pPr marL="914406" indent="0">
              <a:buNone/>
              <a:defRPr sz="1800" b="1"/>
            </a:lvl3pPr>
            <a:lvl4pPr marL="1371609" indent="0">
              <a:buNone/>
              <a:defRPr sz="1600" b="1"/>
            </a:lvl4pPr>
            <a:lvl5pPr marL="1828812" indent="0">
              <a:buNone/>
              <a:defRPr sz="1600" b="1"/>
            </a:lvl5pPr>
            <a:lvl6pPr marL="2286015" indent="0">
              <a:buNone/>
              <a:defRPr sz="1600" b="1"/>
            </a:lvl6pPr>
            <a:lvl7pPr marL="2743218" indent="0">
              <a:buNone/>
              <a:defRPr sz="1600" b="1"/>
            </a:lvl7pPr>
            <a:lvl8pPr marL="3200421" indent="0">
              <a:buNone/>
              <a:defRPr sz="1600" b="1"/>
            </a:lvl8pPr>
            <a:lvl9pPr marL="365762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3" indent="0">
              <a:buNone/>
              <a:defRPr sz="2000" b="1"/>
            </a:lvl2pPr>
            <a:lvl3pPr marL="914406" indent="0">
              <a:buNone/>
              <a:defRPr sz="1800" b="1"/>
            </a:lvl3pPr>
            <a:lvl4pPr marL="1371609" indent="0">
              <a:buNone/>
              <a:defRPr sz="1600" b="1"/>
            </a:lvl4pPr>
            <a:lvl5pPr marL="1828812" indent="0">
              <a:buNone/>
              <a:defRPr sz="1600" b="1"/>
            </a:lvl5pPr>
            <a:lvl6pPr marL="2286015" indent="0">
              <a:buNone/>
              <a:defRPr sz="1600" b="1"/>
            </a:lvl6pPr>
            <a:lvl7pPr marL="2743218" indent="0">
              <a:buNone/>
              <a:defRPr sz="1600" b="1"/>
            </a:lvl7pPr>
            <a:lvl8pPr marL="3200421" indent="0">
              <a:buNone/>
              <a:defRPr sz="1600" b="1"/>
            </a:lvl8pPr>
            <a:lvl9pPr marL="365762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08624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rectangular frame with an orange border&#10;&#10;AI-generated content may be incorrect.">
            <a:extLst>
              <a:ext uri="{FF2B5EF4-FFF2-40B4-BE49-F238E27FC236}">
                <a16:creationId xmlns:a16="http://schemas.microsoft.com/office/drawing/2014/main" id="{4D1255D9-DB33-2965-363C-00F2557C2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" y="0"/>
            <a:ext cx="12191680" cy="6858000"/>
          </a:xfrm>
          <a:prstGeom prst="rect">
            <a:avLst/>
          </a:prstGeom>
        </p:spPr>
      </p:pic>
      <p:pic>
        <p:nvPicPr>
          <p:cNvPr id="8" name="Picture 7" descr="A yellow letter on a white background&#10;&#10;AI-generated content may be incorrect.">
            <a:extLst>
              <a:ext uri="{FF2B5EF4-FFF2-40B4-BE49-F238E27FC236}">
                <a16:creationId xmlns:a16="http://schemas.microsoft.com/office/drawing/2014/main" id="{622E7BF1-7CD5-6D5E-D187-C08AAF571F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7623" y="6156182"/>
            <a:ext cx="1110038" cy="1820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2074" y="471821"/>
            <a:ext cx="11115587" cy="700959"/>
          </a:xfrm>
        </p:spPr>
        <p:txBody>
          <a:bodyPr>
            <a:normAutofit/>
          </a:bodyPr>
          <a:lstStyle>
            <a:lvl1pPr>
              <a:defRPr sz="3266">
                <a:latin typeface="DS Wallau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9696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2074" y="471821"/>
            <a:ext cx="11115587" cy="700959"/>
          </a:xfrm>
        </p:spPr>
        <p:txBody>
          <a:bodyPr>
            <a:normAutofit/>
          </a:bodyPr>
          <a:lstStyle>
            <a:lvl1pPr>
              <a:defRPr sz="3266">
                <a:latin typeface="DS Wallau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A yellow letter on a white background&#10;&#10;AI-generated content may be incorrect.">
            <a:extLst>
              <a:ext uri="{FF2B5EF4-FFF2-40B4-BE49-F238E27FC236}">
                <a16:creationId xmlns:a16="http://schemas.microsoft.com/office/drawing/2014/main" id="{D509C700-536C-AF8B-34C4-D50DC6E2E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4398" y="6494905"/>
            <a:ext cx="1110038" cy="182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4241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yellow letter on a white background&#10;&#10;AI-generated content may be incorrect.">
            <a:extLst>
              <a:ext uri="{FF2B5EF4-FFF2-40B4-BE49-F238E27FC236}">
                <a16:creationId xmlns:a16="http://schemas.microsoft.com/office/drawing/2014/main" id="{29B1098A-3DD4-CD9F-F7AE-B6A37F61E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4398" y="6494905"/>
            <a:ext cx="1110038" cy="182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973923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3" indent="0">
              <a:buNone/>
              <a:defRPr sz="1400"/>
            </a:lvl2pPr>
            <a:lvl3pPr marL="914406" indent="0">
              <a:buNone/>
              <a:defRPr sz="1200"/>
            </a:lvl3pPr>
            <a:lvl4pPr marL="1371609" indent="0">
              <a:buNone/>
              <a:defRPr sz="1000"/>
            </a:lvl4pPr>
            <a:lvl5pPr marL="1828812" indent="0">
              <a:buNone/>
              <a:defRPr sz="1000"/>
            </a:lvl5pPr>
            <a:lvl6pPr marL="2286015" indent="0">
              <a:buNone/>
              <a:defRPr sz="1000"/>
            </a:lvl6pPr>
            <a:lvl7pPr marL="2743218" indent="0">
              <a:buNone/>
              <a:defRPr sz="1000"/>
            </a:lvl7pPr>
            <a:lvl8pPr marL="3200421" indent="0">
              <a:buNone/>
              <a:defRPr sz="1000"/>
            </a:lvl8pPr>
            <a:lvl9pPr marL="3657624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A yellow letter on a white background&#10;&#10;AI-generated content may be incorrect.">
            <a:extLst>
              <a:ext uri="{FF2B5EF4-FFF2-40B4-BE49-F238E27FC236}">
                <a16:creationId xmlns:a16="http://schemas.microsoft.com/office/drawing/2014/main" id="{A41C9F9B-2471-681D-B973-66552767B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4398" y="6494905"/>
            <a:ext cx="1110038" cy="182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3537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3" indent="0">
              <a:buNone/>
              <a:defRPr sz="2800"/>
            </a:lvl2pPr>
            <a:lvl3pPr marL="914406" indent="0">
              <a:buNone/>
              <a:defRPr sz="2400"/>
            </a:lvl3pPr>
            <a:lvl4pPr marL="1371609" indent="0">
              <a:buNone/>
              <a:defRPr sz="2000"/>
            </a:lvl4pPr>
            <a:lvl5pPr marL="1828812" indent="0">
              <a:buNone/>
              <a:defRPr sz="2000"/>
            </a:lvl5pPr>
            <a:lvl6pPr marL="2286015" indent="0">
              <a:buNone/>
              <a:defRPr sz="2000"/>
            </a:lvl6pPr>
            <a:lvl7pPr marL="2743218" indent="0">
              <a:buNone/>
              <a:defRPr sz="2000"/>
            </a:lvl7pPr>
            <a:lvl8pPr marL="3200421" indent="0">
              <a:buNone/>
              <a:defRPr sz="2000"/>
            </a:lvl8pPr>
            <a:lvl9pPr marL="3657624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3" indent="0">
              <a:buNone/>
              <a:defRPr sz="1400"/>
            </a:lvl2pPr>
            <a:lvl3pPr marL="914406" indent="0">
              <a:buNone/>
              <a:defRPr sz="1200"/>
            </a:lvl3pPr>
            <a:lvl4pPr marL="1371609" indent="0">
              <a:buNone/>
              <a:defRPr sz="1000"/>
            </a:lvl4pPr>
            <a:lvl5pPr marL="1828812" indent="0">
              <a:buNone/>
              <a:defRPr sz="1000"/>
            </a:lvl5pPr>
            <a:lvl6pPr marL="2286015" indent="0">
              <a:buNone/>
              <a:defRPr sz="1000"/>
            </a:lvl6pPr>
            <a:lvl7pPr marL="2743218" indent="0">
              <a:buNone/>
              <a:defRPr sz="1000"/>
            </a:lvl7pPr>
            <a:lvl8pPr marL="3200421" indent="0">
              <a:buNone/>
              <a:defRPr sz="1000"/>
            </a:lvl8pPr>
            <a:lvl9pPr marL="3657624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A yellow letter on a white background&#10;&#10;AI-generated content may be incorrect.">
            <a:extLst>
              <a:ext uri="{FF2B5EF4-FFF2-40B4-BE49-F238E27FC236}">
                <a16:creationId xmlns:a16="http://schemas.microsoft.com/office/drawing/2014/main" id="{1CF946C4-0F63-472B-26BD-598434F71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4398" y="6494905"/>
            <a:ext cx="1110038" cy="182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16448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 descr="A yellow letter on a white background&#10;&#10;AI-generated content may be incorrect.">
            <a:extLst>
              <a:ext uri="{FF2B5EF4-FFF2-40B4-BE49-F238E27FC236}">
                <a16:creationId xmlns:a16="http://schemas.microsoft.com/office/drawing/2014/main" id="{FEC22D41-9982-B266-6FD5-5801102B5B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4398" y="6494905"/>
            <a:ext cx="1110038" cy="182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2252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6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 descr="A yellow letter on a white background&#10;&#10;AI-generated content may be incorrect.">
            <a:extLst>
              <a:ext uri="{FF2B5EF4-FFF2-40B4-BE49-F238E27FC236}">
                <a16:creationId xmlns:a16="http://schemas.microsoft.com/office/drawing/2014/main" id="{E83D6C74-A258-C7FA-C654-49C7EA25B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4398" y="6494905"/>
            <a:ext cx="1110038" cy="182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32742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1104" y="2086786"/>
            <a:ext cx="9858808" cy="1794661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529" spc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71104" y="285350"/>
            <a:ext cx="9860610" cy="1801436"/>
          </a:xfrm>
          <a:noFill/>
        </p:spPr>
        <p:txBody>
          <a:bodyPr lIns="146304" tIns="91440" rIns="146304" bIns="91440" anchor="t" anchorCtr="0"/>
          <a:lstStyle>
            <a:lvl1pPr>
              <a:defRPr sz="5882" spc="-98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958969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9239" y="2084172"/>
            <a:ext cx="11653523" cy="1796217"/>
          </a:xfrm>
          <a:noFill/>
        </p:spPr>
        <p:txBody>
          <a:bodyPr tIns="91440" bIns="91440" anchor="t" anchorCtr="0"/>
          <a:lstStyle>
            <a:lvl1pPr>
              <a:defRPr sz="8627" spc="-98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4232494721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69239" y="1197322"/>
            <a:ext cx="11653522" cy="1956973"/>
          </a:xfrm>
        </p:spPr>
        <p:txBody>
          <a:bodyPr/>
          <a:lstStyle>
            <a:lvl1pPr marL="0" indent="0">
              <a:buNone/>
              <a:defRPr sz="3235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1pPr>
            <a:lvl2pPr marL="339726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2pPr>
            <a:lvl3pPr marL="573090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3pPr>
            <a:lvl4pPr marL="798516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4pPr>
            <a:lvl5pPr marL="1030292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204008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78C6EE4-4C3E-4260-6DA3-CA8CD1EA310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64" y="1785"/>
            <a:ext cx="12187071" cy="6854429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9240" y="289511"/>
            <a:ext cx="11655840" cy="89966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69241" y="1189178"/>
            <a:ext cx="11653521" cy="2052030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20B82E-F3CB-0B36-22B3-80B0D127A051}"/>
              </a:ext>
            </a:extLst>
          </p:cNvPr>
          <p:cNvSpPr txBox="1"/>
          <p:nvPr userDrawn="1"/>
        </p:nvSpPr>
        <p:spPr>
          <a:xfrm>
            <a:off x="0" y="6230136"/>
            <a:ext cx="12192000" cy="6278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StephenCleary.com</a:t>
            </a:r>
          </a:p>
        </p:txBody>
      </p:sp>
    </p:spTree>
    <p:extLst>
      <p:ext uri="{BB962C8B-B14F-4D97-AF65-F5344CB8AC3E}">
        <p14:creationId xmlns:p14="http://schemas.microsoft.com/office/powerpoint/2010/main" val="37304003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22" r:id="rId9"/>
  </p:sldLayoutIdLst>
  <p:transition>
    <p:fade/>
  </p:transition>
  <p:txStyles>
    <p:titleStyle>
      <a:lvl1pPr algn="l" defTabSz="914367" rtl="0" eaLnBrk="1" latinLnBrk="0" hangingPunct="1">
        <a:lnSpc>
          <a:spcPct val="90000"/>
        </a:lnSpc>
        <a:spcBef>
          <a:spcPct val="0"/>
        </a:spcBef>
        <a:buNone/>
        <a:defRPr lang="en-US" sz="5294" b="0" kern="1200" cap="none" spc="-100" baseline="0" dirty="0" smtClean="0">
          <a:ln w="3175">
            <a:noFill/>
          </a:ln>
          <a:solidFill>
            <a:schemeClr val="bg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336145" marR="0" indent="-336145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3921" kern="1200" spc="0" baseline="0">
          <a:solidFill>
            <a:schemeClr val="bg1"/>
          </a:solidFill>
          <a:latin typeface="+mj-lt"/>
          <a:ea typeface="+mn-ea"/>
          <a:cs typeface="+mn-cs"/>
        </a:defRPr>
      </a:lvl1pPr>
      <a:lvl2pPr marL="572691" marR="0" indent="-236546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353" kern="1200" spc="0" baseline="0">
          <a:solidFill>
            <a:schemeClr val="bg1"/>
          </a:solidFill>
          <a:latin typeface="+mn-lt"/>
          <a:ea typeface="+mn-ea"/>
          <a:cs typeface="+mn-cs"/>
        </a:defRPr>
      </a:lvl2pPr>
      <a:lvl3pPr marL="784338" marR="0" indent="-224097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961" kern="1200" spc="0" baseline="0">
          <a:solidFill>
            <a:schemeClr val="bg1"/>
          </a:solidFill>
          <a:latin typeface="+mn-lt"/>
          <a:ea typeface="+mn-ea"/>
          <a:cs typeface="+mn-cs"/>
        </a:defRPr>
      </a:lvl3pPr>
      <a:lvl4pPr marL="1008435" marR="0" indent="-224097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765" kern="1200" spc="0" baseline="0">
          <a:solidFill>
            <a:schemeClr val="bg1"/>
          </a:solidFill>
          <a:latin typeface="+mn-lt"/>
          <a:ea typeface="+mn-ea"/>
          <a:cs typeface="+mn-cs"/>
        </a:defRPr>
      </a:lvl4pPr>
      <a:lvl5pPr marL="1232531" marR="0" indent="-224097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765" kern="1200" spc="0" baseline="0">
          <a:solidFill>
            <a:schemeClr val="bg1"/>
          </a:solidFill>
          <a:latin typeface="+mn-lt"/>
          <a:ea typeface="+mn-ea"/>
          <a:cs typeface="+mn-cs"/>
        </a:defRPr>
      </a:lvl5pPr>
      <a:lvl6pPr marL="2514509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6pPr>
      <a:lvl7pPr marL="2971693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7pPr>
      <a:lvl8pPr marL="3428877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8pPr>
      <a:lvl9pPr marL="3886061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57183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914367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371550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4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8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743101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4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657469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D763CE6-E6F4-AA5B-4A24-01806779A2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399"/>
            <a:ext cx="12192000" cy="68572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9240" y="289511"/>
            <a:ext cx="11655840" cy="89966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69241" y="1189178"/>
            <a:ext cx="11653521" cy="2052030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C68B18-36E2-28A3-4D6A-5300ABB83ED5}"/>
              </a:ext>
            </a:extLst>
          </p:cNvPr>
          <p:cNvSpPr txBox="1"/>
          <p:nvPr/>
        </p:nvSpPr>
        <p:spPr>
          <a:xfrm>
            <a:off x="4584700" y="6006613"/>
            <a:ext cx="3022600" cy="6278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StephenCleary.com</a:t>
            </a:r>
          </a:p>
        </p:txBody>
      </p:sp>
    </p:spTree>
    <p:extLst>
      <p:ext uri="{BB962C8B-B14F-4D97-AF65-F5344CB8AC3E}">
        <p14:creationId xmlns:p14="http://schemas.microsoft.com/office/powerpoint/2010/main" val="9813215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</p:sldLayoutIdLst>
  <p:transition>
    <p:fade/>
  </p:transition>
  <p:txStyles>
    <p:titleStyle>
      <a:lvl1pPr algn="l" defTabSz="914367" rtl="0" eaLnBrk="1" latinLnBrk="0" hangingPunct="1">
        <a:lnSpc>
          <a:spcPct val="90000"/>
        </a:lnSpc>
        <a:spcBef>
          <a:spcPct val="0"/>
        </a:spcBef>
        <a:buNone/>
        <a:defRPr lang="en-US" sz="5294" b="0" kern="1200" cap="none" spc="-100" baseline="0" dirty="0" smtClean="0">
          <a:ln w="3175">
            <a:noFill/>
          </a:ln>
          <a:solidFill>
            <a:schemeClr val="bg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336145" marR="0" indent="-336145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3921" kern="1200" spc="0" baseline="0">
          <a:solidFill>
            <a:schemeClr val="bg1"/>
          </a:solidFill>
          <a:latin typeface="+mj-lt"/>
          <a:ea typeface="+mn-ea"/>
          <a:cs typeface="+mn-cs"/>
        </a:defRPr>
      </a:lvl1pPr>
      <a:lvl2pPr marL="572691" marR="0" indent="-236546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353" kern="1200" spc="0" baseline="0">
          <a:solidFill>
            <a:schemeClr val="bg1"/>
          </a:solidFill>
          <a:latin typeface="+mn-lt"/>
          <a:ea typeface="+mn-ea"/>
          <a:cs typeface="+mn-cs"/>
        </a:defRPr>
      </a:lvl2pPr>
      <a:lvl3pPr marL="784338" marR="0" indent="-224097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961" kern="1200" spc="0" baseline="0">
          <a:solidFill>
            <a:schemeClr val="bg1"/>
          </a:solidFill>
          <a:latin typeface="+mn-lt"/>
          <a:ea typeface="+mn-ea"/>
          <a:cs typeface="+mn-cs"/>
        </a:defRPr>
      </a:lvl3pPr>
      <a:lvl4pPr marL="1008435" marR="0" indent="-224097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765" kern="1200" spc="0" baseline="0">
          <a:solidFill>
            <a:schemeClr val="bg1"/>
          </a:solidFill>
          <a:latin typeface="+mn-lt"/>
          <a:ea typeface="+mn-ea"/>
          <a:cs typeface="+mn-cs"/>
        </a:defRPr>
      </a:lvl4pPr>
      <a:lvl5pPr marL="1232531" marR="0" indent="-224097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765" kern="1200" spc="0" baseline="0">
          <a:solidFill>
            <a:schemeClr val="bg1"/>
          </a:solidFill>
          <a:latin typeface="+mn-lt"/>
          <a:ea typeface="+mn-ea"/>
          <a:cs typeface="+mn-cs"/>
        </a:defRPr>
      </a:lvl5pPr>
      <a:lvl6pPr marL="2514509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6pPr>
      <a:lvl7pPr marL="2971693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7pPr>
      <a:lvl8pPr marL="3428877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8pPr>
      <a:lvl9pPr marL="3886061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57183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914367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371550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4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8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743101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4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657469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0630" y="202940"/>
            <a:ext cx="11465999" cy="8736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0630" y="1224770"/>
            <a:ext cx="11465999" cy="5022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 descr="A black and white image of a person riding a horse&#10;&#10;AI-generated content may be incorrect.">
            <a:extLst>
              <a:ext uri="{FF2B5EF4-FFF2-40B4-BE49-F238E27FC236}">
                <a16:creationId xmlns:a16="http://schemas.microsoft.com/office/drawing/2014/main" id="{1F8EBD09-8409-063F-2700-C2712DDAD6B1}"/>
              </a:ext>
            </a:extLst>
          </p:cNvPr>
          <p:cNvPicPr>
            <a:picLocks noChangeAspect="1"/>
          </p:cNvPicPr>
          <p:nvPr/>
        </p:nvPicPr>
        <p:blipFill>
          <a:blip r:embed="rId19">
            <a:alphaModFix amt="20000"/>
          </a:blip>
          <a:stretch>
            <a:fillRect/>
          </a:stretch>
        </p:blipFill>
        <p:spPr>
          <a:xfrm>
            <a:off x="6865270" y="107649"/>
            <a:ext cx="5326730" cy="68583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5FA4438-2DFD-8FC3-E0EB-D83E423A54FA}"/>
              </a:ext>
            </a:extLst>
          </p:cNvPr>
          <p:cNvSpPr txBox="1"/>
          <p:nvPr userDrawn="1"/>
        </p:nvSpPr>
        <p:spPr>
          <a:xfrm>
            <a:off x="7629" y="5978731"/>
            <a:ext cx="12192000" cy="6278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StephenCleary.com</a:t>
            </a:r>
          </a:p>
        </p:txBody>
      </p:sp>
    </p:spTree>
    <p:extLst>
      <p:ext uri="{BB962C8B-B14F-4D97-AF65-F5344CB8AC3E}">
        <p14:creationId xmlns:p14="http://schemas.microsoft.com/office/powerpoint/2010/main" val="384877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  <p:sldLayoutId id="2147483739" r:id="rId16"/>
    <p:sldLayoutId id="2147483741" r:id="rId17"/>
  </p:sldLayoutIdLst>
  <p:transition>
    <p:fade/>
  </p:transition>
  <p:txStyles>
    <p:titleStyle>
      <a:lvl1pPr algn="l" defTabSz="914406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DS Wallau" panose="02000000000000000000" pitchFamily="2" charset="0"/>
          <a:ea typeface="+mj-ea"/>
          <a:cs typeface="+mj-cs"/>
        </a:defRPr>
      </a:lvl1pPr>
    </p:titleStyle>
    <p:bodyStyle>
      <a:lvl1pPr marL="228602" indent="-228602" algn="l" defTabSz="91440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legreya Medium" pitchFamily="2" charset="0"/>
          <a:ea typeface="+mn-ea"/>
          <a:cs typeface="+mn-cs"/>
        </a:defRPr>
      </a:lvl1pPr>
      <a:lvl2pPr marL="685804" indent="-228602" algn="l" defTabSz="91440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legreya Medium" pitchFamily="2" charset="0"/>
          <a:ea typeface="+mn-ea"/>
          <a:cs typeface="+mn-cs"/>
        </a:defRPr>
      </a:lvl2pPr>
      <a:lvl3pPr marL="1143008" indent="-228602" algn="l" defTabSz="91440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legreya Medium" pitchFamily="2" charset="0"/>
          <a:ea typeface="+mn-ea"/>
          <a:cs typeface="+mn-cs"/>
        </a:defRPr>
      </a:lvl3pPr>
      <a:lvl4pPr marL="1600210" indent="-228602" algn="l" defTabSz="91440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legreya Medium" pitchFamily="2" charset="0"/>
          <a:ea typeface="+mn-ea"/>
          <a:cs typeface="+mn-cs"/>
        </a:defRPr>
      </a:lvl4pPr>
      <a:lvl5pPr marL="2057413" indent="-228602" algn="l" defTabSz="91440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legreya Medium" pitchFamily="2" charset="0"/>
          <a:ea typeface="+mn-ea"/>
          <a:cs typeface="+mn-cs"/>
        </a:defRPr>
      </a:lvl5pPr>
      <a:lvl6pPr marL="2514617" indent="-228602" algn="l" defTabSz="91440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19" indent="-228602" algn="l" defTabSz="91440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23" indent="-228602" algn="l" defTabSz="91440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25" indent="-228602" algn="l" defTabSz="91440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3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6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9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12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15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18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21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24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hyperlink" Target="https://github.com/StephenCleary/LocalTelemetry" TargetMode="Externa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messagetemplates.org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6.jpeg"/><Relationship Id="rId4" Type="http://schemas.openxmlformats.org/officeDocument/2006/relationships/hyperlink" Target="https://12factor.net/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tinyurl.com/WillAzureMonitorSupportOTLP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8.jpeg"/><Relationship Id="rId4" Type="http://schemas.openxmlformats.org/officeDocument/2006/relationships/hyperlink" Target="https://tinyurl.com/AWS-OTEL-logs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tinyurl.com/BeginScope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Relationship Id="rId4" Type="http://schemas.openxmlformats.org/officeDocument/2006/relationships/hyperlink" Target="https://github.com/stephenCleary/Logging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tephenCleary/Logging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9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tinyurl.com/OTEL-RabbitMQ" TargetMode="External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spnet/core/fundamentals/logging/?view=aspnetcore-10.0&amp;WT.mc_id=DT-MVP-5000058#apply-log-filter-rules-in-code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4.jpg"/><Relationship Id="rId5" Type="http://schemas.openxmlformats.org/officeDocument/2006/relationships/hyperlink" Target="https://www.honeycomb.io/blog/bringing-most-advanced-sampling-opentelemetry-collector" TargetMode="External"/><Relationship Id="rId4" Type="http://schemas.openxmlformats.org/officeDocument/2006/relationships/hyperlink" Target="https://learn.microsoft.com/en-us/dotnet/core/diagnostics/distributed-tracing-concepts?WT.mc_id=DT-MVP-5000058#sampling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.NET Telemetry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in the Real World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839525-4981-AC8B-723B-4261B9EC3B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Stephen Cleary</a:t>
            </a:r>
          </a:p>
        </p:txBody>
      </p:sp>
    </p:spTree>
    <p:extLst>
      <p:ext uri="{BB962C8B-B14F-4D97-AF65-F5344CB8AC3E}">
        <p14:creationId xmlns:p14="http://schemas.microsoft.com/office/powerpoint/2010/main" val="383326225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is this guy?</a:t>
            </a:r>
          </a:p>
        </p:txBody>
      </p:sp>
      <p:pic>
        <p:nvPicPr>
          <p:cNvPr id="3" name="Picture 2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8007" y="4201227"/>
            <a:ext cx="3435985" cy="1389380"/>
          </a:xfrm>
          <a:prstGeom prst="rect">
            <a:avLst/>
          </a:prstGeom>
        </p:spPr>
      </p:pic>
      <p:pic>
        <p:nvPicPr>
          <p:cNvPr id="2" name="Picture 1" descr="A person with her hands on her head&#10;&#10;AI-generated content may be incorrect.">
            <a:extLst>
              <a:ext uri="{FF2B5EF4-FFF2-40B4-BE49-F238E27FC236}">
                <a16:creationId xmlns:a16="http://schemas.microsoft.com/office/drawing/2014/main" id="{F2270747-7385-F384-62B4-CCF49945B4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7967" y="981537"/>
            <a:ext cx="3072713" cy="4609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9089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Telemetry</a:t>
            </a:r>
          </a:p>
        </p:txBody>
      </p:sp>
    </p:spTree>
    <p:extLst>
      <p:ext uri="{BB962C8B-B14F-4D97-AF65-F5344CB8AC3E}">
        <p14:creationId xmlns:p14="http://schemas.microsoft.com/office/powerpoint/2010/main" val="246814734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Telemetry Terminology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Tx/>
              <a:buChar char="-"/>
            </a:pPr>
            <a:r>
              <a:rPr lang="en-US" dirty="0"/>
              <a:t>Open Telemetry (OTEL)</a:t>
            </a:r>
          </a:p>
          <a:p>
            <a:pPr marL="457200" indent="-457200">
              <a:buFontTx/>
              <a:buChar char="-"/>
            </a:pPr>
            <a:endParaRPr lang="en-US" dirty="0"/>
          </a:p>
          <a:p>
            <a:pPr marL="457200" indent="-457200">
              <a:buFontTx/>
              <a:buChar char="-"/>
            </a:pPr>
            <a:r>
              <a:rPr lang="en-US" dirty="0"/>
              <a:t>Open Telemetry Protocol (OTLP)</a:t>
            </a:r>
          </a:p>
          <a:p>
            <a:pPr marL="796926" lvl="1" indent="-457200">
              <a:buFontTx/>
              <a:buChar char="-"/>
            </a:pPr>
            <a:r>
              <a:rPr lang="en-US" dirty="0"/>
              <a:t>gRPC:4317 / HTTP:4318</a:t>
            </a:r>
          </a:p>
        </p:txBody>
      </p:sp>
    </p:spTree>
    <p:extLst>
      <p:ext uri="{BB962C8B-B14F-4D97-AF65-F5344CB8AC3E}">
        <p14:creationId xmlns:p14="http://schemas.microsoft.com/office/powerpoint/2010/main" val="267879341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Telemetry Terminology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Tx/>
              <a:buChar char="-"/>
            </a:pPr>
            <a:r>
              <a:rPr lang="en-US" dirty="0"/>
              <a:t>Logs</a:t>
            </a:r>
          </a:p>
          <a:p>
            <a:pPr marL="457200" indent="-457200">
              <a:buFontTx/>
              <a:buChar char="-"/>
            </a:pPr>
            <a:r>
              <a:rPr lang="en-US" dirty="0"/>
              <a:t>Traces</a:t>
            </a:r>
          </a:p>
          <a:p>
            <a:pPr marL="796926" lvl="1" indent="-457200">
              <a:buFontTx/>
              <a:buChar char="-"/>
            </a:pPr>
            <a:r>
              <a:rPr lang="en-US" dirty="0"/>
              <a:t>Spans.</a:t>
            </a:r>
            <a:br>
              <a:rPr lang="en-US" dirty="0"/>
            </a:br>
            <a:r>
              <a:rPr lang="en-US" dirty="0"/>
              <a:t>Think waterfall diagrams or Start/Stop events.</a:t>
            </a:r>
          </a:p>
          <a:p>
            <a:pPr marL="457200" indent="-457200">
              <a:buFontTx/>
              <a:buChar char="-"/>
            </a:pPr>
            <a:r>
              <a:rPr lang="en-US" dirty="0"/>
              <a:t>Metrics</a:t>
            </a:r>
          </a:p>
          <a:p>
            <a:pPr marL="796926" lvl="1" indent="-457200">
              <a:buFontTx/>
              <a:buChar char="-"/>
            </a:pPr>
            <a:r>
              <a:rPr lang="en-US" dirty="0"/>
              <a:t>Measurements.</a:t>
            </a:r>
            <a:br>
              <a:rPr lang="en-US" dirty="0"/>
            </a:br>
            <a:r>
              <a:rPr lang="en-US" dirty="0"/>
              <a:t>Think Prometheus/Grafana dashboards.</a:t>
            </a:r>
          </a:p>
          <a:p>
            <a:pPr marL="0" indent="0">
              <a:buNone/>
            </a:pPr>
            <a:endParaRPr lang="en-US" i="1" dirty="0"/>
          </a:p>
          <a:p>
            <a:pPr marL="457200" indent="-457200">
              <a:buFontTx/>
              <a:buChar char="-"/>
            </a:pPr>
            <a:r>
              <a:rPr lang="en-US" i="1" dirty="0"/>
              <a:t>Timing</a:t>
            </a:r>
            <a:r>
              <a:rPr lang="en-US" dirty="0"/>
              <a:t> is a grey area; prefer traces unless you need metric.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279CA40-DB85-5F5F-23F4-BDD4177C6D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0461" y="103823"/>
            <a:ext cx="3012299" cy="3873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5416614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57E44-C671-4C6A-9C66-DC498D09B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Telemetry History: Metrics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F2809-96C8-7A27-A245-2B844F255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Tx/>
              <a:buChar char="-"/>
            </a:pPr>
            <a:endParaRPr lang="en-US" dirty="0"/>
          </a:p>
          <a:p>
            <a:pPr marL="457200" indent="-457200">
              <a:buFontTx/>
              <a:buChar char="-"/>
            </a:pPr>
            <a:r>
              <a:rPr lang="en-US" dirty="0"/>
              <a:t>In the beginning, there were </a:t>
            </a:r>
            <a:r>
              <a:rPr lang="en-US" dirty="0" err="1"/>
              <a:t>PerformanceCounters</a:t>
            </a:r>
            <a:endParaRPr lang="en-US" dirty="0"/>
          </a:p>
          <a:p>
            <a:pPr marL="457200" indent="-457200">
              <a:buFontTx/>
              <a:buChar char="-"/>
            </a:pPr>
            <a:r>
              <a:rPr lang="en-US" dirty="0" err="1"/>
              <a:t>PerformanceCounters</a:t>
            </a:r>
            <a:r>
              <a:rPr lang="en-US" dirty="0"/>
              <a:t> were replaced by </a:t>
            </a:r>
            <a:r>
              <a:rPr lang="en-US" dirty="0" err="1"/>
              <a:t>EventCounters</a:t>
            </a:r>
            <a:endParaRPr lang="en-US" dirty="0"/>
          </a:p>
          <a:p>
            <a:pPr marL="457200" indent="-457200">
              <a:buFontTx/>
              <a:buChar char="-"/>
            </a:pPr>
            <a:r>
              <a:rPr lang="en-US" dirty="0" err="1"/>
              <a:t>EventCounters</a:t>
            </a:r>
            <a:r>
              <a:rPr lang="en-US" dirty="0"/>
              <a:t> are now replaced by OTEL Metrics</a:t>
            </a:r>
          </a:p>
          <a:p>
            <a:pPr marL="457200" indent="-457200">
              <a:buFontTx/>
              <a:buChar char="-"/>
            </a:pPr>
            <a:endParaRPr 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E4AD0C7D-D6EF-F3EA-4BB6-7B68A1AAB2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3297" y="3658126"/>
            <a:ext cx="3325406" cy="2417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6404392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57E44-C671-4C6A-9C66-DC498D09B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Telemetry History: Traces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F2809-96C8-7A27-A245-2B844F255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Tx/>
              <a:buChar char="-"/>
            </a:pPr>
            <a:r>
              <a:rPr lang="en-US" dirty="0"/>
              <a:t>ETW (Event Tracing for Windows) – extremely high-performance instrumentation across drivers et. al.</a:t>
            </a:r>
            <a:br>
              <a:rPr lang="en-US" dirty="0"/>
            </a:br>
            <a:r>
              <a:rPr lang="en-US" dirty="0"/>
              <a:t>Not particularly easy to use from C#</a:t>
            </a:r>
          </a:p>
          <a:p>
            <a:pPr marL="457200" indent="-457200">
              <a:buFontTx/>
              <a:buChar char="-"/>
            </a:pPr>
            <a:r>
              <a:rPr lang="en-US" dirty="0"/>
              <a:t>Custom</a:t>
            </a:r>
          </a:p>
          <a:p>
            <a:pPr marL="457200" indent="-457200">
              <a:buFontTx/>
              <a:buChar char="-"/>
            </a:pPr>
            <a:r>
              <a:rPr lang="en-US" dirty="0" err="1"/>
              <a:t>TraceSource</a:t>
            </a:r>
            <a:endParaRPr lang="en-US" dirty="0"/>
          </a:p>
          <a:p>
            <a:pPr marL="457200" indent="-457200">
              <a:buFontTx/>
              <a:buChar char="-"/>
            </a:pPr>
            <a:r>
              <a:rPr lang="en-US" dirty="0"/>
              <a:t>Modern: OTEL Traces</a:t>
            </a:r>
          </a:p>
          <a:p>
            <a:pPr marL="796926" lvl="1" indent="-457200">
              <a:buFontTx/>
              <a:buChar char="-"/>
            </a:pPr>
            <a:r>
              <a:rPr lang="en-US" dirty="0"/>
              <a:t>Replaces all of these.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5C6CA98-BE7B-9706-8F62-3DC6F9FA15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8798" y="2857172"/>
            <a:ext cx="3044586" cy="2716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3017336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57E44-C671-4C6A-9C66-DC498D09B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Telemetry History: Logs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F2809-96C8-7A27-A245-2B844F255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Tx/>
              <a:buChar char="-"/>
            </a:pPr>
            <a:r>
              <a:rPr lang="en-US" dirty="0"/>
              <a:t>ETW logs</a:t>
            </a:r>
          </a:p>
          <a:p>
            <a:pPr marL="457200" indent="-457200">
              <a:buFontTx/>
              <a:buChar char="-"/>
            </a:pPr>
            <a:r>
              <a:rPr lang="en-US" dirty="0"/>
              <a:t>Custom logs</a:t>
            </a:r>
          </a:p>
          <a:p>
            <a:pPr marL="457200" indent="-457200">
              <a:buFontTx/>
              <a:buChar char="-"/>
            </a:pPr>
            <a:r>
              <a:rPr lang="en-US" dirty="0" err="1"/>
              <a:t>EventLog</a:t>
            </a:r>
            <a:r>
              <a:rPr lang="en-US" dirty="0"/>
              <a:t> (particularly services)</a:t>
            </a:r>
          </a:p>
          <a:p>
            <a:pPr marL="457200" indent="-457200">
              <a:buFontTx/>
              <a:buChar char="-"/>
            </a:pPr>
            <a:r>
              <a:rPr lang="en-US" dirty="0" err="1"/>
              <a:t>Trace.WriteLine</a:t>
            </a:r>
            <a:r>
              <a:rPr lang="en-US" dirty="0"/>
              <a:t> – replaced by </a:t>
            </a:r>
            <a:r>
              <a:rPr lang="en-US" dirty="0" err="1"/>
              <a:t>TraceSource</a:t>
            </a:r>
            <a:endParaRPr lang="en-US" dirty="0"/>
          </a:p>
          <a:p>
            <a:pPr marL="457200" indent="-457200">
              <a:buFontTx/>
              <a:buChar char="-"/>
            </a:pPr>
            <a:r>
              <a:rPr lang="en-US" dirty="0" err="1"/>
              <a:t>TraceSource</a:t>
            </a:r>
            <a:endParaRPr lang="en-US" dirty="0"/>
          </a:p>
          <a:p>
            <a:pPr marL="457200" indent="-457200">
              <a:buFontTx/>
              <a:buChar char="-"/>
            </a:pPr>
            <a:r>
              <a:rPr lang="en-US" dirty="0"/>
              <a:t>Modern: OTEL logs</a:t>
            </a:r>
          </a:p>
          <a:p>
            <a:pPr marL="796926" lvl="1" indent="-457200">
              <a:buFontTx/>
              <a:buChar char="-"/>
            </a:pPr>
            <a:r>
              <a:rPr lang="en-US" dirty="0"/>
              <a:t>Replaces all of these</a:t>
            </a:r>
          </a:p>
          <a:p>
            <a:pPr marL="457200" indent="-457200">
              <a:buFontTx/>
              <a:buChar char="-"/>
            </a:pPr>
            <a:endParaRPr lang="en-US" dirty="0"/>
          </a:p>
          <a:p>
            <a:pPr marL="457200" indent="-457200">
              <a:buFontTx/>
              <a:buChar char="-"/>
            </a:pPr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25FDD68-5AAD-1434-E6CE-A1D268EB82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5228" y="3429000"/>
            <a:ext cx="3726180" cy="2484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6794152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1F8B5-FA38-46C3-BB17-0AAB7E0FC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Demo: Local Telemetry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D85031-FD42-6790-BA83-C5AD8F1BBB2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72074" y="1196975"/>
            <a:ext cx="11080176" cy="63341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https://github.com/StephenCleary/LocalTelemetry</a:t>
            </a:r>
            <a:endParaRPr 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EBAB900-0C6F-D5F8-4E39-AE0FB23923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4847" y="3754278"/>
            <a:ext cx="3065252" cy="2301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D2AFF11-46EA-2F87-DFF2-0FB3D1C0BEC2}"/>
              </a:ext>
            </a:extLst>
          </p:cNvPr>
          <p:cNvSpPr/>
          <p:nvPr/>
        </p:nvSpPr>
        <p:spPr bwMode="auto">
          <a:xfrm>
            <a:off x="552268" y="2461516"/>
            <a:ext cx="2331217" cy="632737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</a:rPr>
              <a:t>OTLP endpoint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EE981B-7BD6-6080-3EEF-199177BBC3C5}"/>
              </a:ext>
            </a:extLst>
          </p:cNvPr>
          <p:cNvSpPr/>
          <p:nvPr/>
        </p:nvSpPr>
        <p:spPr bwMode="auto">
          <a:xfrm>
            <a:off x="3064356" y="2461516"/>
            <a:ext cx="2331217" cy="632737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</a:rPr>
              <a:t>OTEL Collector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5C5986-5142-81D8-A07A-3B0C6542FB44}"/>
              </a:ext>
            </a:extLst>
          </p:cNvPr>
          <p:cNvSpPr/>
          <p:nvPr/>
        </p:nvSpPr>
        <p:spPr bwMode="auto">
          <a:xfrm>
            <a:off x="6482635" y="2210637"/>
            <a:ext cx="2331217" cy="395426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</a:rPr>
              <a:t>Seq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914A86-79D1-1769-DE0B-9AB0163A2D8C}"/>
              </a:ext>
            </a:extLst>
          </p:cNvPr>
          <p:cNvSpPr/>
          <p:nvPr/>
        </p:nvSpPr>
        <p:spPr bwMode="auto">
          <a:xfrm>
            <a:off x="6487772" y="2706188"/>
            <a:ext cx="2331217" cy="395426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</a:rPr>
              <a:t>Aspire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7F89A1-102E-E70A-2D74-9A852E23DD32}"/>
              </a:ext>
            </a:extLst>
          </p:cNvPr>
          <p:cNvSpPr/>
          <p:nvPr/>
        </p:nvSpPr>
        <p:spPr bwMode="auto">
          <a:xfrm>
            <a:off x="6482633" y="3205682"/>
            <a:ext cx="2331217" cy="395426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</a:rPr>
              <a:t>Zipkin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9CA341E-713A-9D2E-A7CB-227C5636B491}"/>
              </a:ext>
            </a:extLst>
          </p:cNvPr>
          <p:cNvSpPr/>
          <p:nvPr/>
        </p:nvSpPr>
        <p:spPr bwMode="auto">
          <a:xfrm>
            <a:off x="6482632" y="3696553"/>
            <a:ext cx="2331217" cy="395426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</a:rPr>
              <a:t>Prometheus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C391F2-A9A2-CE1A-C7D2-D0C8D1D5E82F}"/>
              </a:ext>
            </a:extLst>
          </p:cNvPr>
          <p:cNvSpPr/>
          <p:nvPr/>
        </p:nvSpPr>
        <p:spPr bwMode="auto">
          <a:xfrm>
            <a:off x="9408607" y="3696554"/>
            <a:ext cx="2331217" cy="395426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</a:rPr>
              <a:t>Grafana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97764E4-56E3-68C1-B902-57C3B77073AE}"/>
              </a:ext>
            </a:extLst>
          </p:cNvPr>
          <p:cNvSpPr/>
          <p:nvPr/>
        </p:nvSpPr>
        <p:spPr bwMode="auto">
          <a:xfrm>
            <a:off x="6482631" y="4170572"/>
            <a:ext cx="2331217" cy="395426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</a:rPr>
              <a:t>Jaeger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BCA6A0A-72F1-90B4-F012-85F5DB6C6F57}"/>
              </a:ext>
            </a:extLst>
          </p:cNvPr>
          <p:cNvSpPr/>
          <p:nvPr/>
        </p:nvSpPr>
        <p:spPr bwMode="auto">
          <a:xfrm>
            <a:off x="6301760" y="5125563"/>
            <a:ext cx="2331217" cy="39542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chemeClr val="tx1"/>
                </a:solidFill>
              </a:rPr>
              <a:t>Honeycomb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C0D9FBA-20AE-338B-CE9B-AD8764124D80}"/>
              </a:ext>
            </a:extLst>
          </p:cNvPr>
          <p:cNvCxnSpPr>
            <a:stCxn id="2" idx="3"/>
            <a:endCxn id="6" idx="1"/>
          </p:cNvCxnSpPr>
          <p:nvPr/>
        </p:nvCxnSpPr>
        <p:spPr>
          <a:xfrm>
            <a:off x="2883485" y="2777885"/>
            <a:ext cx="180871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7CE0FEB-0E0C-C326-C0EE-CD450B989056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 flipV="1">
            <a:off x="5395573" y="2408350"/>
            <a:ext cx="1087062" cy="369535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53467D8-E06F-10F4-8723-492AAC3247BD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>
            <a:off x="5395573" y="2777885"/>
            <a:ext cx="1092199" cy="126016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9EE94AC-8531-591A-F718-268F2FFF34BF}"/>
              </a:ext>
            </a:extLst>
          </p:cNvPr>
          <p:cNvCxnSpPr>
            <a:cxnSpLocks/>
            <a:stCxn id="6" idx="3"/>
            <a:endCxn id="13" idx="1"/>
          </p:cNvCxnSpPr>
          <p:nvPr/>
        </p:nvCxnSpPr>
        <p:spPr>
          <a:xfrm>
            <a:off x="5395573" y="2777885"/>
            <a:ext cx="1087060" cy="62551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4C009D1-D1CB-D718-2AD8-D0ECD147407B}"/>
              </a:ext>
            </a:extLst>
          </p:cNvPr>
          <p:cNvCxnSpPr>
            <a:cxnSpLocks/>
            <a:stCxn id="6" idx="3"/>
            <a:endCxn id="15" idx="1"/>
          </p:cNvCxnSpPr>
          <p:nvPr/>
        </p:nvCxnSpPr>
        <p:spPr>
          <a:xfrm>
            <a:off x="5395573" y="2777885"/>
            <a:ext cx="1087059" cy="1116381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225CFDD-4A2A-2AF4-D219-2EB6B6DF03F3}"/>
              </a:ext>
            </a:extLst>
          </p:cNvPr>
          <p:cNvCxnSpPr>
            <a:cxnSpLocks/>
            <a:stCxn id="6" idx="3"/>
            <a:endCxn id="19" idx="1"/>
          </p:cNvCxnSpPr>
          <p:nvPr/>
        </p:nvCxnSpPr>
        <p:spPr>
          <a:xfrm>
            <a:off x="5395573" y="2777885"/>
            <a:ext cx="1087058" cy="15904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7177C14-EF68-3470-0F74-8B3241084902}"/>
              </a:ext>
            </a:extLst>
          </p:cNvPr>
          <p:cNvCxnSpPr>
            <a:cxnSpLocks/>
            <a:stCxn id="6" idx="3"/>
            <a:endCxn id="21" idx="1"/>
          </p:cNvCxnSpPr>
          <p:nvPr/>
        </p:nvCxnSpPr>
        <p:spPr>
          <a:xfrm>
            <a:off x="5395573" y="2777885"/>
            <a:ext cx="906187" cy="2545391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DA80E6E-7525-2451-8BAF-D5AA93EA02C4}"/>
              </a:ext>
            </a:extLst>
          </p:cNvPr>
          <p:cNvCxnSpPr>
            <a:cxnSpLocks/>
            <a:stCxn id="15" idx="3"/>
            <a:endCxn id="17" idx="1"/>
          </p:cNvCxnSpPr>
          <p:nvPr/>
        </p:nvCxnSpPr>
        <p:spPr>
          <a:xfrm>
            <a:off x="8813849" y="3894266"/>
            <a:ext cx="594758" cy="1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D52F6963-DD6C-E386-1403-892B183A1647}"/>
              </a:ext>
            </a:extLst>
          </p:cNvPr>
          <p:cNvSpPr/>
          <p:nvPr/>
        </p:nvSpPr>
        <p:spPr bwMode="auto">
          <a:xfrm>
            <a:off x="6301759" y="4661443"/>
            <a:ext cx="2331217" cy="39542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chemeClr val="tx1"/>
                </a:solidFill>
              </a:rPr>
              <a:t>Azure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D20B3ED-6B96-D462-B140-C596969A6095}"/>
              </a:ext>
            </a:extLst>
          </p:cNvPr>
          <p:cNvSpPr/>
          <p:nvPr/>
        </p:nvSpPr>
        <p:spPr bwMode="auto">
          <a:xfrm>
            <a:off x="6301758" y="5606062"/>
            <a:ext cx="2331217" cy="39542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chemeClr val="tx1"/>
                </a:solidFill>
              </a:rPr>
              <a:t>AWS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FD75C84-2D91-5047-987B-2D9F8292CDC4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5395573" y="2777885"/>
            <a:ext cx="906186" cy="2081271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7F0B89C-3D30-700B-81A2-E78C10B4D597}"/>
              </a:ext>
            </a:extLst>
          </p:cNvPr>
          <p:cNvCxnSpPr>
            <a:cxnSpLocks/>
            <a:stCxn id="6" idx="3"/>
            <a:endCxn id="14" idx="1"/>
          </p:cNvCxnSpPr>
          <p:nvPr/>
        </p:nvCxnSpPr>
        <p:spPr>
          <a:xfrm>
            <a:off x="5395573" y="2777885"/>
            <a:ext cx="906185" cy="302589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8030291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Demo 1: Telemetry the Easy Way</a:t>
            </a:r>
          </a:p>
        </p:txBody>
      </p:sp>
    </p:spTree>
    <p:extLst>
      <p:ext uri="{BB962C8B-B14F-4D97-AF65-F5344CB8AC3E}">
        <p14:creationId xmlns:p14="http://schemas.microsoft.com/office/powerpoint/2010/main" val="2978234360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Semantic Logging</a:t>
            </a:r>
          </a:p>
        </p:txBody>
      </p:sp>
    </p:spTree>
    <p:extLst>
      <p:ext uri="{BB962C8B-B14F-4D97-AF65-F5344CB8AC3E}">
        <p14:creationId xmlns:p14="http://schemas.microsoft.com/office/powerpoint/2010/main" val="2083269779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Semantic logging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Tx/>
              <a:buChar char="-"/>
            </a:pPr>
            <a:r>
              <a:rPr lang="en-US" dirty="0"/>
              <a:t>A.k.a. Structured logging</a:t>
            </a:r>
          </a:p>
          <a:p>
            <a:pPr marL="457200" indent="-457200">
              <a:buFontTx/>
              <a:buChar char="-"/>
            </a:pPr>
            <a:r>
              <a:rPr lang="en-US" dirty="0"/>
              <a:t>A.k.a. Message templates </a:t>
            </a:r>
            <a:r>
              <a:rPr lang="en-US" dirty="0">
                <a:hlinkClick r:id="rId3"/>
              </a:rPr>
              <a:t>https://messagetemplates.org/</a:t>
            </a:r>
            <a:endParaRPr lang="en-US" dirty="0"/>
          </a:p>
          <a:p>
            <a:pPr marL="457200" indent="-457200">
              <a:buFontTx/>
              <a:buChar char="-"/>
            </a:pPr>
            <a:endParaRPr lang="en-US" dirty="0"/>
          </a:p>
          <a:p>
            <a:pPr marL="457200" indent="-457200">
              <a:buFontTx/>
              <a:buChar char="-"/>
            </a:pPr>
            <a:r>
              <a:rPr lang="en-US" dirty="0"/>
              <a:t>Technically violates 12-factor app: </a:t>
            </a:r>
            <a:r>
              <a:rPr lang="en-US" dirty="0">
                <a:hlinkClick r:id="rId4"/>
              </a:rPr>
              <a:t>https://12factor.net/</a:t>
            </a:r>
            <a:endParaRPr lang="en-US" dirty="0"/>
          </a:p>
        </p:txBody>
      </p:sp>
      <p:pic>
        <p:nvPicPr>
          <p:cNvPr id="2" name="Picture 2" descr="They're more what you'd call guidelines than actual rules - They're more what you'd call guidelines than actual rules  Barbosa Rules">
            <a:extLst>
              <a:ext uri="{FF2B5EF4-FFF2-40B4-BE49-F238E27FC236}">
                <a16:creationId xmlns:a16="http://schemas.microsoft.com/office/drawing/2014/main" id="{0B614A10-DCC2-87C6-C415-34FC9A1BD0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481160"/>
            <a:ext cx="3048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3632353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Semantic Logging: Getting a logger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Tx/>
              <a:buChar char="-"/>
            </a:pPr>
            <a:r>
              <a:rPr lang="en-US" dirty="0"/>
              <a:t>Modern dependency injection</a:t>
            </a:r>
          </a:p>
          <a:p>
            <a:pPr marL="796926" lvl="1" indent="-457200">
              <a:buFontTx/>
              <a:buChar char="-"/>
            </a:pPr>
            <a:r>
              <a:rPr lang="en-US" dirty="0"/>
              <a:t>Configure your logger with its backend output(s).</a:t>
            </a:r>
          </a:p>
          <a:p>
            <a:pPr marL="796926" lvl="1" indent="-457200">
              <a:buFontTx/>
              <a:buChar char="-"/>
            </a:pPr>
            <a:r>
              <a:rPr lang="en-US" dirty="0"/>
              <a:t>Inject </a:t>
            </a:r>
            <a:r>
              <a:rPr lang="en-US" dirty="0" err="1">
                <a:latin typeface="Consolas" panose="020B0609020204030204" pitchFamily="49" charset="0"/>
              </a:rPr>
              <a:t>ILogger</a:t>
            </a:r>
            <a:r>
              <a:rPr lang="en-US" dirty="0">
                <a:latin typeface="Consolas" panose="020B0609020204030204" pitchFamily="49" charset="0"/>
              </a:rPr>
              <a:t>&lt;T&gt;</a:t>
            </a:r>
          </a:p>
          <a:p>
            <a:pPr marL="796926" lvl="1" indent="-457200">
              <a:buFontTx/>
              <a:buChar char="-"/>
            </a:pPr>
            <a:r>
              <a:rPr lang="en-US" dirty="0"/>
              <a:t>Note: if you need to dynamically create loggers, inject </a:t>
            </a:r>
            <a:r>
              <a:rPr lang="en-US" dirty="0" err="1">
                <a:latin typeface="Consolas" panose="020B0609020204030204" pitchFamily="49" charset="0"/>
              </a:rPr>
              <a:t>ILoggerFactory</a:t>
            </a:r>
            <a:r>
              <a:rPr lang="en-US" dirty="0"/>
              <a:t>, not </a:t>
            </a:r>
            <a:r>
              <a:rPr lang="en-US" dirty="0" err="1">
                <a:latin typeface="Consolas" panose="020B0609020204030204" pitchFamily="49" charset="0"/>
              </a:rPr>
              <a:t>ILoggerProvider</a:t>
            </a:r>
            <a:r>
              <a:rPr lang="en-US" dirty="0"/>
              <a:t>.</a:t>
            </a:r>
          </a:p>
          <a:p>
            <a:pPr marL="1030290" lvl="2" indent="-457200">
              <a:buFontTx/>
              <a:buChar char="-"/>
            </a:pPr>
            <a:r>
              <a:rPr lang="en-US" dirty="0" err="1">
                <a:latin typeface="Consolas" panose="020B0609020204030204" pitchFamily="49" charset="0"/>
              </a:rPr>
              <a:t>ILoggerFactory</a:t>
            </a:r>
            <a:r>
              <a:rPr lang="en-US" dirty="0">
                <a:latin typeface="+mn-lt"/>
              </a:rPr>
              <a:t> is for getting loggers for your components to use.</a:t>
            </a:r>
            <a:endParaRPr lang="en-US" dirty="0"/>
          </a:p>
          <a:p>
            <a:pPr marL="1030290" lvl="2" indent="-457200">
              <a:buFontTx/>
              <a:buChar char="-"/>
            </a:pPr>
            <a:r>
              <a:rPr lang="en-US" dirty="0" err="1">
                <a:latin typeface="Consolas" panose="020B0609020204030204" pitchFamily="49" charset="0"/>
              </a:rPr>
              <a:t>ILoggerProvider</a:t>
            </a:r>
            <a:r>
              <a:rPr lang="en-US" dirty="0"/>
              <a:t> is for implementing custom backend outputs.</a:t>
            </a:r>
          </a:p>
          <a:p>
            <a:pPr marL="796926" lvl="1" indent="-457200">
              <a:buFontTx/>
              <a:buChar char="-"/>
            </a:pPr>
            <a:r>
              <a:rPr lang="en-US" dirty="0"/>
              <a:t>Tip: </a:t>
            </a:r>
            <a:r>
              <a:rPr lang="en-US" dirty="0" err="1">
                <a:latin typeface="Consolas" panose="020B0609020204030204" pitchFamily="49" charset="0"/>
              </a:rPr>
              <a:t>ILogger</a:t>
            </a:r>
            <a:r>
              <a:rPr lang="en-US" dirty="0">
                <a:latin typeface="Consolas" panose="020B0609020204030204" pitchFamily="49" charset="0"/>
              </a:rPr>
              <a:t>&lt;T&gt;</a:t>
            </a:r>
            <a:r>
              <a:rPr lang="en-US" dirty="0"/>
              <a:t> is covariant; you can pass it to base types!</a:t>
            </a:r>
          </a:p>
          <a:p>
            <a:pPr marL="457200" indent="-457200">
              <a:buFontTx/>
              <a:buChar char="-"/>
            </a:pPr>
            <a:r>
              <a:rPr lang="en-US" dirty="0"/>
              <a:t>Everything else:</a:t>
            </a:r>
          </a:p>
          <a:p>
            <a:pPr marL="796926" lvl="1" indent="-457200">
              <a:buFontTx/>
              <a:buChar char="-"/>
            </a:pPr>
            <a:r>
              <a:rPr lang="en-US" dirty="0"/>
              <a:t>Configure a logger factory via </a:t>
            </a:r>
            <a:r>
              <a:rPr lang="en-US" dirty="0" err="1">
                <a:latin typeface="Consolas" panose="020B0609020204030204" pitchFamily="49" charset="0"/>
              </a:rPr>
              <a:t>LoggerFactory.Create</a:t>
            </a:r>
            <a:endParaRPr lang="en-US" dirty="0">
              <a:latin typeface="Consolas" panose="020B0609020204030204" pitchFamily="49" charset="0"/>
            </a:endParaRPr>
          </a:p>
          <a:p>
            <a:pPr marL="796926" lvl="1" indent="-457200">
              <a:buFontTx/>
              <a:buChar char="-"/>
            </a:pPr>
            <a:r>
              <a:rPr lang="en-US" dirty="0"/>
              <a:t>Call </a:t>
            </a:r>
            <a:r>
              <a:rPr lang="en-US" dirty="0" err="1">
                <a:latin typeface="Consolas" panose="020B0609020204030204" pitchFamily="49" charset="0"/>
              </a:rPr>
              <a:t>CreateLogger</a:t>
            </a:r>
            <a:r>
              <a:rPr lang="en-US" dirty="0"/>
              <a:t> on the factory.</a:t>
            </a:r>
          </a:p>
        </p:txBody>
      </p:sp>
    </p:spTree>
    <p:extLst>
      <p:ext uri="{BB962C8B-B14F-4D97-AF65-F5344CB8AC3E}">
        <p14:creationId xmlns:p14="http://schemas.microsoft.com/office/powerpoint/2010/main" val="1963768959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Semantic Logging: Basic Logging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4294967295"/>
          </p:nvPr>
        </p:nvSpPr>
        <p:spPr>
          <a:xfrm>
            <a:off x="697230" y="1196975"/>
            <a:ext cx="10955020" cy="4833938"/>
          </a:xfrm>
        </p:spPr>
        <p:txBody>
          <a:bodyPr/>
          <a:lstStyle/>
          <a:p>
            <a:pPr marL="457200" indent="-457200">
              <a:buFontTx/>
              <a:buChar char="-"/>
            </a:pPr>
            <a:r>
              <a:rPr lang="en-US" dirty="0"/>
              <a:t>Log with placeholders, like this:</a:t>
            </a:r>
          </a:p>
          <a:p>
            <a:pPr marL="0" indent="0">
              <a:buNone/>
            </a:pPr>
            <a:br>
              <a:rPr lang="en-US" sz="2200" dirty="0">
                <a:latin typeface="Consolas" panose="020B0609020204030204" pitchFamily="49" charset="0"/>
              </a:rPr>
            </a:br>
            <a:r>
              <a:rPr lang="en-US" sz="2100" dirty="0">
                <a:latin typeface="Consolas" panose="020B0609020204030204" pitchFamily="49" charset="0"/>
              </a:rPr>
              <a:t>_</a:t>
            </a:r>
            <a:r>
              <a:rPr lang="en-US" sz="2100" dirty="0" err="1">
                <a:latin typeface="Consolas" panose="020B0609020204030204" pitchFamily="49" charset="0"/>
              </a:rPr>
              <a:t>logger.LogInformation</a:t>
            </a:r>
            <a:r>
              <a:rPr lang="en-US" sz="2100" dirty="0">
                <a:latin typeface="Consolas" panose="020B0609020204030204" pitchFamily="49" charset="0"/>
              </a:rPr>
              <a:t>("Forecast result: {temperature}", </a:t>
            </a:r>
            <a:r>
              <a:rPr lang="en-US" sz="2100" dirty="0" err="1">
                <a:latin typeface="Consolas" panose="020B0609020204030204" pitchFamily="49" charset="0"/>
              </a:rPr>
              <a:t>temperatureValue</a:t>
            </a:r>
            <a:r>
              <a:rPr lang="en-US" sz="2100" dirty="0">
                <a:latin typeface="Consolas" panose="020B0609020204030204" pitchFamily="49" charset="0"/>
              </a:rPr>
              <a:t>);</a:t>
            </a:r>
            <a:br>
              <a:rPr lang="en-US" sz="2200" dirty="0">
                <a:latin typeface="Consolas" panose="020B0609020204030204" pitchFamily="49" charset="0"/>
              </a:rPr>
            </a:br>
            <a:endParaRPr lang="en-US" sz="2200" dirty="0">
              <a:latin typeface="Consolas" panose="020B0609020204030204" pitchFamily="49" charset="0"/>
            </a:endParaRPr>
          </a:p>
          <a:p>
            <a:pPr marL="457200" indent="-457200">
              <a:buFontTx/>
              <a:buChar char="-"/>
            </a:pPr>
            <a:r>
              <a:rPr lang="en-US" dirty="0"/>
              <a:t>This is not string interpolation!</a:t>
            </a:r>
          </a:p>
          <a:p>
            <a:pPr marL="457200" indent="-457200">
              <a:buFontTx/>
              <a:buChar char="-"/>
            </a:pPr>
            <a:r>
              <a:rPr lang="en-US" dirty="0"/>
              <a:t>This is not format string arguments!</a:t>
            </a:r>
          </a:p>
          <a:p>
            <a:pPr marL="457200" indent="-457200">
              <a:buFontTx/>
              <a:buChar char="-"/>
            </a:pPr>
            <a:r>
              <a:rPr lang="en-US" dirty="0"/>
              <a:t>This is a message template.</a:t>
            </a:r>
          </a:p>
          <a:p>
            <a:pPr marL="457200" indent="-457200">
              <a:buFontTx/>
              <a:buChar char="-"/>
            </a:pPr>
            <a:r>
              <a:rPr lang="en-US" dirty="0"/>
              <a:t>What actually happens (mostly):</a:t>
            </a:r>
          </a:p>
          <a:p>
            <a:pPr marL="0" indent="0">
              <a:buNone/>
            </a:pPr>
            <a:r>
              <a:rPr lang="en-US" sz="3000" dirty="0">
                <a:latin typeface="Consolas" panose="020B0609020204030204" pitchFamily="49" charset="0"/>
              </a:rPr>
              <a:t>{ message: "Forecast result: 13", temperature: 13 }</a:t>
            </a:r>
          </a:p>
          <a:p>
            <a:pPr marL="457200" indent="-457200">
              <a:buFontTx/>
              <a:buChar char="-"/>
            </a:pPr>
            <a:endParaRPr lang="en-US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4AEAD1BF-01FE-2EF5-D6BA-D17587790F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34698"/>
          <a:stretch/>
        </p:blipFill>
        <p:spPr bwMode="auto">
          <a:xfrm>
            <a:off x="8360874" y="2571750"/>
            <a:ext cx="3133896" cy="2148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5855290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Demo 2: Basic Semantic Logging</a:t>
            </a:r>
          </a:p>
        </p:txBody>
      </p:sp>
    </p:spTree>
    <p:extLst>
      <p:ext uri="{BB962C8B-B14F-4D97-AF65-F5344CB8AC3E}">
        <p14:creationId xmlns:p14="http://schemas.microsoft.com/office/powerpoint/2010/main" val="2037938741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Semantic Logging: Backend options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4294967295"/>
          </p:nvPr>
        </p:nvSpPr>
        <p:spPr>
          <a:xfrm>
            <a:off x="536662" y="1196975"/>
            <a:ext cx="11115587" cy="4383088"/>
          </a:xfrm>
        </p:spPr>
        <p:txBody>
          <a:bodyPr/>
          <a:lstStyle/>
          <a:p>
            <a:pPr marL="457200" indent="-457200">
              <a:buFontTx/>
              <a:buChar char="-"/>
            </a:pPr>
            <a:r>
              <a:rPr lang="en-US" dirty="0"/>
              <a:t>Cloud:</a:t>
            </a:r>
          </a:p>
          <a:p>
            <a:pPr marL="796926" lvl="1" indent="-457200">
              <a:buFontTx/>
              <a:buChar char="-"/>
            </a:pPr>
            <a:r>
              <a:rPr lang="en-US" dirty="0"/>
              <a:t>Azure Monitor </a:t>
            </a:r>
            <a:r>
              <a:rPr lang="en-US" dirty="0">
                <a:hlinkClick r:id="rId3"/>
              </a:rPr>
              <a:t>https://tinyurl.com/WillAzureMonitorSupportOTLP</a:t>
            </a:r>
            <a:endParaRPr lang="en-US" dirty="0"/>
          </a:p>
          <a:p>
            <a:pPr marL="1030290" lvl="2" indent="-457200">
              <a:buFontTx/>
              <a:buChar char="-"/>
            </a:pPr>
            <a:r>
              <a:rPr lang="en-US" dirty="0" err="1">
                <a:latin typeface="Consolas" panose="020B0609020204030204" pitchFamily="49" charset="0"/>
              </a:rPr>
              <a:t>toint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customDimensions</a:t>
            </a:r>
            <a:r>
              <a:rPr lang="en-US" dirty="0">
                <a:latin typeface="Consolas" panose="020B0609020204030204" pitchFamily="49" charset="0"/>
              </a:rPr>
              <a:t>[“temperature"]) &gt; 5</a:t>
            </a:r>
          </a:p>
          <a:p>
            <a:pPr marL="796926" lvl="1" indent="-457200">
              <a:buFontTx/>
              <a:buChar char="-"/>
            </a:pPr>
            <a:r>
              <a:rPr lang="en-US" dirty="0"/>
              <a:t>AWS CloudWatch (</a:t>
            </a:r>
            <a:r>
              <a:rPr lang="en-US" dirty="0">
                <a:hlinkClick r:id="rId4"/>
              </a:rPr>
              <a:t>https://tinyurl.com/AWS-OTEL-logs</a:t>
            </a:r>
            <a:r>
              <a:rPr lang="en-US" dirty="0"/>
              <a:t>)</a:t>
            </a:r>
          </a:p>
          <a:p>
            <a:pPr marL="1030290" lvl="2" indent="-457200">
              <a:buFontTx/>
              <a:buChar char="-"/>
            </a:pPr>
            <a:r>
              <a:rPr lang="en-US" dirty="0">
                <a:latin typeface="Consolas" panose="020B0609020204030204" pitchFamily="49" charset="0"/>
              </a:rPr>
              <a:t>temperature &gt; 5      { $.temperature &gt; 5 }</a:t>
            </a:r>
          </a:p>
          <a:p>
            <a:pPr marL="457200" indent="-457200">
              <a:buFontTx/>
              <a:buChar char="-"/>
            </a:pPr>
            <a:r>
              <a:rPr lang="en-US" dirty="0"/>
              <a:t>SaaS:</a:t>
            </a:r>
          </a:p>
          <a:p>
            <a:pPr marL="796926" lvl="1" indent="-457200">
              <a:buFontTx/>
              <a:buChar char="-"/>
            </a:pPr>
            <a:r>
              <a:rPr lang="en-US" dirty="0"/>
              <a:t>Honeycomb</a:t>
            </a:r>
          </a:p>
          <a:p>
            <a:pPr marL="796926" lvl="1" indent="-457200">
              <a:buFontTx/>
              <a:buChar char="-"/>
            </a:pPr>
            <a:r>
              <a:rPr lang="en-US" dirty="0" err="1"/>
              <a:t>Graylog</a:t>
            </a:r>
            <a:r>
              <a:rPr lang="en-US" dirty="0"/>
              <a:t> cloud</a:t>
            </a:r>
          </a:p>
          <a:p>
            <a:pPr marL="796926" lvl="1" indent="-457200">
              <a:buFontTx/>
              <a:buChar char="-"/>
            </a:pPr>
            <a:r>
              <a:rPr lang="en-US" dirty="0" err="1"/>
              <a:t>Papertrail</a:t>
            </a:r>
            <a:endParaRPr lang="en-US" dirty="0"/>
          </a:p>
          <a:p>
            <a:pPr marL="457200" indent="-457200">
              <a:buFontTx/>
              <a:buChar char="-"/>
            </a:pPr>
            <a:r>
              <a:rPr lang="en-US" dirty="0"/>
              <a:t>Self-hosted: </a:t>
            </a:r>
            <a:r>
              <a:rPr lang="en-US" dirty="0" err="1"/>
              <a:t>Graylog</a:t>
            </a:r>
            <a:r>
              <a:rPr lang="en-US" dirty="0"/>
              <a:t>, Seq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F45E9D6-CE0A-1E25-20B6-6A7AD75242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0268" y="3225985"/>
            <a:ext cx="3882690" cy="2593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9073084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Semantic Logging: Scopes!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Tx/>
              <a:buChar char="-"/>
            </a:pPr>
            <a:r>
              <a:rPr lang="en-US" dirty="0"/>
              <a:t>This is your hero superpower.</a:t>
            </a:r>
          </a:p>
          <a:p>
            <a:pPr marL="457200" indent="-457200">
              <a:buFontTx/>
              <a:buChar char="-"/>
            </a:pPr>
            <a:endParaRPr lang="en-US" dirty="0"/>
          </a:p>
          <a:p>
            <a:pPr marL="457200" indent="-457200">
              <a:buFontTx/>
              <a:buChar char="-"/>
            </a:pPr>
            <a:r>
              <a:rPr lang="en-US" dirty="0"/>
              <a:t>Scopes allow you to attach </a:t>
            </a:r>
            <a:r>
              <a:rPr lang="en-US" dirty="0" err="1"/>
              <a:t>name:value</a:t>
            </a:r>
            <a:r>
              <a:rPr lang="en-US" dirty="0"/>
              <a:t> data pairs to all logs within a scope.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19C24E00-923B-F3B0-D9A2-695464493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6152" y="3034602"/>
            <a:ext cx="2761533" cy="2899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969485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3: Scopes</a:t>
            </a:r>
          </a:p>
        </p:txBody>
      </p:sp>
    </p:spTree>
    <p:extLst>
      <p:ext uri="{BB962C8B-B14F-4D97-AF65-F5344CB8AC3E}">
        <p14:creationId xmlns:p14="http://schemas.microsoft.com/office/powerpoint/2010/main" val="1255695555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Semantic Logging Scopes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Tx/>
              <a:buChar char="-"/>
            </a:pPr>
            <a:r>
              <a:rPr lang="en-US" dirty="0"/>
              <a:t>The scope type is</a:t>
            </a:r>
            <a:br>
              <a:rPr lang="en-US" dirty="0"/>
            </a:br>
            <a:r>
              <a:rPr lang="en-US" dirty="0" err="1">
                <a:latin typeface="Consolas" panose="020B0609020204030204" pitchFamily="49" charset="0"/>
              </a:rPr>
              <a:t>IEnumerable</a:t>
            </a:r>
            <a:r>
              <a:rPr lang="en-US" dirty="0">
                <a:latin typeface="Consolas" panose="020B0609020204030204" pitchFamily="49" charset="0"/>
              </a:rPr>
              <a:t>&lt;</a:t>
            </a:r>
            <a:r>
              <a:rPr lang="en-US" dirty="0" err="1">
                <a:latin typeface="Consolas" panose="020B0609020204030204" pitchFamily="49" charset="0"/>
              </a:rPr>
              <a:t>KeyValuePair</a:t>
            </a:r>
            <a:r>
              <a:rPr lang="en-US" dirty="0">
                <a:latin typeface="Consolas" panose="020B0609020204030204" pitchFamily="49" charset="0"/>
              </a:rPr>
              <a:t>&lt;string, object&gt;&gt;</a:t>
            </a:r>
          </a:p>
          <a:p>
            <a:pPr marL="796926" lvl="1" indent="-457200">
              <a:buFontTx/>
              <a:buChar char="-"/>
            </a:pPr>
            <a:r>
              <a:rPr lang="en-US" dirty="0">
                <a:hlinkClick r:id="rId3"/>
              </a:rPr>
              <a:t>https://tinyurl.com/BeginScope</a:t>
            </a:r>
            <a:endParaRPr lang="en-US" dirty="0"/>
          </a:p>
          <a:p>
            <a:pPr marL="457200" indent="-457200">
              <a:buFontTx/>
              <a:buChar char="-"/>
            </a:pPr>
            <a:r>
              <a:rPr lang="en-US" dirty="0"/>
              <a:t>Tip: helpers are convenient. E.g., </a:t>
            </a:r>
            <a:r>
              <a:rPr lang="en-US" dirty="0">
                <a:hlinkClick r:id="rId4"/>
              </a:rPr>
              <a:t>https://github.com/stephenCleary/Logging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5903675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Semantic Logging Scopes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Tx/>
              <a:buChar char="-"/>
            </a:pPr>
            <a:r>
              <a:rPr lang="en-US" dirty="0"/>
              <a:t>Common pitfall: exception handling scopes.</a:t>
            </a:r>
          </a:p>
          <a:p>
            <a:pPr marL="796926" lvl="1" indent="-457200">
              <a:buFontTx/>
              <a:buChar char="-"/>
            </a:pPr>
            <a:r>
              <a:rPr lang="en-US" dirty="0"/>
              <a:t>The scopes in force when the exception is thrown</a:t>
            </a:r>
            <a:br>
              <a:rPr lang="en-US" dirty="0"/>
            </a:br>
            <a:r>
              <a:rPr lang="en-US" dirty="0"/>
              <a:t>are different than when the exception is logged.</a:t>
            </a:r>
          </a:p>
          <a:p>
            <a:pPr marL="457200" indent="-457200">
              <a:buFontTx/>
              <a:buChar char="-"/>
            </a:pPr>
            <a:r>
              <a:rPr lang="en-US" dirty="0"/>
              <a:t>Workaround:</a:t>
            </a:r>
          </a:p>
          <a:p>
            <a:pPr marL="796926" lvl="1" indent="-457200">
              <a:buFontTx/>
              <a:buChar char="-"/>
            </a:pPr>
            <a:r>
              <a:rPr lang="en-US" dirty="0"/>
              <a:t>Capture the scopes when the exception is thrown.</a:t>
            </a:r>
          </a:p>
          <a:p>
            <a:pPr marL="796926" lvl="1" indent="-457200">
              <a:buFontTx/>
              <a:buChar char="-"/>
            </a:pPr>
            <a:r>
              <a:rPr lang="en-US" dirty="0"/>
              <a:t>Restore the scopes when the exception is logged.</a:t>
            </a:r>
          </a:p>
          <a:p>
            <a:pPr marL="796926" lvl="1" indent="-457200">
              <a:buFontTx/>
              <a:buChar char="-"/>
            </a:pPr>
            <a:r>
              <a:rPr lang="en-US" dirty="0">
                <a:hlinkClick r:id="rId3"/>
              </a:rPr>
              <a:t>https://github.com/stephenCleary/Logging</a:t>
            </a:r>
            <a:endParaRPr lang="en-US" dirty="0"/>
          </a:p>
          <a:p>
            <a:pPr marL="457200" indent="-457200">
              <a:buFontTx/>
              <a:buChar char="-"/>
            </a:pPr>
            <a:r>
              <a:rPr lang="en-US" dirty="0"/>
              <a:t>Alternative:</a:t>
            </a:r>
            <a:br>
              <a:rPr lang="en-US" dirty="0"/>
            </a:br>
            <a:r>
              <a:rPr lang="en-US" dirty="0"/>
              <a:t>Seq has a “throw context enricher”.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8B1A04AD-005B-36DB-E883-3316A04747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6223" y="865073"/>
            <a:ext cx="3356537" cy="4209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5349702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Demo 4: Scopes in the Real World</a:t>
            </a:r>
          </a:p>
        </p:txBody>
      </p:sp>
    </p:spTree>
    <p:extLst>
      <p:ext uri="{BB962C8B-B14F-4D97-AF65-F5344CB8AC3E}">
        <p14:creationId xmlns:p14="http://schemas.microsoft.com/office/powerpoint/2010/main" val="306706287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2D650-641E-A8B0-9D3D-917CA4CB0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Metrics</a:t>
            </a:r>
          </a:p>
        </p:txBody>
      </p:sp>
    </p:spTree>
    <p:extLst>
      <p:ext uri="{BB962C8B-B14F-4D97-AF65-F5344CB8AC3E}">
        <p14:creationId xmlns:p14="http://schemas.microsoft.com/office/powerpoint/2010/main" val="1173523492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CBE2A49-41D0-7B4B-DB4B-F5CFD6AEA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Metrics: Things to measure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068E3D-668E-A8C4-7E14-0584ADA20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Tx/>
              <a:buChar char="-"/>
            </a:pPr>
            <a:r>
              <a:rPr lang="en-US" dirty="0"/>
              <a:t>Most metrics are counters (Counter or </a:t>
            </a:r>
            <a:r>
              <a:rPr lang="en-US" dirty="0" err="1"/>
              <a:t>UpDownCounter</a:t>
            </a:r>
            <a:r>
              <a:rPr lang="en-US" dirty="0"/>
              <a:t>)</a:t>
            </a:r>
          </a:p>
          <a:p>
            <a:pPr marL="457200" indent="-457200">
              <a:buFontTx/>
              <a:buChar char="-"/>
            </a:pPr>
            <a:r>
              <a:rPr lang="en-US" dirty="0"/>
              <a:t>Gauge (when sums don’t make sense, e.g., percentages)</a:t>
            </a:r>
          </a:p>
          <a:p>
            <a:pPr marL="457200" indent="-457200">
              <a:buFontTx/>
              <a:buChar char="-"/>
            </a:pPr>
            <a:r>
              <a:rPr lang="en-US" dirty="0"/>
              <a:t>Histogram (distributions only)</a:t>
            </a:r>
          </a:p>
        </p:txBody>
      </p:sp>
      <p:pic>
        <p:nvPicPr>
          <p:cNvPr id="5" name="Picture 4" descr="Good Measure | Funny Clips | Mr Bean Official">
            <a:extLst>
              <a:ext uri="{FF2B5EF4-FFF2-40B4-BE49-F238E27FC236}">
                <a16:creationId xmlns:a16="http://schemas.microsoft.com/office/drawing/2014/main" id="{A66A75A1-268C-CF31-02B7-DB3E595B8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0836" y="2933505"/>
            <a:ext cx="5610328" cy="3155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512039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B1787-5001-9C02-5FF6-B960AD071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6068B-344C-F2A3-25D9-605BB5802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Demo 5: Custom Counter Metric</a:t>
            </a:r>
          </a:p>
        </p:txBody>
      </p:sp>
    </p:spTree>
    <p:extLst>
      <p:ext uri="{BB962C8B-B14F-4D97-AF65-F5344CB8AC3E}">
        <p14:creationId xmlns:p14="http://schemas.microsoft.com/office/powerpoint/2010/main" val="2046997055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5409F-9EC3-3F77-2FBD-0B7CB269C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3A232CF-AE47-373D-413B-EA46A95FF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Metrics: A word of warning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9016A8-1C90-F59C-BD51-87CC2263B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Tx/>
              <a:buChar char="-"/>
            </a:pPr>
            <a:r>
              <a:rPr lang="en-US" dirty="0"/>
              <a:t>Metrics have dimensions.</a:t>
            </a:r>
          </a:p>
          <a:p>
            <a:pPr marL="796926" lvl="1" indent="-457200">
              <a:buFontTx/>
              <a:buChar char="-"/>
            </a:pPr>
            <a:r>
              <a:rPr lang="en-US" dirty="0"/>
              <a:t>Must be a fixed (and small) number of values!</a:t>
            </a:r>
          </a:p>
          <a:p>
            <a:pPr marL="796926" lvl="1" indent="-457200">
              <a:buFontTx/>
              <a:buChar char="-"/>
            </a:pPr>
            <a:r>
              <a:rPr lang="en-US" dirty="0"/>
              <a:t>Stored as one metric </a:t>
            </a:r>
            <a:r>
              <a:rPr lang="en-US" i="1" dirty="0"/>
              <a:t>per unique set of values across all dimensions</a:t>
            </a:r>
          </a:p>
          <a:p>
            <a:pPr marL="796926" lvl="1" indent="-457200">
              <a:buFontTx/>
              <a:buChar char="-"/>
            </a:pPr>
            <a:r>
              <a:rPr lang="en-US" dirty="0"/>
              <a:t>This gets expensive, </a:t>
            </a:r>
            <a:r>
              <a:rPr lang="en-US" i="1" dirty="0"/>
              <a:t>fast!</a:t>
            </a:r>
          </a:p>
          <a:p>
            <a:pPr marL="796926" lvl="1" indent="-457200">
              <a:buFontTx/>
              <a:buChar char="-"/>
            </a:pPr>
            <a:r>
              <a:rPr lang="en-US" dirty="0"/>
              <a:t>Cardinality:</a:t>
            </a:r>
          </a:p>
          <a:p>
            <a:pPr marL="1030290" lvl="2" indent="-457200">
              <a:buFontTx/>
              <a:buChar char="-"/>
            </a:pPr>
            <a:r>
              <a:rPr lang="en-US" dirty="0"/>
              <a:t>Hat sales: 3 sizes, 5 colors = </a:t>
            </a:r>
            <a:r>
              <a:rPr lang="en-US" b="1" dirty="0"/>
              <a:t>15</a:t>
            </a:r>
          </a:p>
          <a:p>
            <a:pPr marL="796926" lvl="1" indent="-457200">
              <a:buFontTx/>
              <a:buChar char="-"/>
            </a:pPr>
            <a:r>
              <a:rPr lang="en-US" dirty="0"/>
              <a:t>Use tags instead, if possible.</a:t>
            </a:r>
          </a:p>
        </p:txBody>
      </p:sp>
      <p:pic>
        <p:nvPicPr>
          <p:cNvPr id="2" name="Picture 1" descr="Money Burning GIFs | Tenor">
            <a:extLst>
              <a:ext uri="{FF2B5EF4-FFF2-40B4-BE49-F238E27FC236}">
                <a16:creationId xmlns:a16="http://schemas.microsoft.com/office/drawing/2014/main" id="{38B33FA3-F70F-CBBF-A02C-7C8CD71A1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821" y="2982714"/>
            <a:ext cx="3632793" cy="2742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008587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7404E-B4EC-4DC0-1629-1B20E4E31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A210C-4D65-C6A1-58D3-FA6BBD338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Traces</a:t>
            </a:r>
          </a:p>
        </p:txBody>
      </p:sp>
    </p:spTree>
    <p:extLst>
      <p:ext uri="{BB962C8B-B14F-4D97-AF65-F5344CB8AC3E}">
        <p14:creationId xmlns:p14="http://schemas.microsoft.com/office/powerpoint/2010/main" val="1444560797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1BBBA-1879-7E65-B873-8423F361D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79A729C-6940-2FA2-0A0F-AF5A6DAE0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Traces == Activities == Spans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40023C-B728-568F-C50E-41CE3A8851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Tx/>
              <a:buChar char="-"/>
            </a:pPr>
            <a:r>
              <a:rPr lang="en-US" dirty="0"/>
              <a:t>Traces also support tags.</a:t>
            </a:r>
          </a:p>
          <a:p>
            <a:pPr marL="457200" indent="-457200">
              <a:buFontTx/>
              <a:buChar char="-"/>
            </a:pPr>
            <a:r>
              <a:rPr lang="en-US" dirty="0"/>
              <a:t>They can be completed successfully or with error.</a:t>
            </a:r>
          </a:p>
          <a:p>
            <a:pPr marL="457200" indent="-457200">
              <a:buFontTx/>
              <a:buChar char="-"/>
            </a:pPr>
            <a:r>
              <a:rPr lang="en-US" dirty="0"/>
              <a:t>They also have “events” which can happen within the trace, e.g., exceptions.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8AA788-40D3-6B3B-59F9-79C8BEC92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9915" y="3265714"/>
            <a:ext cx="3792169" cy="283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157513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3763E-43F5-C6EF-0476-DD37884B0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45074-6122-68AE-B386-2C795E16B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Demo 6: Custom Traces</a:t>
            </a:r>
          </a:p>
        </p:txBody>
      </p:sp>
    </p:spTree>
    <p:extLst>
      <p:ext uri="{BB962C8B-B14F-4D97-AF65-F5344CB8AC3E}">
        <p14:creationId xmlns:p14="http://schemas.microsoft.com/office/powerpoint/2010/main" val="3013190429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FDCD124-3099-2089-0DB1-915D878BE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Traces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CA1CD6-1635-FE2A-D45B-214BCF418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Kind: Internal, </a:t>
            </a:r>
            <a:r>
              <a:rPr lang="en-US" b="1" dirty="0"/>
              <a:t>Client, Server</a:t>
            </a:r>
            <a:endParaRPr lang="en-US" dirty="0"/>
          </a:p>
          <a:p>
            <a:endParaRPr lang="en-US" dirty="0"/>
          </a:p>
          <a:p>
            <a:r>
              <a:rPr lang="en-US" dirty="0"/>
              <a:t>Mostly automatic if you’re on .NET Core (ASP.NET Core + </a:t>
            </a:r>
            <a:r>
              <a:rPr lang="en-US" dirty="0" err="1"/>
              <a:t>HttpClient</a:t>
            </a:r>
            <a:r>
              <a:rPr lang="en-US" dirty="0"/>
              <a:t>).</a:t>
            </a:r>
          </a:p>
          <a:p>
            <a:endParaRPr lang="en-US" dirty="0"/>
          </a:p>
          <a:p>
            <a:r>
              <a:rPr lang="en-US" dirty="0"/>
              <a:t>Library support varies; </a:t>
            </a:r>
            <a:r>
              <a:rPr lang="en-US" dirty="0" err="1"/>
              <a:t>MySqlConnector</a:t>
            </a:r>
            <a:r>
              <a:rPr lang="en-US" dirty="0"/>
              <a:t> is great, SQLite needed help.</a:t>
            </a:r>
          </a:p>
        </p:txBody>
      </p:sp>
    </p:spTree>
    <p:extLst>
      <p:ext uri="{BB962C8B-B14F-4D97-AF65-F5344CB8AC3E}">
        <p14:creationId xmlns:p14="http://schemas.microsoft.com/office/powerpoint/2010/main" val="2813034028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F0FA9-4DDF-9164-78AF-4AE7696D0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5A2C0-FDBA-990F-F7D7-510ECAE06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Demo 7: Distributed Traces</a:t>
            </a:r>
          </a:p>
        </p:txBody>
      </p:sp>
    </p:spTree>
    <p:extLst>
      <p:ext uri="{BB962C8B-B14F-4D97-AF65-F5344CB8AC3E}">
        <p14:creationId xmlns:p14="http://schemas.microsoft.com/office/powerpoint/2010/main" val="1759432130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EF492-13D8-EFEF-8BB8-C3FA3B4C7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B9F91E4-E71A-499B-8DC1-3D8A08F46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Asynchronous Distributed Traces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9BF913-0DAA-AA9A-730D-6A8B2D046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Kind: Internal, Client, Server, </a:t>
            </a:r>
            <a:r>
              <a:rPr lang="en-US" b="1" dirty="0"/>
              <a:t>Producer, Consumer</a:t>
            </a:r>
          </a:p>
          <a:p>
            <a:endParaRPr lang="en-US" dirty="0"/>
          </a:p>
          <a:p>
            <a:r>
              <a:rPr lang="en-US" dirty="0"/>
              <a:t>Currently: little automatic support (RabbitMQ does it; AWS/Azure SDKs not so much).</a:t>
            </a:r>
          </a:p>
          <a:p>
            <a:pPr lvl="1"/>
            <a:r>
              <a:rPr lang="en-US" dirty="0"/>
              <a:t>Official sample code: </a:t>
            </a:r>
            <a:r>
              <a:rPr lang="en-US" dirty="0">
                <a:hlinkClick r:id="rId2"/>
              </a:rPr>
              <a:t>https://tinyurl.com/OTEL-RabbitMQ</a:t>
            </a:r>
            <a:endParaRPr lang="en-US" dirty="0"/>
          </a:p>
          <a:p>
            <a:endParaRPr lang="en-US" dirty="0"/>
          </a:p>
          <a:p>
            <a:r>
              <a:rPr lang="en-US" dirty="0"/>
              <a:t>Propagation API is odd because it can be used with: HTTP headers, queue message metadata, arbitrary dictionaries.</a:t>
            </a:r>
          </a:p>
          <a:p>
            <a:pPr marL="796926" lvl="1" indent="-457200">
              <a:buFont typeface="Arial" panose="020B0604020202020204" pitchFamily="34" charset="0"/>
              <a:buChar char="•"/>
            </a:pPr>
            <a:r>
              <a:rPr lang="en-US" dirty="0"/>
              <a:t>E.g., child process using serialized JSON.</a:t>
            </a:r>
          </a:p>
          <a:p>
            <a:pPr marL="796926" lvl="1" indent="-457200">
              <a:buFont typeface="Arial" panose="020B0604020202020204" pitchFamily="34" charset="0"/>
              <a:buChar char="•"/>
            </a:pPr>
            <a:r>
              <a:rPr lang="en-US" dirty="0" err="1"/>
              <a:t>HttpClient</a:t>
            </a:r>
            <a:r>
              <a:rPr lang="en-US" dirty="0"/>
              <a:t> &amp; ASP.NET Core use propagation for their Client/Server traces.</a:t>
            </a:r>
          </a:p>
        </p:txBody>
      </p:sp>
    </p:spTree>
    <p:extLst>
      <p:ext uri="{BB962C8B-B14F-4D97-AF65-F5344CB8AC3E}">
        <p14:creationId xmlns:p14="http://schemas.microsoft.com/office/powerpoint/2010/main" val="878065060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BF229-E76D-15B8-6E38-E38D1B177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CA4A-099B-9628-304A-D0EEEF8C0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Demo 8: Asynchronous Distributed Traces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FE20B9-88C1-DF28-CB83-C7FE6B4E0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924" y="3294603"/>
            <a:ext cx="3479660" cy="227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24698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2F8367F-AB1D-375E-EDD7-94DF4F9EA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Notes: Reducing Noise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48E147-2E0E-F80A-00E7-95B2EB7A4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Tx/>
              <a:buChar char="-"/>
            </a:pPr>
            <a:r>
              <a:rPr lang="en-US" dirty="0"/>
              <a:t>Logging: </a:t>
            </a:r>
            <a:r>
              <a:rPr lang="en-US" dirty="0">
                <a:hlinkClick r:id="rId3"/>
              </a:rPr>
              <a:t>filters</a:t>
            </a:r>
            <a:endParaRPr lang="en-US" dirty="0"/>
          </a:p>
          <a:p>
            <a:pPr marL="457200" indent="-457200">
              <a:buFontTx/>
              <a:buChar char="-"/>
            </a:pPr>
            <a:r>
              <a:rPr lang="en-US" dirty="0"/>
              <a:t>Traces: </a:t>
            </a:r>
            <a:r>
              <a:rPr lang="en-US" dirty="0">
                <a:hlinkClick r:id="rId4"/>
              </a:rPr>
              <a:t>sampling</a:t>
            </a:r>
            <a:endParaRPr lang="en-US" dirty="0"/>
          </a:p>
          <a:p>
            <a:pPr marL="457200" indent="-457200">
              <a:buFontTx/>
              <a:buChar char="-"/>
            </a:pPr>
            <a:r>
              <a:rPr lang="en-US" dirty="0"/>
              <a:t>Metrics: only turn on what you need (e.g., alerts)</a:t>
            </a:r>
          </a:p>
          <a:p>
            <a:pPr marL="457200" indent="-457200">
              <a:buFontTx/>
              <a:buChar char="-"/>
            </a:pPr>
            <a:endParaRPr lang="en-US" dirty="0"/>
          </a:p>
          <a:p>
            <a:pPr marL="457200" indent="-457200">
              <a:buFontTx/>
              <a:buChar char="-"/>
            </a:pPr>
            <a:r>
              <a:rPr lang="en-US" dirty="0"/>
              <a:t>Consider running OTEL Collector; it can filter and transform!</a:t>
            </a:r>
          </a:p>
          <a:p>
            <a:pPr marL="796926" lvl="1" indent="-457200">
              <a:buFontTx/>
              <a:buChar char="-"/>
            </a:pPr>
            <a:r>
              <a:rPr lang="en-US" dirty="0">
                <a:hlinkClick r:id="rId5"/>
              </a:rPr>
              <a:t>Adaptive tail sampling</a:t>
            </a:r>
            <a:endParaRPr lang="en-US" dirty="0"/>
          </a:p>
          <a:p>
            <a:pPr marL="796926" lvl="1" indent="-457200">
              <a:buFontTx/>
              <a:buChar char="-"/>
            </a:pPr>
            <a:r>
              <a:rPr lang="en-US" dirty="0"/>
              <a:t>OTLP on-the-wire format to S3 for cold storage</a:t>
            </a:r>
          </a:p>
          <a:p>
            <a:pPr marL="796926" lvl="1" indent="-457200">
              <a:buFontTx/>
              <a:buChar char="-"/>
            </a:pPr>
            <a:r>
              <a:rPr lang="en-US" dirty="0"/>
              <a:t>Sampling on data sent to dashboards</a:t>
            </a:r>
          </a:p>
          <a:p>
            <a:pPr marL="796926" lvl="1" indent="-457200">
              <a:buFontTx/>
              <a:buChar char="-"/>
            </a:pPr>
            <a:r>
              <a:rPr lang="en-US" dirty="0"/>
              <a:t>Drop metrics not necessary for real-time alerting/dashboards</a:t>
            </a:r>
          </a:p>
        </p:txBody>
      </p:sp>
      <p:pic>
        <p:nvPicPr>
          <p:cNvPr id="5" name="Picture 4" descr="Drinking from the firehose Meme Generator - Imgflip">
            <a:extLst>
              <a:ext uri="{FF2B5EF4-FFF2-40B4-BE49-F238E27FC236}">
                <a16:creationId xmlns:a16="http://schemas.microsoft.com/office/drawing/2014/main" id="{7976156F-F090-895E-FEEF-96C8E832AA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6803" y="536751"/>
            <a:ext cx="3095625" cy="147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45950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25930" y="3296644"/>
            <a:ext cx="2912785" cy="470898"/>
          </a:xfrm>
          <a:prstGeom prst="rect">
            <a:avLst/>
          </a:prstGeom>
          <a:noFill/>
        </p:spPr>
        <p:txBody>
          <a:bodyPr wrap="none" lIns="137160" tIns="109728" rIns="137160" bIns="109728" rtlCol="0">
            <a:spAutoFit/>
          </a:bodyPr>
          <a:lstStyle/>
          <a:p>
            <a:pPr>
              <a:lnSpc>
                <a:spcPct val="90000"/>
              </a:lnSpc>
              <a:spcAft>
                <a:spcPts val="450"/>
              </a:spcAft>
            </a:pPr>
            <a:r>
              <a:rPr lang="en-US" i="1" dirty="0">
                <a:solidFill>
                  <a:schemeClr val="bg1"/>
                </a:solidFill>
              </a:rPr>
              <a:t>Go forth and be awesome!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753E0A-068A-E2EB-175D-6DCC4564FF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7499" y="1173929"/>
            <a:ext cx="4245429" cy="4245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594767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Theme1">
  <a:themeElements>
    <a:clrScheme name="Custom 1">
      <a:dk1>
        <a:srgbClr val="000000"/>
      </a:dk1>
      <a:lt1>
        <a:srgbClr val="FFFFFF"/>
      </a:lt1>
      <a:dk2>
        <a:srgbClr val="26539C"/>
      </a:dk2>
      <a:lt2>
        <a:srgbClr val="B8E9FA"/>
      </a:lt2>
      <a:accent1>
        <a:srgbClr val="176F4E"/>
      </a:accent1>
      <a:accent2>
        <a:srgbClr val="F04848"/>
      </a:accent2>
      <a:accent3>
        <a:srgbClr val="603C1B"/>
      </a:accent3>
      <a:accent4>
        <a:srgbClr val="109A78"/>
      </a:accent4>
      <a:accent5>
        <a:srgbClr val="FCE470"/>
      </a:accent5>
      <a:accent6>
        <a:srgbClr val="70BC82"/>
      </a:accent6>
      <a:hlink>
        <a:srgbClr val="F04848"/>
      </a:hlink>
      <a:folHlink>
        <a:srgbClr val="F04848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noFill/>
          <a:headEnd type="none" w="med" len="med"/>
          <a:tailEnd type="none" w="med" len="med"/>
        </a:ln>
      </a:spPr>
      <a:bodyPr vert="horz" wrap="square" lIns="0" tIns="46637" rIns="0" bIns="46637" numCol="1" rtlCol="0" anchor="ctr" anchorCtr="0" compatLnSpc="1">
        <a:prstTxWarp prst="textNoShape">
          <a:avLst/>
        </a:prstTxWarp>
      </a:bodyPr>
      <a:lstStyle>
        <a:defPPr algn="ctr" defTabSz="932472" fontAlgn="base">
          <a:spcBef>
            <a:spcPct val="0"/>
          </a:spcBef>
          <a:spcAft>
            <a:spcPct val="0"/>
          </a:spcAft>
          <a:defRPr sz="2000" dirty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heme1" id="{3A1D99AA-2C26-4EE3-9549-072F209D0352}" vid="{CC9ED212-E232-4257-BD79-C2D0F5FD60E9}"/>
    </a:ext>
  </a:extLst>
</a:theme>
</file>

<file path=ppt/theme/theme2.xml><?xml version="1.0" encoding="utf-8"?>
<a:theme xmlns:a="http://schemas.openxmlformats.org/drawingml/2006/main" name="2023 ThatConf Landscape">
  <a:themeElements>
    <a:clrScheme name="Custom 1">
      <a:dk1>
        <a:srgbClr val="000000"/>
      </a:dk1>
      <a:lt1>
        <a:srgbClr val="FFFFFF"/>
      </a:lt1>
      <a:dk2>
        <a:srgbClr val="26539C"/>
      </a:dk2>
      <a:lt2>
        <a:srgbClr val="B8E9FA"/>
      </a:lt2>
      <a:accent1>
        <a:srgbClr val="176F4E"/>
      </a:accent1>
      <a:accent2>
        <a:srgbClr val="F04848"/>
      </a:accent2>
      <a:accent3>
        <a:srgbClr val="603C1B"/>
      </a:accent3>
      <a:accent4>
        <a:srgbClr val="109A78"/>
      </a:accent4>
      <a:accent5>
        <a:srgbClr val="FCE470"/>
      </a:accent5>
      <a:accent6>
        <a:srgbClr val="70BC82"/>
      </a:accent6>
      <a:hlink>
        <a:srgbClr val="F04848"/>
      </a:hlink>
      <a:folHlink>
        <a:srgbClr val="F04848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noFill/>
          <a:headEnd type="none" w="med" len="med"/>
          <a:tailEnd type="none" w="med" len="med"/>
        </a:ln>
      </a:spPr>
      <a:bodyPr vert="horz" wrap="square" lIns="0" tIns="46637" rIns="0" bIns="46637" numCol="1" rtlCol="0" anchor="ctr" anchorCtr="0" compatLnSpc="1">
        <a:prstTxWarp prst="textNoShape">
          <a:avLst/>
        </a:prstTxWarp>
      </a:bodyPr>
      <a:lstStyle>
        <a:defPPr algn="ctr" defTabSz="932472" fontAlgn="base">
          <a:spcBef>
            <a:spcPct val="0"/>
          </a:spcBef>
          <a:spcAft>
            <a:spcPct val="0"/>
          </a:spcAft>
          <a:defRPr sz="2000" dirty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" id="{AC9B6D51-8BBA-4D25-816B-B1B284F1984B}" vid="{5CB1449E-9144-40FE-A958-E686E7966457}"/>
    </a:ext>
  </a:extLst>
</a:theme>
</file>

<file path=ppt/theme/theme3.xml><?xml version="1.0" encoding="utf-8"?>
<a:theme xmlns:a="http://schemas.openxmlformats.org/drawingml/2006/main" name="Techorama 2026 Templat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7" id="{F25F3079-1AB4-224B-B687-C8B3492E77B3}" vid="{08E19B72-3914-E242-9C54-738B4A7D24DF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Microsoft</Template>
  <TotalTime>25664</TotalTime>
  <Words>1137</Words>
  <Application>Microsoft Office PowerPoint</Application>
  <PresentationFormat>Widescreen</PresentationFormat>
  <Paragraphs>195</Paragraphs>
  <Slides>34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34</vt:i4>
      </vt:variant>
    </vt:vector>
  </HeadingPairs>
  <TitlesOfParts>
    <vt:vector size="47" baseType="lpstr">
      <vt:lpstr>Alegreya Black</vt:lpstr>
      <vt:lpstr>Alegreya Medium</vt:lpstr>
      <vt:lpstr>Aptos</vt:lpstr>
      <vt:lpstr>Arial</vt:lpstr>
      <vt:lpstr>Calibri</vt:lpstr>
      <vt:lpstr>Consolas</vt:lpstr>
      <vt:lpstr>DS Wallau</vt:lpstr>
      <vt:lpstr>Segoe UI</vt:lpstr>
      <vt:lpstr>Segoe UI Light</vt:lpstr>
      <vt:lpstr>Wingdings</vt:lpstr>
      <vt:lpstr>Theme1</vt:lpstr>
      <vt:lpstr>2023 ThatConf Landscape</vt:lpstr>
      <vt:lpstr>Techorama 2026 Template</vt:lpstr>
      <vt:lpstr>.NET Telemetry in the Real World</vt:lpstr>
      <vt:lpstr>Who is this guy?</vt:lpstr>
      <vt:lpstr>Telemetry</vt:lpstr>
      <vt:lpstr>Telemetry Terminology</vt:lpstr>
      <vt:lpstr>Telemetry Terminology</vt:lpstr>
      <vt:lpstr>Telemetry History: Metrics</vt:lpstr>
      <vt:lpstr>Telemetry History: Traces</vt:lpstr>
      <vt:lpstr>Telemetry History: Logs</vt:lpstr>
      <vt:lpstr>Demo: Local Telemetry</vt:lpstr>
      <vt:lpstr>Demo 1: Telemetry the Easy Way</vt:lpstr>
      <vt:lpstr>Semantic Logging</vt:lpstr>
      <vt:lpstr>Semantic logging</vt:lpstr>
      <vt:lpstr>Semantic Logging: Getting a logger</vt:lpstr>
      <vt:lpstr>Semantic Logging: Basic Logging</vt:lpstr>
      <vt:lpstr>Demo 2: Basic Semantic Logging</vt:lpstr>
      <vt:lpstr>Semantic Logging: Backend options</vt:lpstr>
      <vt:lpstr>Semantic Logging: Scopes!</vt:lpstr>
      <vt:lpstr>Demo 3: Scopes</vt:lpstr>
      <vt:lpstr>Semantic Logging Scopes</vt:lpstr>
      <vt:lpstr>Semantic Logging Scopes</vt:lpstr>
      <vt:lpstr>Demo 4: Scopes in the Real World</vt:lpstr>
      <vt:lpstr>Metrics</vt:lpstr>
      <vt:lpstr>Metrics: Things to measure</vt:lpstr>
      <vt:lpstr>Demo 5: Custom Counter Metric</vt:lpstr>
      <vt:lpstr>Metrics: A word of warning</vt:lpstr>
      <vt:lpstr>Traces</vt:lpstr>
      <vt:lpstr>Traces == Activities == Spans</vt:lpstr>
      <vt:lpstr>Demo 6: Custom Traces</vt:lpstr>
      <vt:lpstr>Distributed Traces</vt:lpstr>
      <vt:lpstr>Demo 7: Distributed Traces</vt:lpstr>
      <vt:lpstr>Asynchronous Distributed Traces</vt:lpstr>
      <vt:lpstr>Demo 8: Asynchronous Distributed Traces</vt:lpstr>
      <vt:lpstr>Final Notes: Reducing Noise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Async</dc:title>
  <dc:creator>Stephen Cleary</dc:creator>
  <cp:lastModifiedBy>stephen</cp:lastModifiedBy>
  <cp:revision>462</cp:revision>
  <dcterms:created xsi:type="dcterms:W3CDTF">2013-02-28T01:41:02Z</dcterms:created>
  <dcterms:modified xsi:type="dcterms:W3CDTF">2026-10-24T21:19:18Z</dcterms:modified>
</cp:coreProperties>
</file>