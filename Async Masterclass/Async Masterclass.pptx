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6" r:id="rId2"/>
    <p:sldMasterId id="2147483692" r:id="rId3"/>
  </p:sldMasterIdLst>
  <p:notesMasterIdLst>
    <p:notesMasterId r:id="rId42"/>
  </p:notesMasterIdLst>
  <p:sldIdLst>
    <p:sldId id="256" r:id="rId4"/>
    <p:sldId id="258" r:id="rId5"/>
    <p:sldId id="317" r:id="rId6"/>
    <p:sldId id="322" r:id="rId7"/>
    <p:sldId id="338" r:id="rId8"/>
    <p:sldId id="330" r:id="rId9"/>
    <p:sldId id="339" r:id="rId10"/>
    <p:sldId id="361" r:id="rId11"/>
    <p:sldId id="323" r:id="rId12"/>
    <p:sldId id="331" r:id="rId13"/>
    <p:sldId id="359" r:id="rId14"/>
    <p:sldId id="346" r:id="rId15"/>
    <p:sldId id="360" r:id="rId16"/>
    <p:sldId id="324" r:id="rId17"/>
    <p:sldId id="332" r:id="rId18"/>
    <p:sldId id="349" r:id="rId19"/>
    <p:sldId id="345" r:id="rId20"/>
    <p:sldId id="347" r:id="rId21"/>
    <p:sldId id="350" r:id="rId22"/>
    <p:sldId id="325" r:id="rId23"/>
    <p:sldId id="333" r:id="rId24"/>
    <p:sldId id="351" r:id="rId25"/>
    <p:sldId id="326" r:id="rId26"/>
    <p:sldId id="334" r:id="rId27"/>
    <p:sldId id="352" r:id="rId28"/>
    <p:sldId id="353" r:id="rId29"/>
    <p:sldId id="354" r:id="rId30"/>
    <p:sldId id="340" r:id="rId31"/>
    <p:sldId id="327" r:id="rId32"/>
    <p:sldId id="335" r:id="rId33"/>
    <p:sldId id="356" r:id="rId34"/>
    <p:sldId id="355" r:id="rId35"/>
    <p:sldId id="328" r:id="rId36"/>
    <p:sldId id="336" r:id="rId37"/>
    <p:sldId id="358" r:id="rId38"/>
    <p:sldId id="329" r:id="rId39"/>
    <p:sldId id="337" r:id="rId40"/>
    <p:sldId id="27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62" autoAdjust="0"/>
    <p:restoredTop sz="70994" autoAdjust="0"/>
  </p:normalViewPr>
  <p:slideViewPr>
    <p:cSldViewPr snapToGrid="0">
      <p:cViewPr varScale="1">
        <p:scale>
          <a:sx n="90" d="100"/>
          <a:sy n="90" d="100"/>
        </p:scale>
        <p:origin x="1278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10/24/2026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coming to my Thread Talk!</a:t>
            </a:r>
          </a:p>
          <a:p>
            <a:endParaRPr lang="en-US" dirty="0"/>
          </a:p>
          <a:p>
            <a:r>
              <a:rPr lang="en-US" dirty="0"/>
              <a:t>Litmus test: you should already be familiar with </a:t>
            </a:r>
            <a:r>
              <a:rPr lang="en-US" dirty="0" err="1"/>
              <a:t>TaskCompletionSource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701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Available for contract work!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Microsoft MVP</a:t>
            </a:r>
          </a:p>
          <a:p>
            <a:pPr marL="171450" indent="-171450">
              <a:buFontTx/>
              <a:buChar char="-"/>
            </a:pPr>
            <a:r>
              <a:rPr lang="en-US" dirty="0"/>
              <a:t>Top async/await answerer on Stack Overflow</a:t>
            </a:r>
          </a:p>
          <a:p>
            <a:pPr marL="171450" indent="-171450">
              <a:buFontTx/>
              <a:buChar char="-"/>
            </a:pPr>
            <a:r>
              <a:rPr lang="en-US" dirty="0"/>
              <a:t>Assisted hundreds of companies with async adoption across all kinds of applications (available for contract work!)</a:t>
            </a:r>
          </a:p>
          <a:p>
            <a:pPr marL="171450" indent="-171450">
              <a:buFontTx/>
              <a:buChar char="-"/>
            </a:pPr>
            <a:r>
              <a:rPr lang="en-US" dirty="0"/>
              <a:t>Blog has been the go-to source for async advice for years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Contributor of some of the MS documentation on subjects such as </a:t>
            </a:r>
            <a:r>
              <a:rPr lang="en-US" dirty="0" err="1"/>
              <a:t>ValueTask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Maintainer of </a:t>
            </a:r>
            <a:r>
              <a:rPr lang="en-US" dirty="0" err="1"/>
              <a:t>AsyncEx</a:t>
            </a:r>
            <a:r>
              <a:rPr lang="en-US" dirty="0"/>
              <a:t>, a library with &gt;25M downloads which provides asynchronous coordination primitives and other async helper types (pretty much the subject of today’s talk)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2469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Socket: APM, </a:t>
            </a:r>
            <a:r>
              <a:rPr lang="en-US" dirty="0" err="1"/>
              <a:t>SocketAsyncEventArgs</a:t>
            </a:r>
            <a:r>
              <a:rPr lang="en-US" dirty="0"/>
              <a:t>, TAP, </a:t>
            </a:r>
            <a:r>
              <a:rPr lang="en-US" dirty="0" err="1"/>
              <a:t>ValueTask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237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8191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EE28C-7E0F-0791-8AB0-5203F5E95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A38B3-98AE-9DFF-1B1F-1CBB888EB8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79EE0-5B31-FEDF-54D5-D8CD35304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10-13 Shift-Alt-R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44E0E-6DDD-2751-58EE-5EBD7553C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102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20-21</a:t>
            </a:r>
          </a:p>
          <a:p>
            <a:r>
              <a:rPr lang="en-US" dirty="0"/>
              <a:t>Also show Task-returning method </a:t>
            </a:r>
            <a:r>
              <a:rPr lang="en-US"/>
              <a:t>without async.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617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Sparingly: Async cache items implicit option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494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1022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89742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my talk on .NET Telemetry from yesterday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367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6968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465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</a:t>
            </a:r>
          </a:p>
          <a:p>
            <a:r>
              <a:rPr lang="en-US" dirty="0"/>
              <a:t>Reset should use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 (!_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tcs.Task.IsCompleted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dirty="0"/>
          </a:p>
          <a:p>
            <a:r>
              <a:rPr lang="en-US" dirty="0"/>
              <a:t>Oops, there’s a bug!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81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36954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Lazy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&lt;T&gt;&gt; _lazy;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AsyncLazy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&lt;T&gt;&gt;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=&gt; _lazy = </a:t>
            </a: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=&gt; _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lazy.Value.GetAwaiter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dirty="0"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9318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.NET team didn’t implement </a:t>
            </a:r>
            <a:r>
              <a:rPr lang="en-US" dirty="0" err="1"/>
              <a:t>AsyncLazy</a:t>
            </a:r>
            <a:r>
              <a:rPr lang="en-US" dirty="0"/>
              <a:t>&lt;T&gt;. This means either</a:t>
            </a:r>
            <a:br>
              <a:rPr lang="en-US" dirty="0"/>
            </a:br>
            <a:r>
              <a:rPr lang="en-US" dirty="0"/>
              <a:t>A) They think I’m awesome because I already implemented it.</a:t>
            </a:r>
            <a:br>
              <a:rPr lang="en-US" dirty="0"/>
            </a:br>
            <a:r>
              <a:rPr lang="en-US" dirty="0"/>
              <a:t>B) They “back away slowly” and let that poor schmuck deal with it.</a:t>
            </a:r>
          </a:p>
          <a:p>
            <a:endParaRPr lang="en-US" dirty="0"/>
          </a:p>
          <a:p>
            <a:r>
              <a:rPr lang="en-US" dirty="0"/>
              <a:t>I don’t know which one it is, and at this point I’m too afraid to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35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Warning: reviewed, but not load tested in prod.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0868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998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569010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2554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669803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79197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2449824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20978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03978885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982217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12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/>
        </p:nvSpPr>
        <p:spPr>
          <a:xfrm>
            <a:off x="4669147" y="3030220"/>
            <a:ext cx="2920479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346531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965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69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6802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6223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4491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2667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0865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6154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706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4453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6152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7403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293498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3616935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263500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128344-1966-0283-F5B7-FC5690AC984B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8574647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90" r:id="rId4"/>
    <p:sldLayoutId id="2147483691" r:id="rId5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0117509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/>
        </p:nvPicPr>
        <p:blipFill>
          <a:blip r:embed="rId19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5ACC95-941A-D9E1-9A37-E078FDC510AD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502038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</p:sldLayoutIdLst>
  <p:transition>
    <p:fade/>
  </p:transition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value-tas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oub-async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tinyurl.com/asyncloca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tinyurl.com/async-tcp" TargetMode="Externa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asynclazy-consideration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2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async-cache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3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Async Masterclass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375714"/>
            <a:ext cx="9144000" cy="98255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Way more than you ever wanted to know.</a:t>
            </a:r>
            <a:br>
              <a:rPr lang="en-US" dirty="0"/>
            </a:br>
            <a:br>
              <a:rPr lang="en-US" dirty="0"/>
            </a:br>
            <a:r>
              <a:rPr lang="en-US" sz="2400" dirty="0"/>
              <a:t>Unless you have an insatiable thirst for knowledge.</a:t>
            </a:r>
          </a:p>
          <a:p>
            <a:r>
              <a:rPr lang="en-US" sz="2400" dirty="0"/>
              <a:t>In which case, this is just one well on your journey.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A8AB33-2441-C6DA-3AD7-F6CE1188521A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3" name="Picture 2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70630259-0BEE-AB55-E2BE-3E87B4D0C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894BCD-49A9-1101-AD83-B797E0EA5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ValueTask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021C2F-E3BD-7143-6DE5-F3922DD30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291" y="601030"/>
            <a:ext cx="47625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164489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6D40BCE-D4D4-35C5-9A99-DD2E76FDE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ValueTask</a:t>
            </a:r>
            <a:r>
              <a:rPr lang="en-US" dirty="0"/>
              <a:t> History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285BC-37D7-3A85-603B-4ABC50823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Tx/>
              <a:buChar char="-"/>
            </a:pPr>
            <a:r>
              <a:rPr lang="en-US" dirty="0"/>
              <a:t>High-performance code that needs to reduce allocations.</a:t>
            </a:r>
          </a:p>
          <a:p>
            <a:pPr marL="457200" indent="-457200">
              <a:buFontTx/>
              <a:buChar char="-"/>
            </a:pPr>
            <a:r>
              <a:rPr lang="en-US" dirty="0"/>
              <a:t>Classic use case: </a:t>
            </a:r>
            <a:r>
              <a:rPr lang="en-US" dirty="0">
                <a:latin typeface="Consolas" panose="020B0609020204030204" pitchFamily="49" charset="0"/>
              </a:rPr>
              <a:t>Socket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First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was either a synchronous result or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r>
              <a:rPr lang="en-US" dirty="0"/>
              <a:t>Modern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can also be an </a:t>
            </a:r>
            <a:r>
              <a:rPr lang="en-US" dirty="0" err="1">
                <a:latin typeface="Consolas" panose="020B0609020204030204" pitchFamily="49" charset="0"/>
              </a:rPr>
              <a:t>IValueTaskSource</a:t>
            </a:r>
            <a:r>
              <a:rPr lang="en-US" dirty="0"/>
              <a:t> (enables pooled / recycled source instances – essentially a reusable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).</a:t>
            </a:r>
          </a:p>
          <a:p>
            <a:pPr algn="ctr"/>
            <a:r>
              <a:rPr lang="en-US" dirty="0">
                <a:hlinkClick r:id="rId3"/>
              </a:rPr>
              <a:t>https://tinyurl.com/value-task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983808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C829FB-6C47-1442-C197-D823808B2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Around </a:t>
            </a:r>
            <a:r>
              <a:rPr lang="en-US" dirty="0" err="1"/>
              <a:t>ValueTask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6DB1A2-496F-86BC-5024-8622FC27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Only consume once!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await</a:t>
            </a:r>
            <a:r>
              <a:rPr lang="en-US" dirty="0"/>
              <a:t> – the 99% case.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Advanced: </a:t>
            </a:r>
            <a:r>
              <a:rPr lang="en-US" dirty="0" err="1">
                <a:latin typeface="Consolas" panose="020B0609020204030204" pitchFamily="49" charset="0"/>
              </a:rPr>
              <a:t>IsCompleted</a:t>
            </a:r>
            <a:r>
              <a:rPr lang="en-US" dirty="0"/>
              <a:t> for fast path.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Cannot block!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.Result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GetAwaiter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GetResult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+mn-lt"/>
              </a:rPr>
              <a:t> will </a:t>
            </a:r>
            <a:r>
              <a:rPr lang="en-US" i="1" dirty="0">
                <a:latin typeface="+mn-lt"/>
              </a:rPr>
              <a:t>compile</a:t>
            </a:r>
            <a:r>
              <a:rPr lang="en-US" dirty="0">
                <a:latin typeface="+mn-lt"/>
              </a:rPr>
              <a:t> but may fail at runtime.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+mn-lt"/>
              </a:rPr>
              <a:t>Even worse, they may work at runtime (block) and then later fail at runtime.</a:t>
            </a:r>
            <a:endParaRPr lang="en-US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Need to bend the rules? </a:t>
            </a:r>
            <a:r>
              <a:rPr lang="en-US" dirty="0" err="1">
                <a:latin typeface="Consolas" panose="020B0609020204030204" pitchFamily="49" charset="0"/>
              </a:rPr>
              <a:t>AsTask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pic>
        <p:nvPicPr>
          <p:cNvPr id="1028" name="Picture 4" descr="RULES, THERE ARE, FOLLOW THEM, YOU MUST - Meme Generator">
            <a:extLst>
              <a:ext uri="{FF2B5EF4-FFF2-40B4-BE49-F238E27FC236}">
                <a16:creationId xmlns:a16="http://schemas.microsoft.com/office/drawing/2014/main" id="{DAEB2EF1-56BE-F32C-4E09-3FCC6423A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8871" y="529045"/>
            <a:ext cx="3459480" cy="2618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427527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C829FB-6C47-1442-C197-D823808B2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</a:t>
            </a:r>
            <a:r>
              <a:rPr lang="en-US" dirty="0" err="1"/>
              <a:t>ValueTask</a:t>
            </a:r>
            <a:r>
              <a:rPr lang="en-US" dirty="0"/>
              <a:t> Methods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6DB1A2-496F-86BC-5024-8622FC27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Producing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 err="1"/>
              <a:t>s</a:t>
            </a:r>
            <a:r>
              <a:rPr lang="en-US" dirty="0"/>
              <a:t>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async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: possibly-synchronous results (.NET Core 1.1).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AsyncMethodBuilder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PoolingAsyncValueTaskMethodBuilder</a:t>
            </a:r>
            <a:r>
              <a:rPr lang="en-US" dirty="0">
                <a:latin typeface="Consolas" panose="020B0609020204030204" pitchFamily="49" charset="0"/>
              </a:rPr>
              <a:t>&lt;&gt;))]</a:t>
            </a:r>
            <a:r>
              <a:rPr lang="en-US" dirty="0">
                <a:latin typeface="+mn-lt"/>
              </a:rPr>
              <a:t>: pooled </a:t>
            </a:r>
            <a:r>
              <a:rPr lang="en-US" dirty="0" err="1">
                <a:latin typeface="+mn-lt"/>
              </a:rPr>
              <a:t>ValueTask</a:t>
            </a:r>
            <a:r>
              <a:rPr lang="en-US" dirty="0">
                <a:latin typeface="+mn-lt"/>
              </a:rPr>
              <a:t> sources (.NET 6).</a:t>
            </a:r>
          </a:p>
          <a:p>
            <a:pPr marL="457200" indent="-457200">
              <a:buFontTx/>
              <a:buChar char="-"/>
            </a:pPr>
            <a:endParaRPr lang="en-US" dirty="0">
              <a:latin typeface="+mn-lt"/>
            </a:endParaRPr>
          </a:p>
          <a:p>
            <a:pPr marL="457200" indent="-457200">
              <a:buFontTx/>
              <a:buChar char="-"/>
            </a:pPr>
            <a:r>
              <a:rPr lang="en-US" dirty="0">
                <a:latin typeface="+mn-lt"/>
              </a:rPr>
              <a:t>Mostly outdated: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Constructor: synchronous result or Task wrapper (.NET Core 1.0).</a:t>
            </a:r>
          </a:p>
          <a:p>
            <a:pPr marL="796926" lvl="1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ManualResetValueTaskSourceCore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>
                <a:latin typeface="+mn-lt"/>
              </a:rPr>
              <a:t> (.NET Core 3.0).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+mn-lt"/>
              </a:rPr>
              <a:t>Implements </a:t>
            </a:r>
            <a:r>
              <a:rPr lang="en-US" dirty="0" err="1">
                <a:latin typeface="Consolas" panose="020B0609020204030204" pitchFamily="49" charset="0"/>
              </a:rPr>
              <a:t>IValueTaskSource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+mn-lt"/>
              </a:rPr>
              <a:t>Still useful for </a:t>
            </a:r>
            <a:r>
              <a:rPr lang="en-US" i="1" dirty="0">
                <a:latin typeface="+mn-lt"/>
              </a:rPr>
              <a:t>extremely</a:t>
            </a:r>
            <a:r>
              <a:rPr lang="en-US" dirty="0">
                <a:latin typeface="+mn-lt"/>
              </a:rPr>
              <a:t> performance-sensitive code, e.g., Socket reads/writes.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344013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9B4F4-6B8F-797A-322D-7D316FD99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343006-F9F5-2ABD-685B-946E5A082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</a:t>
            </a:r>
            <a:r>
              <a:rPr lang="en-US" dirty="0" err="1"/>
              <a:t>ValueTask</a:t>
            </a:r>
            <a:r>
              <a:rPr lang="en-US" dirty="0"/>
              <a:t> Methods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8B63F8-DB75-1DE3-568F-DE3644523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Do nothing (keep using Task instead)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Just wait until runtime async lands.</a:t>
            </a:r>
          </a:p>
        </p:txBody>
      </p:sp>
    </p:spTree>
    <p:extLst>
      <p:ext uri="{BB962C8B-B14F-4D97-AF65-F5344CB8AC3E}">
        <p14:creationId xmlns:p14="http://schemas.microsoft.com/office/powerpoint/2010/main" val="286702104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IAsyncDisposable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F7C370D-2F68-6DA9-5078-81906CB939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6057" y="1041991"/>
            <a:ext cx="2992022" cy="4524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23018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CF484-0F47-554C-2FA2-668360593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Disposal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EE5FCE-DFD3-DCAC-06BC-BF9A8DAF3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DisposeAsync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Just like </a:t>
            </a:r>
            <a:r>
              <a:rPr lang="en-US" dirty="0">
                <a:latin typeface="Consolas" panose="020B0609020204030204" pitchFamily="49" charset="0"/>
              </a:rPr>
              <a:t>Dispose()</a:t>
            </a:r>
            <a:r>
              <a:rPr lang="en-US" dirty="0"/>
              <a:t>, just asynchronous.</a:t>
            </a:r>
          </a:p>
          <a:p>
            <a:pPr marL="457200" indent="-457200">
              <a:buFontTx/>
              <a:buChar char="-"/>
            </a:pPr>
            <a:r>
              <a:rPr lang="en-US" dirty="0"/>
              <a:t>No official patterns for whether you can (or should) support both, “dispose pattern”, etc.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r>
              <a:rPr lang="en-US" dirty="0"/>
              <a:t>Not supported everywhere, e.g., </a:t>
            </a:r>
            <a:r>
              <a:rPr lang="en-US" dirty="0" err="1">
                <a:latin typeface="Consolas" panose="020B0609020204030204" pitchFamily="49" charset="0"/>
              </a:rPr>
              <a:t>AsyncServiceScope</a:t>
            </a:r>
            <a:r>
              <a:rPr lang="en-US" dirty="0"/>
              <a:t> is 6.0+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Nito.Disposables</a:t>
            </a:r>
            <a:r>
              <a:rPr lang="en-US" dirty="0"/>
              <a:t> if you want helpers.</a:t>
            </a:r>
          </a:p>
        </p:txBody>
      </p:sp>
    </p:spTree>
    <p:extLst>
      <p:ext uri="{BB962C8B-B14F-4D97-AF65-F5344CB8AC3E}">
        <p14:creationId xmlns:p14="http://schemas.microsoft.com/office/powerpoint/2010/main" val="65853810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FA49-56A4-5B7E-5ACB-09E09B21D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A2B4D-7535-A062-6E08-83E0F4665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Streams</a:t>
            </a:r>
          </a:p>
        </p:txBody>
      </p:sp>
    </p:spTree>
    <p:extLst>
      <p:ext uri="{BB962C8B-B14F-4D97-AF65-F5344CB8AC3E}">
        <p14:creationId xmlns:p14="http://schemas.microsoft.com/office/powerpoint/2010/main" val="29262427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2CF5F-767D-C7CC-7AFF-44C1B7E11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Streams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311FC6-05EF-2F24-0076-3CEB52363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88D32DB-EA35-24B8-BF6A-CD0BECC87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656077"/>
              </p:ext>
            </p:extLst>
          </p:nvPr>
        </p:nvGraphicFramePr>
        <p:xfrm>
          <a:off x="703646" y="1197322"/>
          <a:ext cx="10886544" cy="428907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059201">
                  <a:extLst>
                    <a:ext uri="{9D8B030D-6E8A-4147-A177-3AD203B41FA5}">
                      <a16:colId xmlns:a16="http://schemas.microsoft.com/office/drawing/2014/main" val="2196646862"/>
                    </a:ext>
                  </a:extLst>
                </a:gridCol>
                <a:gridCol w="5827343">
                  <a:extLst>
                    <a:ext uri="{9D8B030D-6E8A-4147-A177-3AD203B41FA5}">
                      <a16:colId xmlns:a16="http://schemas.microsoft.com/office/drawing/2014/main" val="4035745119"/>
                    </a:ext>
                  </a:extLst>
                </a:gridCol>
              </a:tblGrid>
              <a:tr h="714846">
                <a:tc>
                  <a:txBody>
                    <a:bodyPr/>
                    <a:lstStyle/>
                    <a:p>
                      <a:r>
                        <a:rPr lang="en-US" sz="2400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933655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Synchronous, single value.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38449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IEnumerable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Synchronous, multiple values.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802096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pPr marL="0" algn="l" defTabSz="914367" rtl="0" eaLnBrk="1" latinLnBrk="0" hangingPunct="1"/>
                      <a:r>
                        <a:rPr lang="en-US" sz="24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Task&lt;T&gt;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single value.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56952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IObservable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  <a:r>
                        <a:rPr lang="en-US" sz="2400" dirty="0">
                          <a:latin typeface="+mn-lt"/>
                        </a:rPr>
                        <a:t> (or events)</a:t>
                      </a:r>
                      <a:endParaRPr lang="en-US" sz="24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multiple values, pushed.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8601600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IAsyncEnumerable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multiple values, pulled.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876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6250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4F9A4-1F41-40C4-6CD5-CDFDB823B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66EE53-91AE-D865-DA59-E8D4DCA9FA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B221AD-6D2E-7EB9-6FE2-8638723C2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3707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>
                <a:latin typeface="+mj-lt"/>
              </a:rPr>
              <a:t>&lt;</a:t>
            </a:r>
            <a:r>
              <a:rPr lang="en-US" dirty="0"/>
              <a:t>T</a:t>
            </a:r>
            <a:r>
              <a:rPr lang="en-US" dirty="0">
                <a:latin typeface="+mj-lt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3330071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Implicit data with lexical scoping.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C24C2E-74EA-538E-3BAC-6FEEB7EA7C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62079" y="2554015"/>
            <a:ext cx="2467842" cy="2467842"/>
          </a:xfrm>
          <a:prstGeom prst="rect">
            <a:avLst/>
          </a:prstGeom>
          <a:solidFill>
            <a:schemeClr val="tx2"/>
          </a:solidFill>
        </p:spPr>
      </p:pic>
    </p:spTree>
    <p:extLst>
      <p:ext uri="{BB962C8B-B14F-4D97-AF65-F5344CB8AC3E}">
        <p14:creationId xmlns:p14="http://schemas.microsoft.com/office/powerpoint/2010/main" val="360024726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Guidelines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Use </a:t>
            </a:r>
            <a:r>
              <a:rPr lang="en-US" dirty="0">
                <a:latin typeface="Consolas" panose="020B0609020204030204" pitchFamily="49" charset="0"/>
              </a:rPr>
              <a:t>using</a:t>
            </a:r>
            <a:r>
              <a:rPr lang="en-US" dirty="0"/>
              <a:t> to make scopes explicit.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Use immutable types.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There’s a difference between modifying the value and setting the value.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Use sparingly!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Implicit data is too magical. E.g., culture.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Similar drawbacks as global variables.</a:t>
            </a:r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2B15AECF-0012-357D-5F36-979BEE917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0351" y="523428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390648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Details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Flowed by </a:t>
            </a:r>
            <a:r>
              <a:rPr lang="en-US" dirty="0" err="1"/>
              <a:t>ExecutionContext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Pre-Core: part of </a:t>
            </a:r>
            <a:r>
              <a:rPr lang="en-US" dirty="0" err="1"/>
              <a:t>LogicalCallContext</a:t>
            </a:r>
            <a:r>
              <a:rPr lang="en-US" dirty="0"/>
              <a:t> vs </a:t>
            </a:r>
            <a:r>
              <a:rPr lang="en-US" dirty="0" err="1"/>
              <a:t>IllogicalCallContext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Core: </a:t>
            </a:r>
            <a:r>
              <a:rPr lang="en-US" dirty="0" err="1"/>
              <a:t>ExecutionContext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async</a:t>
            </a:r>
            <a:r>
              <a:rPr lang="en-US" dirty="0"/>
              <a:t> methods shallow-copy their scope at beginning of method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Reason for immutable guideline.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Nested contexts, except every non-</a:t>
            </a:r>
            <a:r>
              <a:rPr lang="en-US" dirty="0">
                <a:latin typeface="Consolas" panose="020B0609020204030204" pitchFamily="49" charset="0"/>
              </a:rPr>
              <a:t>async</a:t>
            </a:r>
            <a:r>
              <a:rPr lang="en-US" dirty="0"/>
              <a:t> method lives in its parent context (!)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Reason for </a:t>
            </a:r>
            <a:r>
              <a:rPr lang="en-US" dirty="0">
                <a:latin typeface="Consolas" panose="020B0609020204030204" pitchFamily="49" charset="0"/>
              </a:rPr>
              <a:t>using</a:t>
            </a:r>
            <a:r>
              <a:rPr lang="en-US" dirty="0"/>
              <a:t> guideline.</a:t>
            </a:r>
          </a:p>
          <a:p>
            <a:pPr marL="457200" indent="-457200">
              <a:buFontTx/>
              <a:buChar char="-"/>
            </a:pPr>
            <a:r>
              <a:rPr lang="en-US" dirty="0"/>
              <a:t>Context always flows “down,” never “up”.</a:t>
            </a:r>
          </a:p>
          <a:p>
            <a:pPr algn="ctr"/>
            <a:r>
              <a:rPr lang="en-US" dirty="0">
                <a:hlinkClick r:id="rId3"/>
              </a:rPr>
              <a:t>https://tinyurl.com/toub-async</a:t>
            </a:r>
            <a:endParaRPr lang="en-US" dirty="0"/>
          </a:p>
          <a:p>
            <a:pPr algn="ctr"/>
            <a:r>
              <a:rPr lang="en-US" dirty="0">
                <a:hlinkClick r:id="rId4"/>
              </a:rPr>
              <a:t>https://tinyurl.com/asynclocal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56998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Primary Use Case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Attaching contextual data to log messages.</a:t>
            </a:r>
          </a:p>
        </p:txBody>
      </p:sp>
      <p:pic>
        <p:nvPicPr>
          <p:cNvPr id="4098" name="Picture 2" descr="Log | Ren &amp; Stimpy Wiki | Fandom">
            <a:extLst>
              <a:ext uri="{FF2B5EF4-FFF2-40B4-BE49-F238E27FC236}">
                <a16:creationId xmlns:a16="http://schemas.microsoft.com/office/drawing/2014/main" id="{F8A474EE-A2D0-36DC-5D9C-A6CB31438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6111" y="2307751"/>
            <a:ext cx="3699777" cy="296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800796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Primary Use Case: Pitfall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Exception logging missing contextual data.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How does ASP.NET middleware actually work?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How does exception logging middleware work?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Solution: throw context enrichers.</a:t>
            </a:r>
          </a:p>
        </p:txBody>
      </p:sp>
    </p:spTree>
    <p:extLst>
      <p:ext uri="{BB962C8B-B14F-4D97-AF65-F5344CB8AC3E}">
        <p14:creationId xmlns:p14="http://schemas.microsoft.com/office/powerpoint/2010/main" val="3421048878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Channels</a:t>
            </a:r>
          </a:p>
        </p:txBody>
      </p:sp>
    </p:spTree>
    <p:extLst>
      <p:ext uri="{BB962C8B-B14F-4D97-AF65-F5344CB8AC3E}">
        <p14:creationId xmlns:p14="http://schemas.microsoft.com/office/powerpoint/2010/main" val="1959425526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60E6F6-B2A0-DA27-7837-0BC636011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Channels: Async Producer/Consumer Queues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CEA868-D0A1-A690-FEA1-7512FFD48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Replaces hand-grown or TPL Dataflow.</a:t>
            </a:r>
          </a:p>
          <a:p>
            <a:endParaRPr lang="en-US" dirty="0"/>
          </a:p>
          <a:p>
            <a:r>
              <a:rPr lang="en-US" dirty="0"/>
              <a:t>Consumer: </a:t>
            </a:r>
            <a:r>
              <a:rPr lang="en-US" dirty="0" err="1">
                <a:latin typeface="Consolas" panose="020B0609020204030204" pitchFamily="49" charset="0"/>
              </a:rPr>
              <a:t>ReadAllAsync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Producer: </a:t>
            </a:r>
            <a:r>
              <a:rPr lang="en-US" dirty="0" err="1">
                <a:latin typeface="Consolas" panose="020B0609020204030204" pitchFamily="49" charset="0"/>
              </a:rPr>
              <a:t>WriteAsync</a:t>
            </a:r>
            <a:r>
              <a:rPr lang="en-US" dirty="0"/>
              <a:t> + </a:t>
            </a:r>
            <a:r>
              <a:rPr lang="en-US" dirty="0">
                <a:latin typeface="Consolas" panose="020B0609020204030204" pitchFamily="49" charset="0"/>
              </a:rPr>
              <a:t>Complete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Bounded for backpressure.</a:t>
            </a:r>
          </a:p>
        </p:txBody>
      </p:sp>
    </p:spTree>
    <p:extLst>
      <p:ext uri="{BB962C8B-B14F-4D97-AF65-F5344CB8AC3E}">
        <p14:creationId xmlns:p14="http://schemas.microsoft.com/office/powerpoint/2010/main" val="1667434718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292EC8-5708-C60F-805B-1775D3B7E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4991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8636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Desired Semantics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65C3E-CE8C-2318-71EB-8B2138801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Pause / </a:t>
            </a:r>
            <a:r>
              <a:rPr lang="en-US" dirty="0" err="1"/>
              <a:t>Unpause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WaitWhilePausedAsync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split into “source” (controller) and “token”, similar to CTS.</a:t>
            </a:r>
          </a:p>
        </p:txBody>
      </p:sp>
      <p:pic>
        <p:nvPicPr>
          <p:cNvPr id="3076" name="Picture 4" descr="Stop in the Name of Love – mirabile dictu">
            <a:extLst>
              <a:ext uri="{FF2B5EF4-FFF2-40B4-BE49-F238E27FC236}">
                <a16:creationId xmlns:a16="http://schemas.microsoft.com/office/drawing/2014/main" id="{EBA2CA16-C9A0-5F2B-2280-2828DE2ED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0340" y="1157279"/>
            <a:ext cx="3939407" cy="3182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486899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Recognized API Pattern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65C3E-CE8C-2318-71EB-8B2138801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</a:t>
            </a:r>
            <a:r>
              <a:rPr lang="en-US" dirty="0" err="1"/>
              <a:t>ManualResetEvent</a:t>
            </a:r>
            <a:r>
              <a:rPr lang="en-US" dirty="0"/>
              <a:t>!</a:t>
            </a:r>
          </a:p>
          <a:p>
            <a:r>
              <a:rPr lang="en-US" dirty="0"/>
              <a:t>Event: A thing that is “</a:t>
            </a:r>
            <a:r>
              <a:rPr lang="en-US" dirty="0" err="1"/>
              <a:t>signalled</a:t>
            </a:r>
            <a:r>
              <a:rPr lang="en-US" dirty="0"/>
              <a:t>” or “</a:t>
            </a:r>
            <a:r>
              <a:rPr lang="en-US" dirty="0" err="1"/>
              <a:t>unsignalled</a:t>
            </a:r>
            <a:r>
              <a:rPr lang="en-US" dirty="0"/>
              <a:t>” and enables waiting for it to become </a:t>
            </a:r>
            <a:r>
              <a:rPr lang="en-US" dirty="0" err="1"/>
              <a:t>signalled</a:t>
            </a:r>
            <a:r>
              <a:rPr lang="en-US" dirty="0"/>
              <a:t>.</a:t>
            </a:r>
          </a:p>
          <a:p>
            <a:r>
              <a:rPr lang="en-US" dirty="0" err="1"/>
              <a:t>ManualReset</a:t>
            </a:r>
            <a:r>
              <a:rPr lang="en-US" dirty="0"/>
              <a:t>: An event that is manually set (=&gt; </a:t>
            </a:r>
            <a:r>
              <a:rPr lang="en-US" dirty="0" err="1"/>
              <a:t>signalled</a:t>
            </a:r>
            <a:r>
              <a:rPr lang="en-US" dirty="0"/>
              <a:t>) or reset (=&gt; </a:t>
            </a:r>
            <a:r>
              <a:rPr lang="en-US" dirty="0" err="1"/>
              <a:t>unsignalled</a:t>
            </a:r>
            <a:r>
              <a:rPr lang="en-US" dirty="0"/>
              <a:t>).</a:t>
            </a:r>
          </a:p>
          <a:p>
            <a:r>
              <a:rPr lang="en-US" dirty="0"/>
              <a:t>Plan: build </a:t>
            </a:r>
            <a:r>
              <a:rPr lang="en-US" dirty="0" err="1"/>
              <a:t>AsyncMRE</a:t>
            </a:r>
            <a:r>
              <a:rPr lang="en-US" dirty="0"/>
              <a:t> first; then build PT+PTS.</a:t>
            </a:r>
          </a:p>
        </p:txBody>
      </p:sp>
    </p:spTree>
    <p:extLst>
      <p:ext uri="{BB962C8B-B14F-4D97-AF65-F5344CB8AC3E}">
        <p14:creationId xmlns:p14="http://schemas.microsoft.com/office/powerpoint/2010/main" val="937123484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Strategy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5F9472-FD57-19AD-584D-0FDD519FAE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E5441EA7-ACE2-283F-56FF-93E989BB44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207409"/>
              </p:ext>
            </p:extLst>
          </p:nvPr>
        </p:nvGraphicFramePr>
        <p:xfrm>
          <a:off x="703648" y="1633257"/>
          <a:ext cx="10886542" cy="285938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443271">
                  <a:extLst>
                    <a:ext uri="{9D8B030D-6E8A-4147-A177-3AD203B41FA5}">
                      <a16:colId xmlns:a16="http://schemas.microsoft.com/office/drawing/2014/main" val="2196646862"/>
                    </a:ext>
                  </a:extLst>
                </a:gridCol>
                <a:gridCol w="5443271">
                  <a:extLst>
                    <a:ext uri="{9D8B030D-6E8A-4147-A177-3AD203B41FA5}">
                      <a16:colId xmlns:a16="http://schemas.microsoft.com/office/drawing/2014/main" val="4035745119"/>
                    </a:ext>
                  </a:extLst>
                </a:gridCol>
              </a:tblGrid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PauseToken</a:t>
                      </a:r>
                      <a:r>
                        <a:rPr lang="en-US" sz="2400" dirty="0"/>
                        <a:t> Semantics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ManualResetEvent</a:t>
                      </a:r>
                      <a:r>
                        <a:rPr lang="en-US" sz="2400" dirty="0"/>
                        <a:t> Semantics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933655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Pause()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Reset()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38449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Unpause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Set()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802096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pPr marL="0" algn="l" defTabSz="914367" rtl="0" eaLnBrk="1" latinLnBrk="0" hangingPunct="1"/>
                      <a:r>
                        <a:rPr lang="en-US" sz="24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WaitWhilePausedAsync</a:t>
                      </a:r>
                      <a:r>
                        <a:rPr lang="en-US" sz="24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WaitOne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() /* Wait until set */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569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829614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CC37DAB-5541-ADF7-2819-8FD85D7D2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084944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7C7E0-D93C-8C61-E1C7-250A794B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B9A00-2629-4390-1F99-F8ADE5462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Tricksy parts:</a:t>
            </a:r>
          </a:p>
          <a:p>
            <a:pPr marL="457200" indent="-457200">
              <a:buFontTx/>
              <a:buChar char="-"/>
            </a:pPr>
            <a:endParaRPr lang="en-US" b="1" dirty="0"/>
          </a:p>
          <a:p>
            <a:pPr marL="457200" indent="-457200">
              <a:buFontTx/>
              <a:buChar char="-"/>
            </a:pPr>
            <a:r>
              <a:rPr lang="en-US" b="1" dirty="0"/>
              <a:t>Never invoke end-user code while holding a lock.</a:t>
            </a:r>
          </a:p>
          <a:p>
            <a:pPr marL="457200" indent="-457200">
              <a:buFontTx/>
              <a:buChar char="-"/>
            </a:pPr>
            <a:endParaRPr lang="en-US" b="1" dirty="0"/>
          </a:p>
          <a:p>
            <a:pPr marL="457200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TaskCompletionSource.TrySetResult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(and friends) and </a:t>
            </a:r>
            <a:r>
              <a:rPr lang="en-US" dirty="0" err="1">
                <a:latin typeface="Consolas" panose="020B0609020204030204" pitchFamily="49" charset="0"/>
              </a:rPr>
              <a:t>CancellationTokenSource.Cancel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/>
              <a:t>are</a:t>
            </a:r>
            <a:r>
              <a:rPr lang="en-US" dirty="0"/>
              <a:t> invocations of end-user code!</a:t>
            </a:r>
          </a:p>
        </p:txBody>
      </p:sp>
    </p:spTree>
    <p:extLst>
      <p:ext uri="{BB962C8B-B14F-4D97-AF65-F5344CB8AC3E}">
        <p14:creationId xmlns:p14="http://schemas.microsoft.com/office/powerpoint/2010/main" val="196658636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</a:t>
            </a:r>
          </a:p>
        </p:txBody>
      </p:sp>
    </p:spTree>
    <p:extLst>
      <p:ext uri="{BB962C8B-B14F-4D97-AF65-F5344CB8AC3E}">
        <p14:creationId xmlns:p14="http://schemas.microsoft.com/office/powerpoint/2010/main" val="3461717117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9DED77-AC07-8439-3D65-A59625B6A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Dictionary: Desired Semantics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5DA4B2-2627-1440-2751-387E8A17F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Common situation: multiple requests and replies, where replies may not be in request order.</a:t>
            </a:r>
          </a:p>
          <a:p>
            <a:endParaRPr lang="en-US" dirty="0"/>
          </a:p>
          <a:p>
            <a:r>
              <a:rPr lang="en-US" dirty="0"/>
              <a:t>Solution: TCS dictionary.</a:t>
            </a:r>
          </a:p>
          <a:p>
            <a:endParaRPr lang="en-US" dirty="0"/>
          </a:p>
          <a:p>
            <a:r>
              <a:rPr lang="en-US" dirty="0"/>
              <a:t>Operations: Insert, Remove-And-Complete.</a:t>
            </a:r>
          </a:p>
          <a:p>
            <a:endParaRPr lang="en-US" dirty="0"/>
          </a:p>
          <a:p>
            <a:r>
              <a:rPr lang="en-US" b="1" dirty="0"/>
              <a:t>Always complete your tasks!</a:t>
            </a:r>
          </a:p>
        </p:txBody>
      </p:sp>
    </p:spTree>
    <p:extLst>
      <p:ext uri="{BB962C8B-B14F-4D97-AF65-F5344CB8AC3E}">
        <p14:creationId xmlns:p14="http://schemas.microsoft.com/office/powerpoint/2010/main" val="1175680737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1C5BEC-D7E8-4E1E-0CC9-3CF36BD9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87956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9B3FA-7E02-014E-9406-46B09037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Dictionary: Worked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BA27C-DB62-2391-2DB2-7BA323E194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Building a TCP/IP client/server that uses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Socket methods, </a:t>
            </a:r>
            <a:r>
              <a:rPr lang="en-US" dirty="0" err="1">
                <a:latin typeface="Consolas" panose="020B0609020204030204" pitchFamily="49" charset="0"/>
              </a:rPr>
              <a:t>System.IO.Pipelines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Channel</a:t>
            </a:r>
            <a:r>
              <a:rPr lang="en-US" dirty="0"/>
              <a:t>s, and a TCS dictionary all together.</a:t>
            </a:r>
          </a:p>
          <a:p>
            <a:endParaRPr lang="en-US" dirty="0"/>
          </a:p>
          <a:p>
            <a:pPr algn="ctr"/>
            <a:r>
              <a:rPr lang="en-US" dirty="0">
                <a:hlinkClick r:id="rId2"/>
              </a:rPr>
              <a:t>https://tinyurl.com/async-tcp</a:t>
            </a:r>
            <a:endParaRPr lang="en-US" dirty="0"/>
          </a:p>
        </p:txBody>
      </p:sp>
      <p:pic>
        <p:nvPicPr>
          <p:cNvPr id="1026" name="Picture 2" descr="High Quality Charlie Conspiracy (Always Sunny in Philidelphia) Blank Meme Template">
            <a:extLst>
              <a:ext uri="{FF2B5EF4-FFF2-40B4-BE49-F238E27FC236}">
                <a16:creationId xmlns:a16="http://schemas.microsoft.com/office/drawing/2014/main" id="{64A17056-ED1E-2596-96DB-018634FCB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5335" y="3829648"/>
            <a:ext cx="3021330" cy="22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7072675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>
                <a:latin typeface="+mj-lt"/>
              </a:rPr>
              <a:t>&lt;</a:t>
            </a:r>
            <a:r>
              <a:rPr lang="en-US" dirty="0"/>
              <a:t>T</a:t>
            </a:r>
            <a:r>
              <a:rPr lang="en-US" dirty="0">
                <a:latin typeface="+mj-lt"/>
              </a:rPr>
              <a:t>&gt;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9954166-BC53-1EE6-5694-3ECA84294D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9" y="1275906"/>
            <a:ext cx="4087623" cy="4087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39831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E5EE27-1BFB-EF87-7121-0793EEC7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/>
              <a:t>: Simplicity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58186-195F-10C0-8D7A-EF4895BF8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Easy solution (</a:t>
            </a:r>
            <a:r>
              <a:rPr lang="en-US" dirty="0">
                <a:latin typeface="Consolas" panose="020B0609020204030204" pitchFamily="49" charset="0"/>
              </a:rPr>
              <a:t>Lazy&lt;Task&lt;T&gt;&gt; </a:t>
            </a:r>
            <a:r>
              <a:rPr lang="en-US" dirty="0"/>
              <a:t>with </a:t>
            </a:r>
            <a:r>
              <a:rPr lang="en-US" dirty="0" err="1">
                <a:latin typeface="Consolas" panose="020B0609020204030204" pitchFamily="49" charset="0"/>
              </a:rPr>
              <a:t>GetAwaiter</a:t>
            </a:r>
            <a:r>
              <a:rPr lang="en-US" dirty="0"/>
              <a:t>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4139B3-857D-EF29-F5BF-B3C8C128DC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50772" y="2554015"/>
            <a:ext cx="3290455" cy="2467842"/>
          </a:xfrm>
          <a:prstGeom prst="rect">
            <a:avLst/>
          </a:prstGeom>
          <a:solidFill>
            <a:schemeClr val="tx2"/>
          </a:solidFill>
        </p:spPr>
      </p:pic>
    </p:spTree>
    <p:extLst>
      <p:ext uri="{BB962C8B-B14F-4D97-AF65-F5344CB8AC3E}">
        <p14:creationId xmlns:p14="http://schemas.microsoft.com/office/powerpoint/2010/main" val="2289797747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E5EE27-1BFB-EF87-7121-0793EEC7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/>
              <a:t>: Complexity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58186-195F-10C0-8D7A-EF4895BF8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Complex:</a:t>
            </a:r>
          </a:p>
          <a:p>
            <a:pPr marL="457200" indent="-457200">
              <a:buFontTx/>
              <a:buChar char="-"/>
            </a:pPr>
            <a:r>
              <a:rPr lang="en-US" dirty="0"/>
              <a:t>How to execute delegate?</a:t>
            </a:r>
          </a:p>
          <a:p>
            <a:pPr marL="457200" indent="-457200">
              <a:buFontTx/>
              <a:buChar char="-"/>
            </a:pPr>
            <a:r>
              <a:rPr lang="en-US" dirty="0"/>
              <a:t>Exceptions are cached.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(Non-async) Lazy&lt;T&gt; is weird here, too.</a:t>
            </a:r>
          </a:p>
          <a:p>
            <a:pPr marL="457200" indent="-457200">
              <a:buFontTx/>
              <a:buChar char="-"/>
            </a:pPr>
            <a:r>
              <a:rPr lang="en-US" dirty="0"/>
              <a:t>Should we also reset on demand?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At this point it becomes a single-item cache.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algn="ctr"/>
            <a:r>
              <a:rPr lang="en-US" dirty="0">
                <a:hlinkClick r:id="rId3"/>
              </a:rPr>
              <a:t>https://tinyurl.com/asynclazy-considerations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073E521-A251-6AB7-6BA6-B9E8DF32A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0260" y="602246"/>
            <a:ext cx="3249930" cy="3249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49575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AB2A6-09F4-D449-E4E2-D8D74A49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Caching</a:t>
            </a:r>
          </a:p>
        </p:txBody>
      </p:sp>
    </p:spTree>
    <p:extLst>
      <p:ext uri="{BB962C8B-B14F-4D97-AF65-F5344CB8AC3E}">
        <p14:creationId xmlns:p14="http://schemas.microsoft.com/office/powerpoint/2010/main" val="3785129773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384AB1-E9FE-3FDF-ED48-C32ACD3C7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Caching.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285DE6-2B38-3D62-7FBC-C74C9DEEC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Cache </a:t>
            </a:r>
            <a:r>
              <a:rPr lang="en-US" dirty="0">
                <a:latin typeface="Consolas" panose="020B0609020204030204" pitchFamily="49" charset="0"/>
              </a:rPr>
              <a:t>Task&lt;T&gt;</a:t>
            </a:r>
            <a:r>
              <a:rPr lang="en-US" dirty="0"/>
              <a:t>, not its </a:t>
            </a:r>
            <a:r>
              <a:rPr lang="en-US" i="1" dirty="0"/>
              <a:t>result</a:t>
            </a:r>
            <a:r>
              <a:rPr lang="en-US" dirty="0"/>
              <a:t>.</a:t>
            </a:r>
          </a:p>
          <a:p>
            <a:pPr marL="796926" lvl="1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IMemoryCache.GetOrCreateAsync</a:t>
            </a:r>
            <a:r>
              <a:rPr lang="en-US" dirty="0"/>
              <a:t> exists but may not do what you want.</a:t>
            </a:r>
          </a:p>
          <a:p>
            <a:pPr marL="796926" lvl="1" indent="-457200">
              <a:buFontTx/>
              <a:buChar char="-"/>
            </a:pPr>
            <a:r>
              <a:rPr lang="en-US" i="1" dirty="0"/>
              <a:t>Must</a:t>
            </a:r>
            <a:r>
              <a:rPr lang="en-US" dirty="0"/>
              <a:t> be in-memory.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 isn’t serializable in the general case.</a:t>
            </a:r>
          </a:p>
          <a:p>
            <a:pPr marL="457200" indent="-457200">
              <a:buFontTx/>
              <a:buChar char="-"/>
            </a:pPr>
            <a:r>
              <a:rPr lang="en-US" dirty="0"/>
              <a:t>! Similar problems as </a:t>
            </a:r>
            <a:r>
              <a:rPr lang="en-US" dirty="0" err="1">
                <a:latin typeface="Consolas" panose="020B0609020204030204" pitchFamily="49" charset="0"/>
              </a:rPr>
              <a:t>AsyncLazy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: caching exceptions.</a:t>
            </a:r>
          </a:p>
          <a:p>
            <a:pPr marL="457200" indent="-457200">
              <a:buFontTx/>
              <a:buChar char="-"/>
            </a:pPr>
            <a:r>
              <a:rPr lang="en-US" dirty="0"/>
              <a:t>! Removed/updated in cache before completed?</a:t>
            </a:r>
          </a:p>
          <a:p>
            <a:pPr marL="457200" indent="-457200">
              <a:buFontTx/>
              <a:buChar char="-"/>
            </a:pPr>
            <a:r>
              <a:rPr lang="en-US" dirty="0"/>
              <a:t>! Don’t know eviction parameters until completed? (JWT)</a:t>
            </a:r>
          </a:p>
          <a:p>
            <a:pPr marL="457200" indent="-457200">
              <a:buFontTx/>
              <a:buChar char="-"/>
            </a:pPr>
            <a:r>
              <a:rPr lang="en-US" dirty="0"/>
              <a:t>Solution: cache </a:t>
            </a:r>
            <a:r>
              <a:rPr lang="en-US" dirty="0" err="1">
                <a:latin typeface="Consolas" panose="020B0609020204030204" pitchFamily="49" charset="0"/>
              </a:rPr>
              <a:t>TaskCompletionSource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algn="ctr"/>
            <a:r>
              <a:rPr lang="en-US" dirty="0">
                <a:hlinkClick r:id="rId3"/>
              </a:rPr>
              <a:t>https://tinyurl.com/async-cache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AAEFDA-0032-545C-3222-DA8C781FA6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953" y="236022"/>
            <a:ext cx="2692398" cy="158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1101982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75381B-FF4D-44D6-B170-8169E381F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957121"/>
            <a:ext cx="4773828" cy="477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862221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2023 ThatConf Simpl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Techorama 2026 Templat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12871</TotalTime>
  <Words>1244</Words>
  <Application>Microsoft Office PowerPoint</Application>
  <PresentationFormat>Widescreen</PresentationFormat>
  <Paragraphs>211</Paragraphs>
  <Slides>38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Alegreya Black</vt:lpstr>
      <vt:lpstr>Alegreya Medium</vt:lpstr>
      <vt:lpstr>Aptos</vt:lpstr>
      <vt:lpstr>Aptos Display</vt:lpstr>
      <vt:lpstr>Arial</vt:lpstr>
      <vt:lpstr>Calibri</vt:lpstr>
      <vt:lpstr>Cascadia Mono</vt:lpstr>
      <vt:lpstr>Consolas</vt:lpstr>
      <vt:lpstr>DS Wallau</vt:lpstr>
      <vt:lpstr>Segoe UI</vt:lpstr>
      <vt:lpstr>Segoe UI Light</vt:lpstr>
      <vt:lpstr>2023 ThatConf Simple</vt:lpstr>
      <vt:lpstr>2023 ThatConf Landscape</vt:lpstr>
      <vt:lpstr>Techorama 2026 Template</vt:lpstr>
      <vt:lpstr>Async Masterclass</vt:lpstr>
      <vt:lpstr>Who is this guy?</vt:lpstr>
      <vt:lpstr>PowerPoint Presentation</vt:lpstr>
      <vt:lpstr>ValueTask</vt:lpstr>
      <vt:lpstr>ValueTask History</vt:lpstr>
      <vt:lpstr>Rules Around ValueTask</vt:lpstr>
      <vt:lpstr>Implementing ValueTask Methods</vt:lpstr>
      <vt:lpstr>Implementing ValueTask Methods</vt:lpstr>
      <vt:lpstr>IAsyncDisposable</vt:lpstr>
      <vt:lpstr>Asynchronous Disposal</vt:lpstr>
      <vt:lpstr>Asynchronous Streams</vt:lpstr>
      <vt:lpstr>Async Streams</vt:lpstr>
      <vt:lpstr>PowerPoint Presentation</vt:lpstr>
      <vt:lpstr>AsyncLocal&lt;T&gt;</vt:lpstr>
      <vt:lpstr>AsyncLocal</vt:lpstr>
      <vt:lpstr>AsyncLocal: Guidelines</vt:lpstr>
      <vt:lpstr>AsyncLocal: Details</vt:lpstr>
      <vt:lpstr>AsyncLocal: Primary Use Case</vt:lpstr>
      <vt:lpstr>AsyncLocal: Primary Use Case: Pitfall</vt:lpstr>
      <vt:lpstr>Channels</vt:lpstr>
      <vt:lpstr>Channels: Async Producer/Consumer Queues</vt:lpstr>
      <vt:lpstr>PowerPoint Presentation</vt:lpstr>
      <vt:lpstr>PauseToken</vt:lpstr>
      <vt:lpstr>PauseToken: Desired Semantics</vt:lpstr>
      <vt:lpstr>PauseToken: Recognized API Pattern</vt:lpstr>
      <vt:lpstr>PauseToken: Strategy</vt:lpstr>
      <vt:lpstr>PowerPoint Presentation</vt:lpstr>
      <vt:lpstr>PauseToken Implementation</vt:lpstr>
      <vt:lpstr>TCS Dictionary</vt:lpstr>
      <vt:lpstr>TCS Dictionary: Desired Semantics</vt:lpstr>
      <vt:lpstr>PowerPoint Presentation</vt:lpstr>
      <vt:lpstr>TCS Dictionary: Worked Example</vt:lpstr>
      <vt:lpstr>AsyncLazy&lt;T&gt;</vt:lpstr>
      <vt:lpstr>AsyncLazy: Simplicity</vt:lpstr>
      <vt:lpstr>AsyncLazy: Complexity</vt:lpstr>
      <vt:lpstr>Async Caching</vt:lpstr>
      <vt:lpstr>Asynchronous Caching.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</cp:lastModifiedBy>
  <cp:revision>217</cp:revision>
  <dcterms:created xsi:type="dcterms:W3CDTF">2013-02-28T01:41:02Z</dcterms:created>
  <dcterms:modified xsi:type="dcterms:W3CDTF">2026-10-24T21:20:57Z</dcterms:modified>
</cp:coreProperties>
</file>